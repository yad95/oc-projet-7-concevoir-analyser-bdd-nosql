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63" r:id="rId4"/>
    <p:sldId id="261" r:id="rId5"/>
    <p:sldId id="258" r:id="rId6"/>
    <p:sldId id="264" r:id="rId7"/>
    <p:sldId id="259" r:id="rId8"/>
    <p:sldId id="265" r:id="rId9"/>
    <p:sldId id="266" r:id="rId10"/>
    <p:sldId id="267" r:id="rId11"/>
    <p:sldId id="268" r:id="rId12"/>
    <p:sldId id="269" r:id="rId13"/>
    <p:sldId id="270" r:id="rId14"/>
    <p:sldId id="271" r:id="rId15"/>
    <p:sldId id="272" r:id="rId16"/>
    <p:sldId id="273" r:id="rId17"/>
    <p:sldId id="274" r:id="rId18"/>
    <p:sldId id="275" r:id="rId19"/>
    <p:sldId id="277" r:id="rId20"/>
    <p:sldId id="279" r:id="rId21"/>
    <p:sldId id="280" r:id="rId22"/>
    <p:sldId id="281" r:id="rId23"/>
    <p:sldId id="276" r:id="rId24"/>
    <p:sldId id="283" r:id="rId25"/>
    <p:sldId id="285" r:id="rId26"/>
    <p:sldId id="284" r:id="rId27"/>
    <p:sldId id="286" r:id="rId28"/>
    <p:sldId id="282" r:id="rId29"/>
  </p:sldIdLst>
  <p:sldSz cx="9144000" cy="5143500" type="screen16x9"/>
  <p:notesSz cx="6858000" cy="9144000"/>
  <p:embeddedFontLst>
    <p:embeddedFont>
      <p:font typeface="Agency FB" panose="020B0503020202020204" pitchFamily="34" charset="0"/>
      <p:regular r:id="rId31"/>
      <p:bold r:id="rId32"/>
    </p:embeddedFont>
    <p:embeddedFont>
      <p:font typeface="Arial Black" panose="020B0A04020102020204" pitchFamily="34" charset="0"/>
      <p:bold r:id="rId33"/>
    </p:embeddedFont>
    <p:embeddedFont>
      <p:font typeface="Arial Narrow" panose="020B0606020202030204" pitchFamily="34" charset="0"/>
      <p:regular r:id="rId34"/>
      <p:bold r:id="rId35"/>
      <p:italic r:id="rId36"/>
      <p:boldItalic r:id="rId37"/>
    </p:embeddedFont>
    <p:embeddedFont>
      <p:font typeface="Georgia" panose="02040502050405020303" pitchFamily="18" charset="0"/>
      <p:regular r:id="rId38"/>
      <p:bold r:id="rId39"/>
      <p:italic r:id="rId40"/>
      <p:boldItalic r:id="rId41"/>
    </p:embeddedFont>
    <p:embeddedFont>
      <p:font typeface="Inter"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A7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01f22bfd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58" name="Google Shape;58;g301f22bfd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83888E10-E8CC-BC0F-BC82-3B39D8DC1E13}"/>
            </a:ext>
          </a:extLst>
        </p:cNvPr>
        <p:cNvGrpSpPr/>
        <p:nvPr/>
      </p:nvGrpSpPr>
      <p:grpSpPr>
        <a:xfrm>
          <a:off x="0" y="0"/>
          <a:ext cx="0" cy="0"/>
          <a:chOff x="0" y="0"/>
          <a:chExt cx="0" cy="0"/>
        </a:xfrm>
      </p:grpSpPr>
      <p:sp>
        <p:nvSpPr>
          <p:cNvPr id="63" name="Google Shape;63;g301f22bfd96_0_5:notes">
            <a:extLst>
              <a:ext uri="{FF2B5EF4-FFF2-40B4-BE49-F238E27FC236}">
                <a16:creationId xmlns:a16="http://schemas.microsoft.com/office/drawing/2014/main" id="{2E182998-0BA1-C334-CECD-AB35359CF6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64" name="Google Shape;64;g301f22bfd96_0_5:notes">
            <a:extLst>
              <a:ext uri="{FF2B5EF4-FFF2-40B4-BE49-F238E27FC236}">
                <a16:creationId xmlns:a16="http://schemas.microsoft.com/office/drawing/2014/main" id="{AD460C36-E331-FF12-4F8F-FE82DD7F1D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930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7415D2A3-CCCF-EAE2-237B-6B0022FEA7A2}"/>
            </a:ext>
          </a:extLst>
        </p:cNvPr>
        <p:cNvGrpSpPr/>
        <p:nvPr/>
      </p:nvGrpSpPr>
      <p:grpSpPr>
        <a:xfrm>
          <a:off x="0" y="0"/>
          <a:ext cx="0" cy="0"/>
          <a:chOff x="0" y="0"/>
          <a:chExt cx="0" cy="0"/>
        </a:xfrm>
      </p:grpSpPr>
      <p:sp>
        <p:nvSpPr>
          <p:cNvPr id="63" name="Google Shape;63;g301f22bfd96_0_5:notes">
            <a:extLst>
              <a:ext uri="{FF2B5EF4-FFF2-40B4-BE49-F238E27FC236}">
                <a16:creationId xmlns:a16="http://schemas.microsoft.com/office/drawing/2014/main" id="{CC8F6D77-1592-8282-2E76-CD9AFF90A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64" name="Google Shape;64;g301f22bfd96_0_5:notes">
            <a:extLst>
              <a:ext uri="{FF2B5EF4-FFF2-40B4-BE49-F238E27FC236}">
                <a16:creationId xmlns:a16="http://schemas.microsoft.com/office/drawing/2014/main" id="{27CDCDB8-4573-0769-D83B-B7BCE077B0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7009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1f22bfd9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64" name="Google Shape;64;g301f22bfd9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47187F3B-86A4-72FF-C230-853A03D675B2}"/>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780039B9-1307-1A2A-4D78-498F3505B5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08DE2386-E29E-27CF-CC84-7526C7D411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3328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01f22bfd9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89CF748-496D-0B28-066F-897BA2D8FD41}"/>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6A2625E7-40AB-4204-3FE5-6653362ACC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F2532F94-01FD-198B-D02C-8F41A8074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891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4FA0C757-08E6-CCEA-9A4E-9EAFE0B552AC}"/>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34E77496-2DEE-FA37-594D-50C1BBB0C0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DDF84854-8D89-9263-70AF-55ACD0990E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7483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A008AE2-BB58-F324-EC70-AC2FFB3ED4B3}"/>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0CD18F3C-CEE9-3B92-92F8-9BA9B3702D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7D6C4A27-27BB-64EA-C509-9F38B0A793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2287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424AE7B-ACC0-FA68-201F-F699906E258C}"/>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3E335188-D1D3-99C7-C65F-EF5CEFB3EE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3F469108-2BFF-7BCE-34A0-AB06AF0B15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9034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A5CD04D-9B95-2441-6553-8ADF06CC3F6E}"/>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B113B0D1-0E6A-8910-C634-23D356EDDE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6340BAE0-1408-CD71-6E0C-5B712C5C6A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4710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C9C9AE1-A361-EA86-5C7B-BABE4C3BFA8D}"/>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300CF627-714E-05F5-6A43-EE76DACAA6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DE66E5F7-3B8C-5F2C-05DE-0E1E27FE2C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5924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B9EE3799-10A3-ABDA-39E8-B23B0A38B023}"/>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A21487C8-BC08-1256-10DC-72B8371808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0608B12C-1E47-7E62-5272-CAD90A9CE7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5101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B026B04C-CC2F-61F6-4AA4-02501CD53D74}"/>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D4F63B64-8A9D-B172-C4E3-A505490C42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304510CD-B915-3381-E0AC-5949A5C3CC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9451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6CBCD6B-E6A2-7260-4509-0805F3D9D2A0}"/>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3178B596-2F38-B377-B82C-5DC2CC7B0A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86F9DD11-01E7-5D74-78AB-6E74A2977E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8077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C13EA5B1-8313-C5B4-4F35-BF3DD25FE3C6}"/>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E66350BC-EB02-1187-D48A-4A1B7752A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1DBD6F35-3C3B-A799-E4EC-E97BD0B4F9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2832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E15AE07A-5EA9-0E5D-9B31-3D23BFB5FFC7}"/>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603D4991-60AA-1DFF-04B3-F3A314072B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3E739E80-9E87-B527-D1D8-B00729E31C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1110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BE08E530-B15E-2925-C0CE-D8E2FC33935E}"/>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C0770D3F-F69E-9E36-4274-25D8E05619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D0DE4D5B-C395-B44E-838D-62A2934F23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7928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4FE841F-306B-F739-1504-AD4E8F46E601}"/>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B47E047A-7D7D-774A-720C-FB52C03F4E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7E39A470-7B0E-5933-6F65-0E2EB5D35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6554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E7DB095F-AFAE-8B09-7028-A6347B2ED3A7}"/>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EB9B9940-D6FD-EC80-445B-ECA75F6BA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9F26E5D4-D7D5-13B5-D9ED-CFE3FA461C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4062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F34556F-42FA-249E-67CE-CF596C8EE26E}"/>
            </a:ext>
          </a:extLst>
        </p:cNvPr>
        <p:cNvGrpSpPr/>
        <p:nvPr/>
      </p:nvGrpSpPr>
      <p:grpSpPr>
        <a:xfrm>
          <a:off x="0" y="0"/>
          <a:ext cx="0" cy="0"/>
          <a:chOff x="0" y="0"/>
          <a:chExt cx="0" cy="0"/>
        </a:xfrm>
      </p:grpSpPr>
      <p:sp>
        <p:nvSpPr>
          <p:cNvPr id="69" name="Google Shape;69;g301f22bfd96_0_10:notes">
            <a:extLst>
              <a:ext uri="{FF2B5EF4-FFF2-40B4-BE49-F238E27FC236}">
                <a16:creationId xmlns:a16="http://schemas.microsoft.com/office/drawing/2014/main" id="{AA866BBA-0425-4BBB-1160-8CC2895694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01f22bfd96_0_10:notes">
            <a:extLst>
              <a:ext uri="{FF2B5EF4-FFF2-40B4-BE49-F238E27FC236}">
                <a16:creationId xmlns:a16="http://schemas.microsoft.com/office/drawing/2014/main" id="{EE612B8B-F0BD-6010-444F-57D500C52D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37378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AB530082-CCAA-7087-05C0-DC31EB23650E}"/>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10ADA593-D043-A5E6-CBBF-C0346E82C4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C36CAC7F-C20F-22A5-FADB-090430EDA8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2444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68DEAB9-02F3-274B-DEAC-CACF7313E030}"/>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5366D46E-E149-07F4-08C8-0702231B94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E7D82BAC-172C-ABFB-51A8-C319C50DA5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48611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CE971C86-6587-EEBA-EAB7-32D49B06C67B}"/>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1503F792-4AFF-3569-B1A3-8ABDF4592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324EA3CC-8140-D943-F16A-D1B893BAB0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5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AEC8C714-AE48-6650-1DD9-6FD9BBE20746}"/>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1255D394-B646-8CAD-2705-F3897D89F4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5876BA13-E5A2-5ED2-AF7E-0B76E3E932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9771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99AA9D1D-D991-BCD4-7A89-537DEA51185C}"/>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7E0B300D-F15B-C91C-71B9-A3B0499598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F1A63805-6C52-B503-E43C-5BAA9BF3C2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6004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7EC2F0C-6859-C734-9040-28DB5F151EBD}"/>
            </a:ext>
          </a:extLst>
        </p:cNvPr>
        <p:cNvGrpSpPr/>
        <p:nvPr/>
      </p:nvGrpSpPr>
      <p:grpSpPr>
        <a:xfrm>
          <a:off x="0" y="0"/>
          <a:ext cx="0" cy="0"/>
          <a:chOff x="0" y="0"/>
          <a:chExt cx="0" cy="0"/>
        </a:xfrm>
      </p:grpSpPr>
      <p:sp>
        <p:nvSpPr>
          <p:cNvPr id="75" name="Google Shape;75;g301f22bfd96_0_15:notes">
            <a:extLst>
              <a:ext uri="{FF2B5EF4-FFF2-40B4-BE49-F238E27FC236}">
                <a16:creationId xmlns:a16="http://schemas.microsoft.com/office/drawing/2014/main" id="{D94AA6B4-4631-E9A8-53BD-33F736D901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6" name="Google Shape;76;g301f22bfd96_0_15:notes">
            <a:extLst>
              <a:ext uri="{FF2B5EF4-FFF2-40B4-BE49-F238E27FC236}">
                <a16:creationId xmlns:a16="http://schemas.microsoft.com/office/drawing/2014/main" id="{3E071598-CC14-3EF5-6193-6627D4F81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14405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2.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53"/>
        <p:cNvGrpSpPr/>
        <p:nvPr/>
      </p:nvGrpSpPr>
      <p:grpSpPr>
        <a:xfrm>
          <a:off x="0" y="0"/>
          <a:ext cx="0" cy="0"/>
          <a:chOff x="0" y="0"/>
          <a:chExt cx="0" cy="0"/>
        </a:xfrm>
      </p:grpSpPr>
      <p:sp>
        <p:nvSpPr>
          <p:cNvPr id="56" name="Rectangle 55"/>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40000" y="900000"/>
            <a:ext cx="7920000" cy="1080000"/>
          </a:xfrm>
          <a:prstGeom prst="rect">
            <a:avLst/>
          </a:prstGeom>
          <a:noFill/>
        </p:spPr>
        <p:txBody>
          <a:bodyPr wrap="square">
            <a:spAutoFit/>
          </a:bodyPr>
          <a:lstStyle/>
          <a:p>
            <a:pPr algn="l"/>
            <a:r>
              <a:rPr sz="3200" b="1">
                <a:solidFill>
                  <a:srgbClr val="FFFFFF"/>
                </a:solidFill>
                <a:latin typeface="Calibri Light"/>
              </a:rPr>
              <a:t>Projet 7 — Base de données NoSQL</a:t>
            </a:r>
          </a:p>
        </p:txBody>
      </p:sp>
      <p:sp>
        <p:nvSpPr>
          <p:cNvPr id="58" name="TextBox 57"/>
          <p:cNvSpPr txBox="1"/>
          <p:nvPr/>
        </p:nvSpPr>
        <p:spPr>
          <a:xfrm>
            <a:off x="540000" y="2232000"/>
            <a:ext cx="7920000" cy="720000"/>
          </a:xfrm>
          <a:prstGeom prst="rect">
            <a:avLst/>
          </a:prstGeom>
          <a:noFill/>
        </p:spPr>
        <p:txBody>
          <a:bodyPr wrap="square">
            <a:spAutoFit/>
          </a:bodyPr>
          <a:lstStyle/>
          <a:p>
            <a:pPr algn="l"/>
            <a:r>
              <a:rPr sz="1800">
                <a:solidFill>
                  <a:srgbClr val="CCCCCC"/>
                </a:solidFill>
                <a:latin typeface="Calibri"/>
              </a:rPr>
              <a:t>Concevez et analysez une base de données NoSQL</a:t>
            </a:r>
          </a:p>
        </p:txBody>
      </p:sp>
      <p:sp>
        <p:nvSpPr>
          <p:cNvPr id="59" name="TextBox 58"/>
          <p:cNvSpPr txBox="1"/>
          <p:nvPr/>
        </p:nvSpPr>
        <p:spPr>
          <a:xfrm>
            <a:off x="540000" y="3060000"/>
            <a:ext cx="7920000" cy="720000"/>
          </a:xfrm>
          <a:prstGeom prst="rect">
            <a:avLst/>
          </a:prstGeom>
          <a:noFill/>
        </p:spPr>
        <p:txBody>
          <a:bodyPr wrap="square">
            <a:spAutoFit/>
          </a:bodyPr>
          <a:lstStyle/>
          <a:p>
            <a:r>
              <a:rPr sz="1300">
                <a:solidFill>
                  <a:srgbClr val="F5A623"/>
                </a:solidFill>
                <a:latin typeface="Calibri"/>
              </a:rPr>
              <a:t>Association NosCités  •  Paris &amp; Lyon  •  Été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59"/>
        <p:cNvGrpSpPr/>
        <p:nvPr/>
      </p:nvGrpSpPr>
      <p:grpSpPr>
        <a:xfrm>
          <a:off x="0" y="0"/>
          <a:ext cx="0" cy="0"/>
          <a:chOff x="0" y="0"/>
          <a:chExt cx="0" cy="0"/>
        </a:xfrm>
      </p:grpSpPr>
      <p:sp>
        <p:nvSpPr>
          <p:cNvPr id="62" name="Rectangle 61"/>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40000" y="216000"/>
            <a:ext cx="7920000" cy="540000"/>
          </a:xfrm>
          <a:prstGeom prst="rect">
            <a:avLst/>
          </a:prstGeom>
          <a:noFill/>
        </p:spPr>
        <p:txBody>
          <a:bodyPr wrap="none">
            <a:spAutoFit/>
          </a:bodyPr>
          <a:lstStyle/>
          <a:p>
            <a:r>
              <a:rPr sz="2400" b="1">
                <a:solidFill>
                  <a:srgbClr val="FFFFFF"/>
                </a:solidFill>
                <a:latin typeface="Calibri Light"/>
              </a:rPr>
              <a:t>Contexte du projet et importation des données</a:t>
            </a:r>
          </a:p>
        </p:txBody>
      </p:sp>
      <p:sp>
        <p:nvSpPr>
          <p:cNvPr id="64" name="Rectangle 63"/>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40000" y="972000"/>
            <a:ext cx="4680000" cy="3452227"/>
          </a:xfrm>
          <a:prstGeom prst="rect">
            <a:avLst/>
          </a:prstGeom>
          <a:noFill/>
        </p:spPr>
        <p:txBody>
          <a:bodyPr wrap="square">
            <a:spAutoFit/>
          </a:bodyPr>
          <a:lstStyle/>
          <a:p>
            <a:pPr>
              <a:spcBef>
                <a:spcPts val="200"/>
              </a:spcBef>
            </a:pPr>
            <a:r>
              <a:rPr sz="1400" b="1">
                <a:solidFill>
                  <a:srgbClr val="F5A623"/>
                </a:solidFill>
                <a:latin typeface="Calibri"/>
              </a:rPr>
              <a:t>🏢 Qui ?</a:t>
            </a:r>
          </a:p>
          <a:p>
            <a:pPr>
              <a:spcBef>
                <a:spcPts val="200"/>
              </a:spcBef>
            </a:pPr>
            <a:r>
              <a:rPr sz="1200" b="0">
                <a:solidFill>
                  <a:srgbClr val="FFFFFF"/>
                </a:solidFill>
                <a:latin typeface="Calibri"/>
              </a:rPr>
              <a:t>Association </a:t>
            </a:r>
            <a:r>
              <a:rPr sz="1200" b="0" err="1">
                <a:solidFill>
                  <a:srgbClr val="FFFFFF"/>
                </a:solidFill>
                <a:latin typeface="Calibri"/>
              </a:rPr>
              <a:t>NosCités</a:t>
            </a:r>
            <a:r>
              <a:rPr sz="1200" b="0">
                <a:solidFill>
                  <a:srgbClr val="FFFFFF"/>
                </a:solidFill>
                <a:latin typeface="Calibri"/>
              </a:rPr>
              <a:t> — surveille les </a:t>
            </a:r>
            <a:r>
              <a:rPr sz="1200" b="0" err="1">
                <a:solidFill>
                  <a:srgbClr val="FFFFFF"/>
                </a:solidFill>
                <a:latin typeface="Calibri"/>
              </a:rPr>
              <a:t>plateformes</a:t>
            </a:r>
            <a:r>
              <a:rPr sz="1200" b="0">
                <a:solidFill>
                  <a:srgbClr val="FFFFFF"/>
                </a:solidFill>
                <a:latin typeface="Calibri"/>
              </a:rPr>
              <a:t> de location </a:t>
            </a:r>
            <a:r>
              <a:rPr sz="1200" b="0" err="1">
                <a:solidFill>
                  <a:srgbClr val="FFFFFF"/>
                </a:solidFill>
                <a:latin typeface="Calibri"/>
              </a:rPr>
              <a:t>courte</a:t>
            </a:r>
            <a:r>
              <a:rPr sz="1200" b="0">
                <a:solidFill>
                  <a:srgbClr val="FFFFFF"/>
                </a:solidFill>
                <a:latin typeface="Calibri"/>
              </a:rPr>
              <a:t> durée (Airbnb, etc.)</a:t>
            </a:r>
          </a:p>
          <a:p>
            <a:pPr>
              <a:spcBef>
                <a:spcPts val="200"/>
              </a:spcBef>
            </a:pPr>
            <a:endParaRPr sz="1200" b="0">
              <a:solidFill>
                <a:srgbClr val="FFFFFF"/>
              </a:solidFill>
              <a:latin typeface="Calibri"/>
            </a:endParaRPr>
          </a:p>
          <a:p>
            <a:pPr>
              <a:spcBef>
                <a:spcPts val="200"/>
              </a:spcBef>
            </a:pPr>
            <a:r>
              <a:rPr sz="1400" b="1">
                <a:solidFill>
                  <a:srgbClr val="F5A623"/>
                </a:solidFill>
                <a:latin typeface="Calibri"/>
              </a:rPr>
              <a:t>🎯 Objectif</a:t>
            </a:r>
          </a:p>
          <a:p>
            <a:pPr>
              <a:spcBef>
                <a:spcPts val="200"/>
              </a:spcBef>
            </a:pPr>
            <a:r>
              <a:rPr sz="1200" b="0" err="1">
                <a:solidFill>
                  <a:srgbClr val="FFFFFF"/>
                </a:solidFill>
                <a:latin typeface="Calibri"/>
              </a:rPr>
              <a:t>Mesurer</a:t>
            </a:r>
            <a:r>
              <a:rPr sz="1200" b="0">
                <a:solidFill>
                  <a:srgbClr val="FFFFFF"/>
                </a:solidFill>
                <a:latin typeface="Calibri"/>
              </a:rPr>
              <a:t> </a:t>
            </a:r>
            <a:r>
              <a:rPr sz="1200" b="0" err="1">
                <a:solidFill>
                  <a:srgbClr val="FFFFFF"/>
                </a:solidFill>
                <a:latin typeface="Calibri"/>
              </a:rPr>
              <a:t>l'impact</a:t>
            </a:r>
            <a:r>
              <a:rPr sz="1200" b="0">
                <a:solidFill>
                  <a:srgbClr val="FFFFFF"/>
                </a:solidFill>
                <a:latin typeface="Calibri"/>
              </a:rPr>
              <a:t> des </a:t>
            </a:r>
            <a:r>
              <a:rPr sz="1200" b="0" err="1">
                <a:solidFill>
                  <a:srgbClr val="FFFFFF"/>
                </a:solidFill>
                <a:latin typeface="Calibri"/>
              </a:rPr>
              <a:t>plateformes</a:t>
            </a:r>
            <a:r>
              <a:rPr sz="1200" b="0">
                <a:solidFill>
                  <a:srgbClr val="FFFFFF"/>
                </a:solidFill>
                <a:latin typeface="Calibri"/>
              </a:rPr>
              <a:t> sur </a:t>
            </a:r>
            <a:r>
              <a:rPr sz="1200" b="0" err="1">
                <a:solidFill>
                  <a:srgbClr val="FFFFFF"/>
                </a:solidFill>
                <a:latin typeface="Calibri"/>
              </a:rPr>
              <a:t>l'offre</a:t>
            </a:r>
            <a:r>
              <a:rPr sz="1200" b="0">
                <a:solidFill>
                  <a:srgbClr val="FFFFFF"/>
                </a:solidFill>
                <a:latin typeface="Calibri"/>
              </a:rPr>
              <a:t> de </a:t>
            </a:r>
            <a:r>
              <a:rPr sz="1200" b="0" err="1">
                <a:solidFill>
                  <a:srgbClr val="FFFFFF"/>
                </a:solidFill>
                <a:latin typeface="Calibri"/>
              </a:rPr>
              <a:t>logements</a:t>
            </a:r>
            <a:r>
              <a:rPr sz="1200" b="0">
                <a:solidFill>
                  <a:srgbClr val="FFFFFF"/>
                </a:solidFill>
                <a:latin typeface="Calibri"/>
              </a:rPr>
              <a:t> à Paris et Lyon.</a:t>
            </a:r>
          </a:p>
          <a:p>
            <a:pPr>
              <a:spcBef>
                <a:spcPts val="200"/>
              </a:spcBef>
            </a:pPr>
            <a:endParaRPr sz="1200" b="0">
              <a:solidFill>
                <a:srgbClr val="FFFFFF"/>
              </a:solidFill>
              <a:latin typeface="Calibri"/>
            </a:endParaRPr>
          </a:p>
          <a:p>
            <a:pPr>
              <a:spcBef>
                <a:spcPts val="200"/>
              </a:spcBef>
            </a:pPr>
            <a:r>
              <a:rPr sz="1400" b="1">
                <a:solidFill>
                  <a:srgbClr val="F5A623"/>
                </a:solidFill>
                <a:latin typeface="Calibri"/>
              </a:rPr>
              <a:t>🚨 </a:t>
            </a:r>
            <a:r>
              <a:rPr sz="1400" b="1" err="1">
                <a:solidFill>
                  <a:srgbClr val="F5A623"/>
                </a:solidFill>
                <a:latin typeface="Calibri"/>
              </a:rPr>
              <a:t>Problématique</a:t>
            </a:r>
            <a:endParaRPr sz="1400" b="1">
              <a:solidFill>
                <a:srgbClr val="F5A623"/>
              </a:solidFill>
              <a:latin typeface="Calibri"/>
            </a:endParaRPr>
          </a:p>
          <a:p>
            <a:pPr>
              <a:spcBef>
                <a:spcPts val="200"/>
              </a:spcBef>
            </a:pPr>
            <a:r>
              <a:rPr sz="1200" b="0">
                <a:solidFill>
                  <a:srgbClr val="FFFFFF"/>
                </a:solidFill>
                <a:latin typeface="Calibri"/>
              </a:rPr>
              <a:t>Crash total de la base de données des locations à Paris </a:t>
            </a:r>
            <a:r>
              <a:rPr sz="1200" b="0" err="1">
                <a:solidFill>
                  <a:srgbClr val="FFFFFF"/>
                </a:solidFill>
                <a:latin typeface="Calibri"/>
              </a:rPr>
              <a:t>dès</a:t>
            </a:r>
            <a:r>
              <a:rPr sz="1200" b="0">
                <a:solidFill>
                  <a:srgbClr val="FFFFFF"/>
                </a:solidFill>
                <a:latin typeface="Calibri"/>
              </a:rPr>
              <a:t> la 1ère </a:t>
            </a:r>
            <a:r>
              <a:rPr sz="1200" b="0" err="1">
                <a:solidFill>
                  <a:srgbClr val="FFFFFF"/>
                </a:solidFill>
                <a:latin typeface="Calibri"/>
              </a:rPr>
              <a:t>semaine</a:t>
            </a:r>
            <a:r>
              <a:rPr sz="1200" b="0">
                <a:solidFill>
                  <a:srgbClr val="FFFFFF"/>
                </a:solidFill>
                <a:latin typeface="Calibri"/>
              </a:rPr>
              <a:t>.</a:t>
            </a:r>
            <a:r>
              <a:rPr lang="fr-FR" sz="1200" b="0">
                <a:solidFill>
                  <a:srgbClr val="FFFFFF"/>
                </a:solidFill>
                <a:latin typeface="Calibri"/>
              </a:rPr>
              <a:t> </a:t>
            </a:r>
          </a:p>
          <a:p>
            <a:pPr>
              <a:spcBef>
                <a:spcPts val="200"/>
              </a:spcBef>
            </a:pPr>
            <a:r>
              <a:rPr sz="1200" b="0">
                <a:solidFill>
                  <a:srgbClr val="FFFFFF"/>
                </a:solidFill>
                <a:latin typeface="Calibri"/>
              </a:rPr>
              <a:t>Une </a:t>
            </a:r>
            <a:r>
              <a:rPr sz="1200" b="0" err="1">
                <a:solidFill>
                  <a:srgbClr val="FFFFFF"/>
                </a:solidFill>
                <a:latin typeface="Calibri"/>
              </a:rPr>
              <a:t>sauvegarde</a:t>
            </a:r>
            <a:r>
              <a:rPr sz="1200" b="0">
                <a:solidFill>
                  <a:srgbClr val="FFFFFF"/>
                </a:solidFill>
                <a:latin typeface="Calibri"/>
              </a:rPr>
              <a:t> a </a:t>
            </a:r>
            <a:r>
              <a:rPr sz="1200" b="0" err="1">
                <a:solidFill>
                  <a:srgbClr val="FFFFFF"/>
                </a:solidFill>
                <a:latin typeface="Calibri"/>
              </a:rPr>
              <a:t>été</a:t>
            </a:r>
            <a:r>
              <a:rPr sz="1200" b="0">
                <a:solidFill>
                  <a:srgbClr val="FFFFFF"/>
                </a:solidFill>
                <a:latin typeface="Calibri"/>
              </a:rPr>
              <a:t> </a:t>
            </a:r>
            <a:r>
              <a:rPr sz="1200" b="0" err="1">
                <a:solidFill>
                  <a:srgbClr val="FFFFFF"/>
                </a:solidFill>
                <a:latin typeface="Calibri"/>
              </a:rPr>
              <a:t>retrouvée</a:t>
            </a:r>
            <a:r>
              <a:rPr sz="1200" b="0">
                <a:solidFill>
                  <a:srgbClr val="FFFFFF"/>
                </a:solidFill>
                <a:latin typeface="Calibri"/>
              </a:rPr>
              <a:t> — son </a:t>
            </a:r>
            <a:r>
              <a:rPr sz="1200" b="0" err="1">
                <a:solidFill>
                  <a:srgbClr val="FFFFFF"/>
                </a:solidFill>
                <a:latin typeface="Calibri"/>
              </a:rPr>
              <a:t>intégrité</a:t>
            </a:r>
            <a:r>
              <a:rPr sz="1200" b="0">
                <a:solidFill>
                  <a:srgbClr val="FFFFFF"/>
                </a:solidFill>
                <a:latin typeface="Calibri"/>
              </a:rPr>
              <a:t> doit </a:t>
            </a:r>
            <a:r>
              <a:rPr sz="1200" b="0" err="1">
                <a:solidFill>
                  <a:srgbClr val="FFFFFF"/>
                </a:solidFill>
                <a:latin typeface="Calibri"/>
              </a:rPr>
              <a:t>être</a:t>
            </a:r>
            <a:r>
              <a:rPr sz="1200" b="0">
                <a:solidFill>
                  <a:srgbClr val="FFFFFF"/>
                </a:solidFill>
                <a:latin typeface="Calibri"/>
              </a:rPr>
              <a:t> </a:t>
            </a:r>
            <a:r>
              <a:rPr sz="1200" b="0" err="1">
                <a:solidFill>
                  <a:srgbClr val="FFFFFF"/>
                </a:solidFill>
                <a:latin typeface="Calibri"/>
              </a:rPr>
              <a:t>vérifiée</a:t>
            </a:r>
            <a:r>
              <a:rPr sz="1200" b="0">
                <a:solidFill>
                  <a:srgbClr val="FFFFFF"/>
                </a:solidFill>
                <a:latin typeface="Calibri"/>
              </a:rPr>
              <a:t>.</a:t>
            </a:r>
          </a:p>
          <a:p>
            <a:pPr>
              <a:spcBef>
                <a:spcPts val="200"/>
              </a:spcBef>
            </a:pPr>
            <a:endParaRPr sz="1200" b="0">
              <a:solidFill>
                <a:srgbClr val="FFFFFF"/>
              </a:solidFill>
              <a:latin typeface="Calibri"/>
            </a:endParaRPr>
          </a:p>
          <a:p>
            <a:pPr>
              <a:spcBef>
                <a:spcPts val="200"/>
              </a:spcBef>
            </a:pPr>
            <a:r>
              <a:rPr sz="1400" b="1">
                <a:solidFill>
                  <a:srgbClr val="F5A623"/>
                </a:solidFill>
                <a:latin typeface="Calibri"/>
              </a:rPr>
              <a:t>📊 Données </a:t>
            </a:r>
            <a:r>
              <a:rPr sz="1400" b="1" err="1">
                <a:solidFill>
                  <a:srgbClr val="F5A623"/>
                </a:solidFill>
                <a:latin typeface="Calibri"/>
              </a:rPr>
              <a:t>utilisées</a:t>
            </a:r>
            <a:endParaRPr sz="1400" b="1">
              <a:solidFill>
                <a:srgbClr val="F5A623"/>
              </a:solidFill>
              <a:latin typeface="Calibri"/>
            </a:endParaRPr>
          </a:p>
          <a:p>
            <a:pPr>
              <a:spcBef>
                <a:spcPts val="200"/>
              </a:spcBef>
            </a:pPr>
            <a:r>
              <a:rPr sz="1200" b="0" err="1">
                <a:solidFill>
                  <a:srgbClr val="FFFFFF"/>
                </a:solidFill>
                <a:latin typeface="Calibri"/>
              </a:rPr>
              <a:t>Fichier</a:t>
            </a:r>
            <a:r>
              <a:rPr sz="1200" b="0">
                <a:solidFill>
                  <a:srgbClr val="FFFFFF"/>
                </a:solidFill>
                <a:latin typeface="Calibri"/>
              </a:rPr>
              <a:t> : listings_Paris.csv  |  Source : scraping Airbnb </a:t>
            </a:r>
            <a:r>
              <a:rPr sz="1200" b="0" err="1">
                <a:solidFill>
                  <a:srgbClr val="FFFFFF"/>
                </a:solidFill>
                <a:latin typeface="Calibri"/>
              </a:rPr>
              <a:t>juin</a:t>
            </a:r>
            <a:r>
              <a:rPr sz="1200" b="0">
                <a:solidFill>
                  <a:srgbClr val="FFFFFF"/>
                </a:solidFill>
                <a:latin typeface="Calibri"/>
              </a:rPr>
              <a:t> 2024</a:t>
            </a:r>
          </a:p>
          <a:p>
            <a:pPr>
              <a:spcBef>
                <a:spcPts val="200"/>
              </a:spcBef>
            </a:pPr>
            <a:r>
              <a:rPr sz="1200" b="0">
                <a:solidFill>
                  <a:srgbClr val="FFFFFF"/>
                </a:solidFill>
                <a:latin typeface="Calibri"/>
              </a:rPr>
              <a:t>95 885 documents </a:t>
            </a:r>
            <a:r>
              <a:rPr sz="1200" b="0" err="1">
                <a:solidFill>
                  <a:srgbClr val="FFFFFF"/>
                </a:solidFill>
                <a:latin typeface="Calibri"/>
              </a:rPr>
              <a:t>importés</a:t>
            </a:r>
            <a:r>
              <a:rPr sz="1200" b="0">
                <a:solidFill>
                  <a:srgbClr val="FFFFFF"/>
                </a:solidFill>
                <a:latin typeface="Calibri"/>
              </a:rPr>
              <a:t> dans MongoDB (collection : </a:t>
            </a:r>
            <a:r>
              <a:rPr sz="1200" b="0" err="1">
                <a:solidFill>
                  <a:srgbClr val="FFFFFF"/>
                </a:solidFill>
                <a:latin typeface="Calibri"/>
              </a:rPr>
              <a:t>listings_paris</a:t>
            </a:r>
            <a:r>
              <a:rPr sz="1200" b="0">
                <a:solidFill>
                  <a:srgbClr val="FFFFFF"/>
                </a:solidFill>
                <a:latin typeface="Calibri"/>
              </a:rPr>
              <a:t>)</a:t>
            </a:r>
          </a:p>
        </p:txBody>
      </p:sp>
      <p:sp>
        <p:nvSpPr>
          <p:cNvPr id="66" name="Rectangle 65"/>
          <p:cNvSpPr/>
          <p:nvPr/>
        </p:nvSpPr>
        <p:spPr>
          <a:xfrm>
            <a:off x="5472000" y="972000"/>
            <a:ext cx="3060000" cy="2150481"/>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580000" y="1080000"/>
            <a:ext cx="2880000" cy="2092881"/>
          </a:xfrm>
          <a:prstGeom prst="rect">
            <a:avLst/>
          </a:prstGeom>
          <a:noFill/>
        </p:spPr>
        <p:txBody>
          <a:bodyPr wrap="square">
            <a:spAutoFit/>
          </a:bodyPr>
          <a:lstStyle/>
          <a:p>
            <a:r>
              <a:rPr sz="1300" b="1">
                <a:solidFill>
                  <a:srgbClr val="F5A623"/>
                </a:solidFill>
                <a:latin typeface="Calibri"/>
              </a:rPr>
              <a:t>📥 Importation MongoDB</a:t>
            </a:r>
          </a:p>
          <a:p>
            <a:endParaRPr sz="1300" b="1">
              <a:solidFill>
                <a:srgbClr val="F5A623"/>
              </a:solidFill>
              <a:latin typeface="Calibri"/>
            </a:endParaRPr>
          </a:p>
          <a:p>
            <a:r>
              <a:rPr sz="1200" b="0" err="1">
                <a:solidFill>
                  <a:srgbClr val="FFFFFF"/>
                </a:solidFill>
                <a:latin typeface="Calibri"/>
              </a:rPr>
              <a:t>Outil</a:t>
            </a:r>
            <a:r>
              <a:rPr sz="1200" b="0">
                <a:solidFill>
                  <a:srgbClr val="FFFFFF"/>
                </a:solidFill>
                <a:latin typeface="Calibri"/>
              </a:rPr>
              <a:t> : MongoDB Compass</a:t>
            </a:r>
          </a:p>
          <a:p>
            <a:r>
              <a:rPr sz="1200" b="0">
                <a:solidFill>
                  <a:srgbClr val="FFFFFF"/>
                </a:solidFill>
                <a:latin typeface="Calibri"/>
              </a:rPr>
              <a:t>Base : </a:t>
            </a:r>
            <a:r>
              <a:rPr sz="1200" b="0" err="1">
                <a:solidFill>
                  <a:srgbClr val="FFFFFF"/>
                </a:solidFill>
                <a:latin typeface="Calibri"/>
              </a:rPr>
              <a:t>noscites</a:t>
            </a:r>
            <a:endParaRPr sz="1200" b="0">
              <a:solidFill>
                <a:srgbClr val="FFFFFF"/>
              </a:solidFill>
              <a:latin typeface="Calibri"/>
            </a:endParaRPr>
          </a:p>
          <a:p>
            <a:r>
              <a:rPr sz="1200" b="0">
                <a:solidFill>
                  <a:srgbClr val="FFFFFF"/>
                </a:solidFill>
                <a:latin typeface="Calibri"/>
              </a:rPr>
              <a:t>Collection : </a:t>
            </a:r>
            <a:r>
              <a:rPr sz="1200" b="0" err="1">
                <a:solidFill>
                  <a:srgbClr val="FFFFFF"/>
                </a:solidFill>
                <a:latin typeface="Calibri"/>
              </a:rPr>
              <a:t>listings_paris</a:t>
            </a:r>
            <a:endParaRPr sz="1200" b="0">
              <a:solidFill>
                <a:srgbClr val="FFFFFF"/>
              </a:solidFill>
              <a:latin typeface="Calibri"/>
            </a:endParaRPr>
          </a:p>
          <a:p>
            <a:endParaRPr sz="1200" b="0">
              <a:solidFill>
                <a:srgbClr val="FFFFFF"/>
              </a:solidFill>
              <a:latin typeface="Calibri"/>
            </a:endParaRPr>
          </a:p>
          <a:p>
            <a:r>
              <a:rPr sz="1200" b="1">
                <a:solidFill>
                  <a:srgbClr val="CCCCCC"/>
                </a:solidFill>
                <a:latin typeface="Calibri"/>
              </a:rPr>
              <a:t>Total documents :</a:t>
            </a:r>
          </a:p>
          <a:p>
            <a:r>
              <a:rPr sz="2200" b="1">
                <a:solidFill>
                  <a:srgbClr val="E94F37"/>
                </a:solidFill>
                <a:latin typeface="Calibri"/>
              </a:rPr>
              <a:t>95 885</a:t>
            </a:r>
          </a:p>
          <a:p>
            <a:endParaRPr sz="2200" b="1">
              <a:solidFill>
                <a:srgbClr val="E94F37"/>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65">
          <a:extLst>
            <a:ext uri="{FF2B5EF4-FFF2-40B4-BE49-F238E27FC236}">
              <a16:creationId xmlns:a16="http://schemas.microsoft.com/office/drawing/2014/main" id="{41DA91C2-D1BB-9D83-3690-F5EB3A78479D}"/>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E01F2C18-6108-EE79-C81E-8E3F6AE3A5D7}"/>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9" name="TextBox 68">
            <a:extLst>
              <a:ext uri="{FF2B5EF4-FFF2-40B4-BE49-F238E27FC236}">
                <a16:creationId xmlns:a16="http://schemas.microsoft.com/office/drawing/2014/main" id="{1E01597B-CB7F-7868-75F8-B44229BF3DE3}"/>
              </a:ext>
            </a:extLst>
          </p:cNvPr>
          <p:cNvSpPr txBox="1"/>
          <p:nvPr/>
        </p:nvSpPr>
        <p:spPr>
          <a:xfrm>
            <a:off x="540000" y="-273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err="1">
                <a:ln>
                  <a:noFill/>
                </a:ln>
                <a:solidFill>
                  <a:srgbClr val="FFFFFF"/>
                </a:solidFill>
                <a:effectLst/>
                <a:uLnTx/>
                <a:uFillTx/>
                <a:latin typeface="Calibri Light"/>
                <a:cs typeface="Arial"/>
                <a:sym typeface="Arial"/>
              </a:rPr>
              <a:t>Partie</a:t>
            </a:r>
            <a:r>
              <a:rPr kumimoji="0" sz="2400" b="1" i="0" u="none" strike="noStrike" kern="0" cap="none" spc="0" normalizeH="0" baseline="0" noProof="0">
                <a:ln>
                  <a:noFill/>
                </a:ln>
                <a:solidFill>
                  <a:srgbClr val="FFFFFF"/>
                </a:solidFill>
                <a:effectLst/>
                <a:uLnTx/>
                <a:uFillTx/>
                <a:latin typeface="Calibri Light"/>
                <a:cs typeface="Arial"/>
                <a:sym typeface="Arial"/>
              </a:rPr>
              <a:t> 1 — </a:t>
            </a:r>
            <a:r>
              <a:rPr kumimoji="0" sz="2400" b="1" i="0" u="none" strike="noStrike" kern="0" cap="none" spc="0" normalizeH="0" baseline="0" noProof="0" err="1">
                <a:ln>
                  <a:noFill/>
                </a:ln>
                <a:solidFill>
                  <a:srgbClr val="FFFFFF"/>
                </a:solidFill>
                <a:effectLst/>
                <a:uLnTx/>
                <a:uFillTx/>
                <a:latin typeface="Calibri Light"/>
                <a:cs typeface="Arial"/>
                <a:sym typeface="Arial"/>
              </a:rPr>
              <a:t>Restaurer</a:t>
            </a:r>
            <a:r>
              <a:rPr kumimoji="0" sz="2400" b="1" i="0" u="none" strike="noStrike" kern="0" cap="none" spc="0" normalizeH="0" baseline="0" noProof="0">
                <a:ln>
                  <a:noFill/>
                </a:ln>
                <a:solidFill>
                  <a:srgbClr val="FFFFFF"/>
                </a:solidFill>
                <a:effectLst/>
                <a:uLnTx/>
                <a:uFillTx/>
                <a:latin typeface="Calibri Light"/>
                <a:cs typeface="Arial"/>
                <a:sym typeface="Arial"/>
              </a:rPr>
              <a:t> &amp; </a:t>
            </a:r>
            <a:r>
              <a:rPr kumimoji="0" sz="2400" b="1" i="0" u="none" strike="noStrike" kern="0" cap="none" spc="0" normalizeH="0" baseline="0" noProof="0" err="1">
                <a:ln>
                  <a:noFill/>
                </a:ln>
                <a:solidFill>
                  <a:srgbClr val="FFFFFF"/>
                </a:solidFill>
                <a:effectLst/>
                <a:uLnTx/>
                <a:uFillTx/>
                <a:latin typeface="Calibri Light"/>
                <a:cs typeface="Arial"/>
                <a:sym typeface="Arial"/>
              </a:rPr>
              <a:t>comprendre</a:t>
            </a:r>
            <a:r>
              <a:rPr kumimoji="0" sz="2400" b="1" i="0" u="none" strike="noStrike" kern="0" cap="none" spc="0" normalizeH="0" baseline="0" noProof="0">
                <a:ln>
                  <a:noFill/>
                </a:ln>
                <a:solidFill>
                  <a:srgbClr val="FFFFFF"/>
                </a:solidFill>
                <a:effectLst/>
                <a:uLnTx/>
                <a:uFillTx/>
                <a:latin typeface="Calibri Light"/>
                <a:cs typeface="Arial"/>
                <a:sym typeface="Arial"/>
              </a:rPr>
              <a:t> les données</a:t>
            </a:r>
          </a:p>
        </p:txBody>
      </p:sp>
      <p:sp>
        <p:nvSpPr>
          <p:cNvPr id="70" name="Rectangle 69">
            <a:extLst>
              <a:ext uri="{FF2B5EF4-FFF2-40B4-BE49-F238E27FC236}">
                <a16:creationId xmlns:a16="http://schemas.microsoft.com/office/drawing/2014/main" id="{992E2911-B7B5-D14F-98D0-387BDE6F0B0F}"/>
              </a:ext>
            </a:extLst>
          </p:cNvPr>
          <p:cNvSpPr/>
          <p:nvPr/>
        </p:nvSpPr>
        <p:spPr>
          <a:xfrm>
            <a:off x="540000" y="38465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pic>
        <p:nvPicPr>
          <p:cNvPr id="7" name="Image 6">
            <a:extLst>
              <a:ext uri="{FF2B5EF4-FFF2-40B4-BE49-F238E27FC236}">
                <a16:creationId xmlns:a16="http://schemas.microsoft.com/office/drawing/2014/main" id="{C61FAFF7-4CA5-A2AF-E639-CEFEBCB95FD9}"/>
              </a:ext>
            </a:extLst>
          </p:cNvPr>
          <p:cNvPicPr>
            <a:picLocks noChangeAspect="1"/>
          </p:cNvPicPr>
          <p:nvPr/>
        </p:nvPicPr>
        <p:blipFill>
          <a:blip r:embed="rId3"/>
          <a:stretch>
            <a:fillRect/>
          </a:stretch>
        </p:blipFill>
        <p:spPr>
          <a:xfrm>
            <a:off x="316925" y="468546"/>
            <a:ext cx="4643002" cy="4603543"/>
          </a:xfrm>
          <a:prstGeom prst="rect">
            <a:avLst/>
          </a:prstGeom>
        </p:spPr>
      </p:pic>
      <p:pic>
        <p:nvPicPr>
          <p:cNvPr id="9" name="Image 8">
            <a:extLst>
              <a:ext uri="{FF2B5EF4-FFF2-40B4-BE49-F238E27FC236}">
                <a16:creationId xmlns:a16="http://schemas.microsoft.com/office/drawing/2014/main" id="{EA460FCF-2F8C-1C3E-9469-63041D9E71A4}"/>
              </a:ext>
            </a:extLst>
          </p:cNvPr>
          <p:cNvPicPr>
            <a:picLocks noChangeAspect="1"/>
          </p:cNvPicPr>
          <p:nvPr/>
        </p:nvPicPr>
        <p:blipFill>
          <a:blip r:embed="rId4"/>
          <a:stretch>
            <a:fillRect/>
          </a:stretch>
        </p:blipFill>
        <p:spPr>
          <a:xfrm>
            <a:off x="4959927" y="1975390"/>
            <a:ext cx="2660072" cy="3096699"/>
          </a:xfrm>
          <a:prstGeom prst="rect">
            <a:avLst/>
          </a:prstGeom>
        </p:spPr>
      </p:pic>
      <p:sp>
        <p:nvSpPr>
          <p:cNvPr id="6" name="TextBox 76">
            <a:extLst>
              <a:ext uri="{FF2B5EF4-FFF2-40B4-BE49-F238E27FC236}">
                <a16:creationId xmlns:a16="http://schemas.microsoft.com/office/drawing/2014/main" id="{4BFFEDB6-EA81-BBFF-579F-19EACF0715E1}"/>
              </a:ext>
            </a:extLst>
          </p:cNvPr>
          <p:cNvSpPr txBox="1"/>
          <p:nvPr/>
        </p:nvSpPr>
        <p:spPr>
          <a:xfrm>
            <a:off x="5060852" y="412515"/>
            <a:ext cx="2505261" cy="769441"/>
          </a:xfrm>
          <a:prstGeom prst="rect">
            <a:avLst/>
          </a:prstGeom>
          <a:noFill/>
        </p:spPr>
        <p:txBody>
          <a:bodyPr wrap="square">
            <a:spAutoFit/>
          </a:bodyPr>
          <a:lstStyle/>
          <a:p>
            <a:r>
              <a:rPr lang="fr-FR" b="1" i="1">
                <a:solidFill>
                  <a:srgbClr val="F5A623"/>
                </a:solidFill>
                <a:latin typeface="Calibri"/>
              </a:rPr>
              <a:t>la description du 1</a:t>
            </a:r>
            <a:r>
              <a:rPr lang="fr-FR" b="1" i="1" baseline="30000">
                <a:solidFill>
                  <a:srgbClr val="F5A623"/>
                </a:solidFill>
                <a:latin typeface="Calibri"/>
              </a:rPr>
              <a:t>er</a:t>
            </a:r>
            <a:r>
              <a:rPr lang="fr-FR" b="1" i="1">
                <a:solidFill>
                  <a:srgbClr val="F5A623"/>
                </a:solidFill>
                <a:latin typeface="Calibri"/>
              </a:rPr>
              <a:t> document avec le type des données </a:t>
            </a:r>
          </a:p>
          <a:p>
            <a:endParaRPr lang="fr-FR" sz="1600" b="1">
              <a:solidFill>
                <a:srgbClr val="F5A623"/>
              </a:solidFill>
              <a:latin typeface="Calibri"/>
            </a:endParaRPr>
          </a:p>
        </p:txBody>
      </p:sp>
    </p:spTree>
    <p:extLst>
      <p:ext uri="{BB962C8B-B14F-4D97-AF65-F5344CB8AC3E}">
        <p14:creationId xmlns:p14="http://schemas.microsoft.com/office/powerpoint/2010/main" val="3171118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65">
          <a:extLst>
            <a:ext uri="{FF2B5EF4-FFF2-40B4-BE49-F238E27FC236}">
              <a16:creationId xmlns:a16="http://schemas.microsoft.com/office/drawing/2014/main" id="{2F7609BC-992E-FEF7-CFDD-4DB6925408F7}"/>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9C026675-6458-CF61-0139-CED1148A7B69}"/>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9" name="TextBox 68">
            <a:extLst>
              <a:ext uri="{FF2B5EF4-FFF2-40B4-BE49-F238E27FC236}">
                <a16:creationId xmlns:a16="http://schemas.microsoft.com/office/drawing/2014/main" id="{ECFF9989-F5F6-08C3-06EE-C40334CDB16A}"/>
              </a:ext>
            </a:extLst>
          </p:cNvPr>
          <p:cNvSpPr txBox="1"/>
          <p:nvPr/>
        </p:nvSpPr>
        <p:spPr>
          <a:xfrm>
            <a:off x="540000" y="-273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err="1">
                <a:ln>
                  <a:noFill/>
                </a:ln>
                <a:solidFill>
                  <a:srgbClr val="FFFFFF"/>
                </a:solidFill>
                <a:effectLst/>
                <a:uLnTx/>
                <a:uFillTx/>
                <a:latin typeface="Calibri Light"/>
                <a:cs typeface="Arial"/>
                <a:sym typeface="Arial"/>
              </a:rPr>
              <a:t>Partie</a:t>
            </a:r>
            <a:r>
              <a:rPr kumimoji="0" sz="2400" b="1" i="0" u="none" strike="noStrike" kern="0" cap="none" spc="0" normalizeH="0" baseline="0" noProof="0">
                <a:ln>
                  <a:noFill/>
                </a:ln>
                <a:solidFill>
                  <a:srgbClr val="FFFFFF"/>
                </a:solidFill>
                <a:effectLst/>
                <a:uLnTx/>
                <a:uFillTx/>
                <a:latin typeface="Calibri Light"/>
                <a:cs typeface="Arial"/>
                <a:sym typeface="Arial"/>
              </a:rPr>
              <a:t> 1 — </a:t>
            </a:r>
            <a:r>
              <a:rPr kumimoji="0" sz="2400" b="1" i="0" u="none" strike="noStrike" kern="0" cap="none" spc="0" normalizeH="0" baseline="0" noProof="0" err="1">
                <a:ln>
                  <a:noFill/>
                </a:ln>
                <a:solidFill>
                  <a:srgbClr val="FFFFFF"/>
                </a:solidFill>
                <a:effectLst/>
                <a:uLnTx/>
                <a:uFillTx/>
                <a:latin typeface="Calibri Light"/>
                <a:cs typeface="Arial"/>
                <a:sym typeface="Arial"/>
              </a:rPr>
              <a:t>Restaurer</a:t>
            </a:r>
            <a:r>
              <a:rPr kumimoji="0" sz="2400" b="1" i="0" u="none" strike="noStrike" kern="0" cap="none" spc="0" normalizeH="0" baseline="0" noProof="0">
                <a:ln>
                  <a:noFill/>
                </a:ln>
                <a:solidFill>
                  <a:srgbClr val="FFFFFF"/>
                </a:solidFill>
                <a:effectLst/>
                <a:uLnTx/>
                <a:uFillTx/>
                <a:latin typeface="Calibri Light"/>
                <a:cs typeface="Arial"/>
                <a:sym typeface="Arial"/>
              </a:rPr>
              <a:t> &amp; </a:t>
            </a:r>
            <a:r>
              <a:rPr kumimoji="0" sz="2400" b="1" i="0" u="none" strike="noStrike" kern="0" cap="none" spc="0" normalizeH="0" baseline="0" noProof="0" err="1">
                <a:ln>
                  <a:noFill/>
                </a:ln>
                <a:solidFill>
                  <a:srgbClr val="FFFFFF"/>
                </a:solidFill>
                <a:effectLst/>
                <a:uLnTx/>
                <a:uFillTx/>
                <a:latin typeface="Calibri Light"/>
                <a:cs typeface="Arial"/>
                <a:sym typeface="Arial"/>
              </a:rPr>
              <a:t>comprendre</a:t>
            </a:r>
            <a:r>
              <a:rPr kumimoji="0" sz="2400" b="1" i="0" u="none" strike="noStrike" kern="0" cap="none" spc="0" normalizeH="0" baseline="0" noProof="0">
                <a:ln>
                  <a:noFill/>
                </a:ln>
                <a:solidFill>
                  <a:srgbClr val="FFFFFF"/>
                </a:solidFill>
                <a:effectLst/>
                <a:uLnTx/>
                <a:uFillTx/>
                <a:latin typeface="Calibri Light"/>
                <a:cs typeface="Arial"/>
                <a:sym typeface="Arial"/>
              </a:rPr>
              <a:t> les données</a:t>
            </a:r>
          </a:p>
        </p:txBody>
      </p:sp>
      <p:sp>
        <p:nvSpPr>
          <p:cNvPr id="70" name="Rectangle 69">
            <a:extLst>
              <a:ext uri="{FF2B5EF4-FFF2-40B4-BE49-F238E27FC236}">
                <a16:creationId xmlns:a16="http://schemas.microsoft.com/office/drawing/2014/main" id="{5A7425A6-B1E3-C982-0EEF-6CB4313E6A3F}"/>
              </a:ext>
            </a:extLst>
          </p:cNvPr>
          <p:cNvSpPr/>
          <p:nvPr/>
        </p:nvSpPr>
        <p:spPr>
          <a:xfrm>
            <a:off x="540000" y="38465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graphicFrame>
        <p:nvGraphicFramePr>
          <p:cNvPr id="11" name="Tableau 10">
            <a:extLst>
              <a:ext uri="{FF2B5EF4-FFF2-40B4-BE49-F238E27FC236}">
                <a16:creationId xmlns:a16="http://schemas.microsoft.com/office/drawing/2014/main" id="{8D88BCF6-E51A-2332-E63D-0B36BFAF8549}"/>
              </a:ext>
            </a:extLst>
          </p:cNvPr>
          <p:cNvGraphicFramePr>
            <a:graphicFrameLocks noGrp="1"/>
          </p:cNvGraphicFramePr>
          <p:nvPr>
            <p:extLst>
              <p:ext uri="{D42A27DB-BD31-4B8C-83A1-F6EECF244321}">
                <p14:modId xmlns:p14="http://schemas.microsoft.com/office/powerpoint/2010/main" val="2642145429"/>
              </p:ext>
            </p:extLst>
          </p:nvPr>
        </p:nvGraphicFramePr>
        <p:xfrm>
          <a:off x="2423607" y="585936"/>
          <a:ext cx="4152786" cy="3971628"/>
        </p:xfrm>
        <a:graphic>
          <a:graphicData uri="http://schemas.openxmlformats.org/drawingml/2006/table">
            <a:tbl>
              <a:tblPr/>
              <a:tblGrid>
                <a:gridCol w="1384262">
                  <a:extLst>
                    <a:ext uri="{9D8B030D-6E8A-4147-A177-3AD203B41FA5}">
                      <a16:colId xmlns:a16="http://schemas.microsoft.com/office/drawing/2014/main" val="1688730833"/>
                    </a:ext>
                  </a:extLst>
                </a:gridCol>
                <a:gridCol w="1384262">
                  <a:extLst>
                    <a:ext uri="{9D8B030D-6E8A-4147-A177-3AD203B41FA5}">
                      <a16:colId xmlns:a16="http://schemas.microsoft.com/office/drawing/2014/main" val="2727731993"/>
                    </a:ext>
                  </a:extLst>
                </a:gridCol>
                <a:gridCol w="1384262">
                  <a:extLst>
                    <a:ext uri="{9D8B030D-6E8A-4147-A177-3AD203B41FA5}">
                      <a16:colId xmlns:a16="http://schemas.microsoft.com/office/drawing/2014/main" val="812503067"/>
                    </a:ext>
                  </a:extLst>
                </a:gridCol>
              </a:tblGrid>
              <a:tr h="126859">
                <a:tc>
                  <a:txBody>
                    <a:bodyPr/>
                    <a:lstStyle/>
                    <a:p>
                      <a:pPr algn="l">
                        <a:buNone/>
                      </a:pPr>
                      <a:r>
                        <a:rPr lang="fr-FR" sz="700">
                          <a:effectLst/>
                          <a:latin typeface="Aptos" panose="020B0004020202020204" pitchFamily="34" charset="0"/>
                        </a:rPr>
                        <a:t>Catégorie</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700">
                          <a:effectLst/>
                          <a:latin typeface="Aptos" panose="020B0004020202020204" pitchFamily="34" charset="0"/>
                        </a:rPr>
                        <a:t>Exemples de champs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700">
                          <a:effectLst/>
                          <a:latin typeface="Aptos" panose="020B0004020202020204" pitchFamily="34" charset="0"/>
                        </a:rPr>
                        <a:t>Type</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138791011"/>
                  </a:ext>
                </a:extLst>
              </a:tr>
              <a:tr h="178242">
                <a:tc>
                  <a:txBody>
                    <a:bodyPr/>
                    <a:lstStyle/>
                    <a:p>
                      <a:pPr algn="l">
                        <a:buNone/>
                      </a:pPr>
                      <a:r>
                        <a:rPr lang="fr-FR" sz="800">
                          <a:solidFill>
                            <a:schemeClr val="bg1"/>
                          </a:solidFill>
                          <a:effectLst/>
                          <a:latin typeface="Aptos" panose="020B0004020202020204" pitchFamily="34" charset="0"/>
                        </a:rPr>
                        <a:t>Identifiants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_id, id, scrape_id, license</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ObjectId, Integer, NumberLong</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052347354"/>
                  </a:ext>
                </a:extLst>
              </a:tr>
              <a:tr h="282216">
                <a:tc>
                  <a:txBody>
                    <a:bodyPr/>
                    <a:lstStyle/>
                    <a:p>
                      <a:pPr algn="l">
                        <a:buNone/>
                      </a:pPr>
                      <a:r>
                        <a:rPr lang="fr-FR" sz="800">
                          <a:solidFill>
                            <a:schemeClr val="bg1"/>
                          </a:solidFill>
                          <a:effectLst/>
                          <a:latin typeface="Aptos" panose="020B0004020202020204" pitchFamily="34" charset="0"/>
                        </a:rPr>
                        <a:t>Informations générales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err="1">
                          <a:solidFill>
                            <a:schemeClr val="bg1"/>
                          </a:solidFill>
                          <a:effectLst/>
                          <a:latin typeface="Aptos" panose="020B0004020202020204" pitchFamily="34" charset="0"/>
                        </a:rPr>
                        <a:t>listing_url</a:t>
                      </a:r>
                      <a:r>
                        <a:rPr lang="fr-FR" sz="800" dirty="0">
                          <a:solidFill>
                            <a:schemeClr val="bg1"/>
                          </a:solidFill>
                          <a:effectLst/>
                          <a:latin typeface="Aptos" panose="020B0004020202020204" pitchFamily="34" charset="0"/>
                        </a:rPr>
                        <a:t>, source, name, </a:t>
                      </a:r>
                      <a:r>
                        <a:rPr lang="fr-FR" sz="800" dirty="0" err="1">
                          <a:solidFill>
                            <a:schemeClr val="bg1"/>
                          </a:solidFill>
                          <a:effectLst/>
                          <a:latin typeface="Aptos" panose="020B0004020202020204" pitchFamily="34" charset="0"/>
                        </a:rPr>
                        <a:t>picture_url</a:t>
                      </a:r>
                      <a:endParaRPr lang="fr-FR" sz="800" dirty="0">
                        <a:solidFill>
                          <a:schemeClr val="bg1"/>
                        </a:solidFill>
                        <a:effectLst/>
                        <a:latin typeface="Aptos" panose="020B0004020202020204" pitchFamily="34" charset="0"/>
                      </a:endParaRP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String</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77326977"/>
                  </a:ext>
                </a:extLst>
              </a:tr>
              <a:tr h="386190">
                <a:tc>
                  <a:txBody>
                    <a:bodyPr/>
                    <a:lstStyle/>
                    <a:p>
                      <a:pPr algn="l">
                        <a:buNone/>
                      </a:pPr>
                      <a:r>
                        <a:rPr lang="fr-FR" sz="800">
                          <a:solidFill>
                            <a:schemeClr val="bg1"/>
                          </a:solidFill>
                          <a:effectLst/>
                          <a:latin typeface="Aptos" panose="020B0004020202020204" pitchFamily="34" charset="0"/>
                        </a:rPr>
                        <a:t>Informations hôte</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err="1">
                          <a:solidFill>
                            <a:schemeClr val="bg1"/>
                          </a:solidFill>
                          <a:effectLst/>
                          <a:latin typeface="Aptos" panose="020B0004020202020204" pitchFamily="34" charset="0"/>
                        </a:rPr>
                        <a:t>host_id</a:t>
                      </a:r>
                      <a:r>
                        <a:rPr lang="fr-FR" sz="800" dirty="0">
                          <a:solidFill>
                            <a:schemeClr val="bg1"/>
                          </a:solidFill>
                          <a:effectLst/>
                          <a:latin typeface="Aptos" panose="020B0004020202020204" pitchFamily="34" charset="0"/>
                        </a:rPr>
                        <a:t>, </a:t>
                      </a:r>
                      <a:r>
                        <a:rPr lang="fr-FR" sz="800" dirty="0" err="1">
                          <a:solidFill>
                            <a:schemeClr val="bg1"/>
                          </a:solidFill>
                          <a:effectLst/>
                          <a:latin typeface="Aptos" panose="020B0004020202020204" pitchFamily="34" charset="0"/>
                        </a:rPr>
                        <a:t>host_name</a:t>
                      </a:r>
                      <a:r>
                        <a:rPr lang="fr-FR" sz="800" dirty="0">
                          <a:solidFill>
                            <a:schemeClr val="bg1"/>
                          </a:solidFill>
                          <a:effectLst/>
                          <a:latin typeface="Aptos" panose="020B0004020202020204" pitchFamily="34" charset="0"/>
                        </a:rPr>
                        <a:t>, </a:t>
                      </a:r>
                      <a:r>
                        <a:rPr lang="fr-FR" sz="800" dirty="0" err="1">
                          <a:solidFill>
                            <a:schemeClr val="bg1"/>
                          </a:solidFill>
                          <a:effectLst/>
                          <a:latin typeface="Aptos" panose="020B0004020202020204" pitchFamily="34" charset="0"/>
                        </a:rPr>
                        <a:t>host_since</a:t>
                      </a:r>
                      <a:r>
                        <a:rPr lang="fr-FR" sz="800" dirty="0">
                          <a:solidFill>
                            <a:schemeClr val="bg1"/>
                          </a:solidFill>
                          <a:effectLst/>
                          <a:latin typeface="Aptos" panose="020B0004020202020204" pitchFamily="34" charset="0"/>
                        </a:rPr>
                        <a:t>, </a:t>
                      </a:r>
                      <a:r>
                        <a:rPr lang="fr-FR" sz="800" dirty="0" err="1">
                          <a:solidFill>
                            <a:schemeClr val="bg1"/>
                          </a:solidFill>
                          <a:effectLst/>
                          <a:latin typeface="Aptos" panose="020B0004020202020204" pitchFamily="34" charset="0"/>
                        </a:rPr>
                        <a:t>host_is_superhost</a:t>
                      </a:r>
                      <a:endParaRPr lang="fr-FR" sz="800" dirty="0">
                        <a:solidFill>
                          <a:schemeClr val="bg1"/>
                        </a:solidFill>
                        <a:effectLst/>
                        <a:latin typeface="Aptos" panose="020B0004020202020204" pitchFamily="34" charset="0"/>
                      </a:endParaRP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Integer, String, Date, Boolean</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66995259"/>
                  </a:ext>
                </a:extLst>
              </a:tr>
              <a:tr h="386190">
                <a:tc>
                  <a:txBody>
                    <a:bodyPr/>
                    <a:lstStyle/>
                    <a:p>
                      <a:pPr algn="l">
                        <a:buNone/>
                      </a:pPr>
                      <a:r>
                        <a:rPr lang="fr-FR" sz="800">
                          <a:solidFill>
                            <a:schemeClr val="bg1"/>
                          </a:solidFill>
                          <a:effectLst/>
                          <a:latin typeface="Aptos" panose="020B0004020202020204" pitchFamily="34" charset="0"/>
                        </a:rPr>
                        <a:t>Localisation</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err="1">
                          <a:solidFill>
                            <a:schemeClr val="bg1"/>
                          </a:solidFill>
                          <a:effectLst/>
                          <a:latin typeface="Aptos" panose="020B0004020202020204" pitchFamily="34" charset="0"/>
                        </a:rPr>
                        <a:t>host_location</a:t>
                      </a:r>
                      <a:r>
                        <a:rPr lang="fr-FR" sz="800">
                          <a:solidFill>
                            <a:schemeClr val="bg1"/>
                          </a:solidFill>
                          <a:effectLst/>
                          <a:latin typeface="Aptos" panose="020B0004020202020204" pitchFamily="34" charset="0"/>
                        </a:rPr>
                        <a:t>, </a:t>
                      </a:r>
                      <a:r>
                        <a:rPr lang="fr-FR" sz="800" err="1">
                          <a:solidFill>
                            <a:schemeClr val="bg1"/>
                          </a:solidFill>
                          <a:effectLst/>
                          <a:latin typeface="Aptos" panose="020B0004020202020204" pitchFamily="34" charset="0"/>
                        </a:rPr>
                        <a:t>neighbourhood_cleansed</a:t>
                      </a:r>
                      <a:r>
                        <a:rPr lang="fr-FR" sz="800">
                          <a:solidFill>
                            <a:schemeClr val="bg1"/>
                          </a:solidFill>
                          <a:effectLst/>
                          <a:latin typeface="Aptos" panose="020B0004020202020204" pitchFamily="34" charset="0"/>
                        </a:rPr>
                        <a:t>, latitude, longitude</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String, Float</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98218107"/>
                  </a:ext>
                </a:extLst>
              </a:tr>
              <a:tr h="386190">
                <a:tc>
                  <a:txBody>
                    <a:bodyPr/>
                    <a:lstStyle/>
                    <a:p>
                      <a:pPr algn="l">
                        <a:buNone/>
                      </a:pPr>
                      <a:r>
                        <a:rPr lang="fr-FR" sz="800">
                          <a:solidFill>
                            <a:schemeClr val="bg1"/>
                          </a:solidFill>
                          <a:effectLst/>
                          <a:latin typeface="Aptos" panose="020B0004020202020204" pitchFamily="34" charset="0"/>
                        </a:rPr>
                        <a:t>Logement</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property_type, room_type, accommodates, bedrooms, bathrooms_text</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String, Integer</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84138770"/>
                  </a:ext>
                </a:extLst>
              </a:tr>
              <a:tr h="178242">
                <a:tc>
                  <a:txBody>
                    <a:bodyPr/>
                    <a:lstStyle/>
                    <a:p>
                      <a:pPr algn="l">
                        <a:buNone/>
                      </a:pPr>
                      <a:r>
                        <a:rPr lang="fr-FR" sz="800">
                          <a:solidFill>
                            <a:schemeClr val="bg1"/>
                          </a:solidFill>
                          <a:effectLst/>
                          <a:latin typeface="Aptos" panose="020B0004020202020204" pitchFamily="34" charset="0"/>
                        </a:rPr>
                        <a:t>Équipements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amenities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Array</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87010480"/>
                  </a:ext>
                </a:extLst>
              </a:tr>
              <a:tr h="282216">
                <a:tc>
                  <a:txBody>
                    <a:bodyPr/>
                    <a:lstStyle/>
                    <a:p>
                      <a:pPr algn="l">
                        <a:buNone/>
                      </a:pPr>
                      <a:r>
                        <a:rPr lang="fr-FR" sz="800">
                          <a:solidFill>
                            <a:schemeClr val="bg1"/>
                          </a:solidFill>
                          <a:effectLst/>
                          <a:latin typeface="Aptos" panose="020B0004020202020204" pitchFamily="34" charset="0"/>
                        </a:rPr>
                        <a:t>Règles de séjour</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minimum_nights, maximum_nights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Integer</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598366593"/>
                  </a:ext>
                </a:extLst>
              </a:tr>
              <a:tr h="386190">
                <a:tc>
                  <a:txBody>
                    <a:bodyPr/>
                    <a:lstStyle/>
                    <a:p>
                      <a:pPr algn="l">
                        <a:buNone/>
                      </a:pPr>
                      <a:r>
                        <a:rPr lang="fr-FR" sz="800">
                          <a:solidFill>
                            <a:schemeClr val="bg1"/>
                          </a:solidFill>
                          <a:effectLst/>
                          <a:latin typeface="Aptos" panose="020B0004020202020204" pitchFamily="34" charset="0"/>
                        </a:rPr>
                        <a:t>Disponibilités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has_availability, availability_30, availability_365</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Boolean, Integer</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116521220"/>
                  </a:ext>
                </a:extLst>
              </a:tr>
              <a:tr h="386190">
                <a:tc>
                  <a:txBody>
                    <a:bodyPr/>
                    <a:lstStyle/>
                    <a:p>
                      <a:pPr algn="l">
                        <a:buNone/>
                      </a:pPr>
                      <a:r>
                        <a:rPr lang="fr-FR" sz="800">
                          <a:solidFill>
                            <a:schemeClr val="bg1"/>
                          </a:solidFill>
                          <a:effectLst/>
                          <a:latin typeface="Aptos" panose="020B0004020202020204" pitchFamily="34" charset="0"/>
                        </a:rPr>
                        <a:t>Avis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number_of_reviews, first_review, review_scores_rating</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Integer, Date, Float</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13746859"/>
                  </a:ext>
                </a:extLst>
              </a:tr>
              <a:tr h="386190">
                <a:tc>
                  <a:txBody>
                    <a:bodyPr/>
                    <a:lstStyle/>
                    <a:p>
                      <a:pPr algn="l">
                        <a:buNone/>
                      </a:pPr>
                      <a:r>
                        <a:rPr lang="fr-FR" sz="800">
                          <a:solidFill>
                            <a:schemeClr val="bg1"/>
                          </a:solidFill>
                          <a:effectLst/>
                          <a:latin typeface="Aptos" panose="020B0004020202020204" pitchFamily="34" charset="0"/>
                        </a:rPr>
                        <a:t>Indicateurs calculés</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ptos" panose="020B0004020202020204" pitchFamily="34" charset="0"/>
                        </a:rPr>
                        <a:t>reviews_per_month, calculated_host_listings_count</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err="1">
                          <a:solidFill>
                            <a:schemeClr val="bg1"/>
                          </a:solidFill>
                          <a:effectLst/>
                          <a:latin typeface="Aptos" panose="020B0004020202020204" pitchFamily="34" charset="0"/>
                        </a:rPr>
                        <a:t>Float</a:t>
                      </a:r>
                      <a:r>
                        <a:rPr lang="fr-FR" sz="800">
                          <a:solidFill>
                            <a:schemeClr val="bg1"/>
                          </a:solidFill>
                          <a:effectLst/>
                          <a:latin typeface="Aptos" panose="020B0004020202020204" pitchFamily="34" charset="0"/>
                        </a:rPr>
                        <a:t>, Integer</a:t>
                      </a:r>
                    </a:p>
                  </a:txBody>
                  <a:tcPr marL="37134" marR="37134" marT="37134" marB="3713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434922"/>
                  </a:ext>
                </a:extLst>
              </a:tr>
            </a:tbl>
          </a:graphicData>
        </a:graphic>
      </p:graphicFrame>
      <p:sp>
        <p:nvSpPr>
          <p:cNvPr id="2" name="TextBox 76">
            <a:extLst>
              <a:ext uri="{FF2B5EF4-FFF2-40B4-BE49-F238E27FC236}">
                <a16:creationId xmlns:a16="http://schemas.microsoft.com/office/drawing/2014/main" id="{F2F9FF5B-2B28-72E9-3BEF-80C2DE9A40A0}"/>
              </a:ext>
            </a:extLst>
          </p:cNvPr>
          <p:cNvSpPr txBox="1"/>
          <p:nvPr/>
        </p:nvSpPr>
        <p:spPr>
          <a:xfrm>
            <a:off x="6576393" y="509154"/>
            <a:ext cx="2505261" cy="769441"/>
          </a:xfrm>
          <a:prstGeom prst="rect">
            <a:avLst/>
          </a:prstGeom>
          <a:noFill/>
        </p:spPr>
        <p:txBody>
          <a:bodyPr wrap="square">
            <a:spAutoFit/>
          </a:bodyPr>
          <a:lstStyle/>
          <a:p>
            <a:r>
              <a:rPr lang="fr-FR" b="1" i="1">
                <a:solidFill>
                  <a:srgbClr val="F5A623"/>
                </a:solidFill>
                <a:latin typeface="Calibri"/>
              </a:rPr>
              <a:t>la description du 1</a:t>
            </a:r>
            <a:r>
              <a:rPr lang="fr-FR" b="1" i="1" baseline="30000">
                <a:solidFill>
                  <a:srgbClr val="F5A623"/>
                </a:solidFill>
                <a:latin typeface="Calibri"/>
              </a:rPr>
              <a:t>er</a:t>
            </a:r>
            <a:r>
              <a:rPr lang="fr-FR" b="1" i="1">
                <a:solidFill>
                  <a:srgbClr val="F5A623"/>
                </a:solidFill>
                <a:latin typeface="Calibri"/>
              </a:rPr>
              <a:t> document avec le type des données </a:t>
            </a:r>
          </a:p>
          <a:p>
            <a:endParaRPr lang="fr-FR" sz="1600" b="1">
              <a:solidFill>
                <a:srgbClr val="F5A623"/>
              </a:solidFill>
              <a:latin typeface="Calibri"/>
            </a:endParaRPr>
          </a:p>
        </p:txBody>
      </p:sp>
    </p:spTree>
    <p:extLst>
      <p:ext uri="{BB962C8B-B14F-4D97-AF65-F5344CB8AC3E}">
        <p14:creationId xmlns:p14="http://schemas.microsoft.com/office/powerpoint/2010/main" val="3158729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65"/>
        <p:cNvGrpSpPr/>
        <p:nvPr/>
      </p:nvGrpSpPr>
      <p:grpSpPr>
        <a:xfrm>
          <a:off x="0" y="0"/>
          <a:ext cx="0" cy="0"/>
          <a:chOff x="0" y="0"/>
          <a:chExt cx="0" cy="0"/>
        </a:xfrm>
      </p:grpSpPr>
      <p:sp>
        <p:nvSpPr>
          <p:cNvPr id="68" name="Rectangle 67"/>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40000" y="216000"/>
            <a:ext cx="7920000" cy="540000"/>
          </a:xfrm>
          <a:prstGeom prst="rect">
            <a:avLst/>
          </a:prstGeom>
          <a:noFill/>
        </p:spPr>
        <p:txBody>
          <a:bodyPr wrap="none">
            <a:spAutoFit/>
          </a:bodyPr>
          <a:lstStyle/>
          <a:p>
            <a:r>
              <a:rPr sz="2400" b="1">
                <a:solidFill>
                  <a:srgbClr val="FFFFFF"/>
                </a:solidFill>
                <a:latin typeface="Calibri Light"/>
              </a:rPr>
              <a:t>Partie 1 — Restaurer &amp; comprendre les données</a:t>
            </a:r>
          </a:p>
        </p:txBody>
      </p:sp>
      <p:sp>
        <p:nvSpPr>
          <p:cNvPr id="70" name="Rectangle 69"/>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367255" y="964636"/>
            <a:ext cx="5361600" cy="3937664"/>
          </a:xfrm>
          <a:prstGeom prst="rect">
            <a:avLst/>
          </a:prstGeom>
          <a:solidFill>
            <a:srgbClr val="1B4F2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fr-FR" b="1">
              <a:solidFill>
                <a:srgbClr val="F5A623"/>
              </a:solidFill>
              <a:latin typeface="Calibri Light"/>
            </a:endParaRPr>
          </a:p>
        </p:txBody>
      </p:sp>
      <p:sp>
        <p:nvSpPr>
          <p:cNvPr id="74" name="TextBox 73"/>
          <p:cNvSpPr txBox="1"/>
          <p:nvPr/>
        </p:nvSpPr>
        <p:spPr>
          <a:xfrm>
            <a:off x="367255" y="1594640"/>
            <a:ext cx="5361600" cy="2416046"/>
          </a:xfrm>
          <a:prstGeom prst="rect">
            <a:avLst/>
          </a:prstGeom>
          <a:noFill/>
        </p:spPr>
        <p:txBody>
          <a:bodyPr wrap="square">
            <a:spAutoFit/>
          </a:bodyPr>
          <a:lstStyle/>
          <a:p>
            <a:pPr algn="l">
              <a:buFont typeface="Arial" panose="020B0604020202020204" pitchFamily="34" charset="0"/>
              <a:buChar char="•"/>
            </a:pPr>
            <a:r>
              <a:rPr lang="fr-FR" b="0" i="0" dirty="0">
                <a:solidFill>
                  <a:srgbClr val="D6D5D4"/>
                </a:solidFill>
                <a:effectLst/>
                <a:latin typeface="pplxSerif"/>
              </a:rPr>
              <a:t> </a:t>
            </a:r>
            <a:r>
              <a:rPr lang="fr-FR" b="1" i="0" dirty="0">
                <a:solidFill>
                  <a:srgbClr val="D6D5D4"/>
                </a:solidFill>
                <a:effectLst/>
                <a:latin typeface="pplxSerif"/>
              </a:rPr>
              <a:t>Schéma flexible</a:t>
            </a:r>
            <a:r>
              <a:rPr lang="fr-FR" b="0" i="0" dirty="0">
                <a:solidFill>
                  <a:srgbClr val="D6D5D4"/>
                </a:solidFill>
                <a:effectLst/>
                <a:latin typeface="pplxSerif"/>
              </a:rPr>
              <a:t> → champs optionnels sans casser la structure</a:t>
            </a:r>
          </a:p>
          <a:p>
            <a:pPr algn="l">
              <a:buFont typeface="Arial" panose="020B0604020202020204" pitchFamily="34" charset="0"/>
              <a:buChar char="•"/>
            </a:pPr>
            <a:endParaRPr lang="fr-FR" b="0" i="0" dirty="0">
              <a:solidFill>
                <a:srgbClr val="D6D5D4"/>
              </a:solidFill>
              <a:effectLst/>
              <a:latin typeface="pplxSerif"/>
            </a:endParaRPr>
          </a:p>
          <a:p>
            <a:pPr algn="l">
              <a:buFont typeface="Arial" panose="020B0604020202020204" pitchFamily="34" charset="0"/>
              <a:buChar char="•"/>
            </a:pPr>
            <a:r>
              <a:rPr lang="fr-FR" b="0" i="0" dirty="0">
                <a:solidFill>
                  <a:srgbClr val="D6D5D4"/>
                </a:solidFill>
                <a:effectLst/>
                <a:latin typeface="pplxSerif"/>
              </a:rPr>
              <a:t> </a:t>
            </a:r>
            <a:r>
              <a:rPr lang="fr-FR" b="1" i="0" dirty="0">
                <a:solidFill>
                  <a:srgbClr val="D6D5D4"/>
                </a:solidFill>
                <a:effectLst/>
                <a:latin typeface="pplxSerif"/>
              </a:rPr>
              <a:t>Données imbriquées</a:t>
            </a:r>
            <a:r>
              <a:rPr lang="fr-FR" b="0" i="0" dirty="0">
                <a:solidFill>
                  <a:srgbClr val="D6D5D4"/>
                </a:solidFill>
                <a:effectLst/>
                <a:latin typeface="pplxSerif"/>
              </a:rPr>
              <a:t> → </a:t>
            </a:r>
            <a:r>
              <a:rPr lang="fr-FR" b="0" i="0" dirty="0" err="1">
                <a:solidFill>
                  <a:srgbClr val="D6D5D4"/>
                </a:solidFill>
                <a:effectLst/>
                <a:latin typeface="pplxSansMono"/>
              </a:rPr>
              <a:t>amenities</a:t>
            </a:r>
            <a:r>
              <a:rPr lang="fr-FR" b="0" i="0" dirty="0">
                <a:solidFill>
                  <a:srgbClr val="D6D5D4"/>
                </a:solidFill>
                <a:effectLst/>
                <a:latin typeface="pplxSerif"/>
              </a:rPr>
              <a:t> stocké en </a:t>
            </a:r>
            <a:r>
              <a:rPr lang="fr-FR" b="0" i="0" dirty="0" err="1">
                <a:solidFill>
                  <a:srgbClr val="D6D5D4"/>
                </a:solidFill>
                <a:effectLst/>
                <a:latin typeface="pplxSerif"/>
              </a:rPr>
              <a:t>Array</a:t>
            </a:r>
            <a:r>
              <a:rPr lang="fr-FR" b="0" i="0" dirty="0">
                <a:solidFill>
                  <a:srgbClr val="D6D5D4"/>
                </a:solidFill>
                <a:effectLst/>
                <a:latin typeface="pplxSerif"/>
              </a:rPr>
              <a:t> JSON</a:t>
            </a:r>
          </a:p>
          <a:p>
            <a:pPr algn="l">
              <a:buFont typeface="Arial" panose="020B0604020202020204" pitchFamily="34" charset="0"/>
              <a:buChar char="•"/>
            </a:pPr>
            <a:endParaRPr lang="fr-FR" b="0" i="0" dirty="0">
              <a:solidFill>
                <a:srgbClr val="D6D5D4"/>
              </a:solidFill>
              <a:effectLst/>
              <a:latin typeface="pplxSerif"/>
            </a:endParaRPr>
          </a:p>
          <a:p>
            <a:pPr algn="l">
              <a:buFont typeface="Arial" panose="020B0604020202020204" pitchFamily="34" charset="0"/>
              <a:buChar char="•"/>
            </a:pPr>
            <a:r>
              <a:rPr lang="fr-FR" b="0" i="0" dirty="0">
                <a:solidFill>
                  <a:srgbClr val="D6D5D4"/>
                </a:solidFill>
                <a:effectLst/>
                <a:latin typeface="pplxSerif"/>
              </a:rPr>
              <a:t> </a:t>
            </a:r>
            <a:r>
              <a:rPr lang="fr-FR" b="1" i="0" dirty="0">
                <a:solidFill>
                  <a:srgbClr val="D6D5D4"/>
                </a:solidFill>
                <a:effectLst/>
                <a:latin typeface="pplxSerif"/>
              </a:rPr>
              <a:t>Scalabilité</a:t>
            </a:r>
            <a:r>
              <a:rPr lang="fr-FR" b="0" i="0" dirty="0">
                <a:solidFill>
                  <a:srgbClr val="D6D5D4"/>
                </a:solidFill>
                <a:effectLst/>
                <a:latin typeface="pplxSerif"/>
              </a:rPr>
              <a:t> → 95 885 docs, MongoDB monte en charge facilement</a:t>
            </a:r>
          </a:p>
          <a:p>
            <a:pPr algn="l">
              <a:buFont typeface="Arial" panose="020B0604020202020204" pitchFamily="34" charset="0"/>
              <a:buChar char="•"/>
            </a:pPr>
            <a:endParaRPr lang="fr-FR" b="0" i="0" dirty="0">
              <a:solidFill>
                <a:srgbClr val="D6D5D4"/>
              </a:solidFill>
              <a:effectLst/>
              <a:latin typeface="pplxSerif"/>
            </a:endParaRPr>
          </a:p>
          <a:p>
            <a:pPr algn="l">
              <a:buFont typeface="Arial" panose="020B0604020202020204" pitchFamily="34" charset="0"/>
              <a:buChar char="•"/>
            </a:pPr>
            <a:r>
              <a:rPr lang="fr-FR" b="0" i="0" dirty="0">
                <a:solidFill>
                  <a:srgbClr val="D6D5D4"/>
                </a:solidFill>
                <a:effectLst/>
                <a:latin typeface="pplxSerif"/>
              </a:rPr>
              <a:t> </a:t>
            </a:r>
            <a:r>
              <a:rPr lang="fr-FR" b="1" i="0" dirty="0">
                <a:solidFill>
                  <a:srgbClr val="D6D5D4"/>
                </a:solidFill>
                <a:effectLst/>
                <a:latin typeface="pplxSerif"/>
              </a:rPr>
              <a:t>Hétérogénéité</a:t>
            </a:r>
            <a:r>
              <a:rPr lang="fr-FR" b="0" i="0" dirty="0">
                <a:solidFill>
                  <a:srgbClr val="D6D5D4"/>
                </a:solidFill>
                <a:effectLst/>
                <a:latin typeface="pplxSerif"/>
              </a:rPr>
              <a:t> → chaque annonce est unique, le modèle document s'adapte</a:t>
            </a:r>
          </a:p>
          <a:p>
            <a:pPr algn="l"/>
            <a:endParaRPr lang="fr-FR" b="0" i="0" dirty="0">
              <a:solidFill>
                <a:srgbClr val="D6D5D4"/>
              </a:solidFill>
              <a:effectLst/>
              <a:latin typeface="pplxSerif"/>
            </a:endParaRPr>
          </a:p>
          <a:p>
            <a:pPr algn="l">
              <a:buFont typeface="Arial" panose="020B0604020202020204" pitchFamily="34" charset="0"/>
              <a:buChar char="•"/>
            </a:pPr>
            <a:r>
              <a:rPr lang="fr-FR" b="1" i="0" dirty="0">
                <a:solidFill>
                  <a:srgbClr val="D6D5D4"/>
                </a:solidFill>
                <a:effectLst/>
                <a:latin typeface="pplxSerif"/>
              </a:rPr>
              <a:t>SQL</a:t>
            </a:r>
            <a:r>
              <a:rPr lang="fr-FR" b="0" i="0" dirty="0">
                <a:solidFill>
                  <a:srgbClr val="D6D5D4"/>
                </a:solidFill>
                <a:effectLst/>
                <a:latin typeface="pplxSerif"/>
              </a:rPr>
              <a:t> → trop rigide : jointures multiples, colonnes vides, schéma figé</a:t>
            </a:r>
          </a:p>
          <a:p>
            <a:endParaRPr lang="fr-FR" sz="1100" b="0" dirty="0">
              <a:solidFill>
                <a:srgbClr val="FFFFFF"/>
              </a:solidFill>
              <a:latin typeface="Calibri"/>
            </a:endParaRPr>
          </a:p>
        </p:txBody>
      </p:sp>
      <p:sp>
        <p:nvSpPr>
          <p:cNvPr id="75" name="Rectangle 74"/>
          <p:cNvSpPr/>
          <p:nvPr/>
        </p:nvSpPr>
        <p:spPr>
          <a:xfrm>
            <a:off x="5968745" y="964636"/>
            <a:ext cx="2808000" cy="3420000"/>
          </a:xfrm>
          <a:prstGeom prst="rect">
            <a:avLst/>
          </a:prstGeom>
          <a:solidFill>
            <a:srgbClr val="4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055963" y="1072636"/>
            <a:ext cx="2592000" cy="3240000"/>
          </a:xfrm>
          <a:prstGeom prst="rect">
            <a:avLst/>
          </a:prstGeom>
          <a:noFill/>
        </p:spPr>
        <p:txBody>
          <a:bodyPr wrap="square">
            <a:spAutoFit/>
          </a:bodyPr>
          <a:lstStyle/>
          <a:p>
            <a:r>
              <a:rPr sz="1400" b="1" dirty="0">
                <a:solidFill>
                  <a:srgbClr val="F5A623"/>
                </a:solidFill>
                <a:latin typeface="Calibri Light"/>
              </a:rPr>
              <a:t>🔍 Premières </a:t>
            </a:r>
            <a:r>
              <a:rPr sz="1400" b="1" dirty="0" err="1">
                <a:solidFill>
                  <a:srgbClr val="F5A623"/>
                </a:solidFill>
                <a:latin typeface="Calibri Light"/>
              </a:rPr>
              <a:t>requêtes</a:t>
            </a:r>
            <a:endParaRPr sz="1400" b="1" dirty="0">
              <a:solidFill>
                <a:srgbClr val="F5A623"/>
              </a:solidFill>
              <a:latin typeface="Calibri Light"/>
            </a:endParaRPr>
          </a:p>
          <a:p>
            <a:endParaRPr sz="1400" b="1" dirty="0">
              <a:solidFill>
                <a:srgbClr val="F5A623"/>
              </a:solidFill>
              <a:latin typeface="Calibri Light"/>
            </a:endParaRPr>
          </a:p>
          <a:p>
            <a:r>
              <a:rPr sz="1300" b="0" dirty="0">
                <a:solidFill>
                  <a:srgbClr val="FFFFFF"/>
                </a:solidFill>
                <a:latin typeface="Calibri"/>
              </a:rPr>
              <a:t>Total documents :</a:t>
            </a:r>
          </a:p>
          <a:p>
            <a:r>
              <a:rPr sz="1300" b="0" dirty="0">
                <a:solidFill>
                  <a:srgbClr val="FFFFFF"/>
                </a:solidFill>
                <a:latin typeface="Calibri"/>
              </a:rPr>
              <a:t>  → 95 885</a:t>
            </a:r>
          </a:p>
          <a:p>
            <a:endParaRPr sz="1300" b="0" dirty="0">
              <a:solidFill>
                <a:srgbClr val="FFFFFF"/>
              </a:solidFill>
              <a:latin typeface="Calibri"/>
            </a:endParaRPr>
          </a:p>
          <a:p>
            <a:r>
              <a:rPr sz="1300" b="0" dirty="0" err="1">
                <a:solidFill>
                  <a:srgbClr val="FFFFFF"/>
                </a:solidFill>
                <a:latin typeface="Calibri"/>
              </a:rPr>
              <a:t>Logements</a:t>
            </a:r>
            <a:r>
              <a:rPr sz="1300" b="0" dirty="0">
                <a:solidFill>
                  <a:srgbClr val="FFFFFF"/>
                </a:solidFill>
                <a:latin typeface="Calibri"/>
              </a:rPr>
              <a:t> </a:t>
            </a:r>
            <a:r>
              <a:rPr sz="1300" b="0" dirty="0" err="1">
                <a:solidFill>
                  <a:srgbClr val="FFFFFF"/>
                </a:solidFill>
                <a:latin typeface="Calibri"/>
              </a:rPr>
              <a:t>disponibles</a:t>
            </a:r>
            <a:endParaRPr sz="1300" b="0" dirty="0">
              <a:solidFill>
                <a:srgbClr val="FFFFFF"/>
              </a:solidFill>
              <a:latin typeface="Calibri"/>
            </a:endParaRPr>
          </a:p>
          <a:p>
            <a:r>
              <a:rPr sz="1300" b="0" dirty="0">
                <a:solidFill>
                  <a:srgbClr val="FFFFFF"/>
                </a:solidFill>
                <a:latin typeface="Calibri"/>
              </a:rPr>
              <a:t>(</a:t>
            </a:r>
            <a:r>
              <a:rPr sz="1300" b="0" dirty="0" err="1">
                <a:solidFill>
                  <a:srgbClr val="FFFFFF"/>
                </a:solidFill>
                <a:latin typeface="Calibri"/>
              </a:rPr>
              <a:t>has_availability</a:t>
            </a:r>
            <a:r>
              <a:rPr sz="1300" b="0" dirty="0">
                <a:solidFill>
                  <a:srgbClr val="FFFFFF"/>
                </a:solidFill>
                <a:latin typeface="Calibri"/>
              </a:rPr>
              <a:t>: true) :</a:t>
            </a:r>
          </a:p>
          <a:p>
            <a:r>
              <a:rPr sz="1300" b="0" dirty="0">
                <a:solidFill>
                  <a:srgbClr val="FFFFFF"/>
                </a:solidFill>
                <a:latin typeface="Calibri"/>
              </a:rPr>
              <a:t>  → 90 173</a:t>
            </a:r>
          </a:p>
        </p:txBody>
      </p:sp>
      <p:sp>
        <p:nvSpPr>
          <p:cNvPr id="2" name="TextBox 73">
            <a:extLst>
              <a:ext uri="{FF2B5EF4-FFF2-40B4-BE49-F238E27FC236}">
                <a16:creationId xmlns:a16="http://schemas.microsoft.com/office/drawing/2014/main" id="{DCE0CC86-F0FC-3A71-A3B6-299C3FDDD2F5}"/>
              </a:ext>
            </a:extLst>
          </p:cNvPr>
          <p:cNvSpPr txBox="1"/>
          <p:nvPr/>
        </p:nvSpPr>
        <p:spPr>
          <a:xfrm>
            <a:off x="455890" y="964636"/>
            <a:ext cx="4392709" cy="338554"/>
          </a:xfrm>
          <a:prstGeom prst="rect">
            <a:avLst/>
          </a:prstGeom>
          <a:noFill/>
        </p:spPr>
        <p:txBody>
          <a:bodyPr wrap="square">
            <a:spAutoFit/>
          </a:bodyPr>
          <a:lstStyle/>
          <a:p>
            <a:r>
              <a:rPr lang="fr-FR" sz="1600" b="1">
                <a:solidFill>
                  <a:srgbClr val="F5A623"/>
                </a:solidFill>
                <a:latin typeface="Calibri Light"/>
              </a:rPr>
              <a:t>⚡ Avantages du NoSQL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5886E6A7-6BB3-F606-E6A1-8F904C432232}"/>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C031E7F4-6257-3D03-32C8-595A238A771C}"/>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F27DAEF1-62B1-F6B6-DC3E-4424F48BC19F}"/>
              </a:ext>
            </a:extLst>
          </p:cNvPr>
          <p:cNvSpPr txBox="1"/>
          <p:nvPr/>
        </p:nvSpPr>
        <p:spPr>
          <a:xfrm>
            <a:off x="540000" y="21600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a:ln>
                  <a:noFill/>
                </a:ln>
                <a:solidFill>
                  <a:srgbClr val="FFFFFF"/>
                </a:solidFill>
                <a:effectLst/>
                <a:uLnTx/>
                <a:uFillTx/>
                <a:latin typeface="Calibri Light"/>
                <a:cs typeface="Arial"/>
                <a:sym typeface="Arial"/>
              </a:rPr>
              <a:t>Partie 2 — Analyser l'intégrité des données</a:t>
            </a:r>
          </a:p>
        </p:txBody>
      </p:sp>
      <p:sp>
        <p:nvSpPr>
          <p:cNvPr id="76" name="Rectangle 75">
            <a:extLst>
              <a:ext uri="{FF2B5EF4-FFF2-40B4-BE49-F238E27FC236}">
                <a16:creationId xmlns:a16="http://schemas.microsoft.com/office/drawing/2014/main" id="{2CC330B5-E46D-B171-76E1-0236E691BC8F}"/>
              </a:ext>
            </a:extLst>
          </p:cNvPr>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TextBox 76">
            <a:extLst>
              <a:ext uri="{FF2B5EF4-FFF2-40B4-BE49-F238E27FC236}">
                <a16:creationId xmlns:a16="http://schemas.microsoft.com/office/drawing/2014/main" id="{B0C7C9DA-5729-48F8-AEF3-A8B340D99FA5}"/>
              </a:ext>
            </a:extLst>
          </p:cNvPr>
          <p:cNvSpPr txBox="1"/>
          <p:nvPr/>
        </p:nvSpPr>
        <p:spPr>
          <a:xfrm>
            <a:off x="540000" y="1080000"/>
            <a:ext cx="7920000" cy="28800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600" b="1" i="0" u="none" strike="noStrike" kern="0" cap="none" spc="0" normalizeH="0" baseline="0" noProof="0" dirty="0">
                <a:ln>
                  <a:noFill/>
                </a:ln>
                <a:solidFill>
                  <a:srgbClr val="F5A623"/>
                </a:solidFill>
                <a:effectLst/>
                <a:uLnTx/>
                <a:uFillTx/>
                <a:latin typeface="Calibri"/>
                <a:cs typeface="Arial"/>
                <a:sym typeface="Arial"/>
              </a:rPr>
              <a:t>À </a:t>
            </a:r>
            <a:r>
              <a:rPr kumimoji="0" sz="1600" b="1" i="0" u="none" strike="noStrike" kern="0" cap="none" spc="0" normalizeH="0" baseline="0" noProof="0" dirty="0" err="1">
                <a:ln>
                  <a:noFill/>
                </a:ln>
                <a:solidFill>
                  <a:srgbClr val="F5A623"/>
                </a:solidFill>
                <a:effectLst/>
                <a:uLnTx/>
                <a:uFillTx/>
                <a:latin typeface="Calibri"/>
                <a:cs typeface="Arial"/>
                <a:sym typeface="Arial"/>
              </a:rPr>
              <a:t>compléter</a:t>
            </a:r>
            <a:r>
              <a:rPr kumimoji="0" sz="1600" b="1" i="0" u="none" strike="noStrike" kern="0" cap="none" spc="0" normalizeH="0" baseline="0" noProof="0" dirty="0">
                <a:ln>
                  <a:noFill/>
                </a:ln>
                <a:solidFill>
                  <a:srgbClr val="F5A623"/>
                </a:solidFill>
                <a:effectLst/>
                <a:uLnTx/>
                <a:uFillTx/>
                <a:latin typeface="Calibri"/>
                <a:cs typeface="Arial"/>
                <a:sym typeface="Arial"/>
              </a:rPr>
              <a:t> avec </a:t>
            </a:r>
            <a:r>
              <a:rPr kumimoji="0" sz="1600" b="1" i="0" u="none" strike="noStrike" kern="0" cap="none" spc="0" normalizeH="0" baseline="0" noProof="0" dirty="0" err="1">
                <a:ln>
                  <a:noFill/>
                </a:ln>
                <a:solidFill>
                  <a:srgbClr val="F5A623"/>
                </a:solidFill>
                <a:effectLst/>
                <a:uLnTx/>
                <a:uFillTx/>
                <a:latin typeface="Calibri"/>
                <a:cs typeface="Arial"/>
                <a:sym typeface="Arial"/>
              </a:rPr>
              <a:t>l'étape</a:t>
            </a:r>
            <a:r>
              <a:rPr kumimoji="0" sz="1600" b="1" i="0" u="none" strike="noStrike" kern="0" cap="none" spc="0" normalizeH="0" baseline="0" noProof="0" dirty="0">
                <a:ln>
                  <a:noFill/>
                </a:ln>
                <a:solidFill>
                  <a:srgbClr val="F5A623"/>
                </a:solidFill>
                <a:effectLst/>
                <a:uLnTx/>
                <a:uFillTx/>
                <a:latin typeface="Calibri"/>
                <a:cs typeface="Arial"/>
                <a:sym typeface="Arial"/>
              </a:rPr>
              <a:t> </a:t>
            </a:r>
            <a:r>
              <a:rPr kumimoji="0" sz="1600" b="1" i="0" u="none" strike="noStrike" kern="0" cap="none" spc="0" normalizeH="0" baseline="0" noProof="0" dirty="0" err="1">
                <a:ln>
                  <a:noFill/>
                </a:ln>
                <a:solidFill>
                  <a:srgbClr val="F5A623"/>
                </a:solidFill>
                <a:effectLst/>
                <a:uLnTx/>
                <a:uFillTx/>
                <a:latin typeface="Calibri"/>
                <a:cs typeface="Arial"/>
                <a:sym typeface="Arial"/>
              </a:rPr>
              <a:t>suivante</a:t>
            </a:r>
            <a:r>
              <a:rPr kumimoji="0" sz="1600" b="1" i="0" u="none" strike="noStrike" kern="0" cap="none" spc="0" normalizeH="0" baseline="0" noProof="0" dirty="0">
                <a:ln>
                  <a:noFill/>
                </a:ln>
                <a:solidFill>
                  <a:srgbClr val="F5A623"/>
                </a:solidFill>
                <a:effectLst/>
                <a:uLnTx/>
                <a:uFillTx/>
                <a:latin typeface="Calibri"/>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1" i="0" u="none" strike="noStrike" kern="0" cap="none" spc="0" normalizeH="0" baseline="0" noProof="0" dirty="0">
              <a:ln>
                <a:noFill/>
              </a:ln>
              <a:solidFill>
                <a:srgbClr val="F5A623"/>
              </a:solidFill>
              <a:effectLst/>
              <a:uLnTx/>
              <a:uFillTx/>
              <a:latin typeface="Calibri"/>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0" u="none" strike="noStrike" kern="0" cap="none" spc="0" normalizeH="0" baseline="0" noProof="0" dirty="0">
                <a:ln>
                  <a:noFill/>
                </a:ln>
                <a:solidFill>
                  <a:srgbClr val="FFFFFF"/>
                </a:solidFill>
                <a:effectLst/>
                <a:uLnTx/>
                <a:uFillTx/>
                <a:latin typeface="Calibri"/>
                <a:cs typeface="Arial"/>
                <a:sym typeface="Arial"/>
              </a:rPr>
              <a:t>■  Les </a:t>
            </a:r>
            <a:r>
              <a:rPr kumimoji="0" sz="1400" b="0" i="0" u="none" strike="noStrike" kern="0" cap="none" spc="0" normalizeH="0" baseline="0" noProof="0" dirty="0" err="1">
                <a:ln>
                  <a:noFill/>
                </a:ln>
                <a:solidFill>
                  <a:srgbClr val="FFFFFF"/>
                </a:solidFill>
                <a:effectLst/>
                <a:uLnTx/>
                <a:uFillTx/>
                <a:latin typeface="Calibri"/>
                <a:cs typeface="Arial"/>
                <a:sym typeface="Arial"/>
              </a:rPr>
              <a:t>requêtes</a:t>
            </a:r>
            <a:r>
              <a:rPr kumimoji="0" sz="1400" b="0" i="0" u="none" strike="noStrike" kern="0" cap="none" spc="0" normalizeH="0" baseline="0" noProof="0" dirty="0">
                <a:ln>
                  <a:noFill/>
                </a:ln>
                <a:solidFill>
                  <a:srgbClr val="FFFFFF"/>
                </a:solidFill>
                <a:effectLst/>
                <a:uLnTx/>
                <a:uFillTx/>
                <a:latin typeface="Calibri"/>
                <a:cs typeface="Arial"/>
                <a:sym typeface="Arial"/>
              </a:rPr>
              <a:t> MongoDB et </a:t>
            </a:r>
            <a:r>
              <a:rPr kumimoji="0" sz="1400" b="0" i="0" u="none" strike="noStrike" kern="0" cap="none" spc="0" normalizeH="0" baseline="0" noProof="0" dirty="0" err="1">
                <a:ln>
                  <a:noFill/>
                </a:ln>
                <a:solidFill>
                  <a:srgbClr val="FFFFFF"/>
                </a:solidFill>
                <a:effectLst/>
                <a:uLnTx/>
                <a:uFillTx/>
                <a:latin typeface="Calibri"/>
                <a:cs typeface="Arial"/>
                <a:sym typeface="Arial"/>
              </a:rPr>
              <a:t>leurs</a:t>
            </a:r>
            <a:r>
              <a:rPr kumimoji="0" sz="1400" b="0" i="0" u="none" strike="noStrike" kern="0" cap="none" spc="0" normalizeH="0" baseline="0" noProof="0" dirty="0">
                <a:ln>
                  <a:noFill/>
                </a:ln>
                <a:solidFill>
                  <a:srgbClr val="FFFFFF"/>
                </a:solidFill>
                <a:effectLst/>
                <a:uLnTx/>
                <a:uFillTx/>
                <a:latin typeface="Calibri"/>
                <a:cs typeface="Arial"/>
                <a:sym typeface="Arial"/>
              </a:rPr>
              <a:t> </a:t>
            </a:r>
            <a:r>
              <a:rPr kumimoji="0" sz="1400" b="0" i="0" u="none" strike="noStrike" kern="0" cap="none" spc="0" normalizeH="0" baseline="0" noProof="0" dirty="0" err="1">
                <a:ln>
                  <a:noFill/>
                </a:ln>
                <a:solidFill>
                  <a:srgbClr val="FFFFFF"/>
                </a:solidFill>
                <a:effectLst/>
                <a:uLnTx/>
                <a:uFillTx/>
                <a:latin typeface="Calibri"/>
                <a:cs typeface="Arial"/>
                <a:sym typeface="Arial"/>
              </a:rPr>
              <a:t>résultats</a:t>
            </a:r>
            <a:endParaRPr kumimoji="0" sz="1400" b="0" i="0" u="none" strike="noStrike" kern="0" cap="none" spc="0" normalizeH="0" baseline="0" noProof="0" dirty="0">
              <a:ln>
                <a:noFill/>
              </a:ln>
              <a:solidFill>
                <a:srgbClr val="FFFFFF"/>
              </a:solidFill>
              <a:effectLst/>
              <a:uLnTx/>
              <a:uFillTx/>
              <a:latin typeface="Calibri"/>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0" u="none" strike="noStrike" kern="0" cap="none" spc="0" normalizeH="0" baseline="0" noProof="0" dirty="0">
                <a:ln>
                  <a:noFill/>
                </a:ln>
                <a:solidFill>
                  <a:srgbClr val="FFFFFF"/>
                </a:solidFill>
                <a:effectLst/>
                <a:uLnTx/>
                <a:uFillTx/>
                <a:latin typeface="Calibri"/>
                <a:cs typeface="Arial"/>
                <a:sym typeface="Arial"/>
              </a:rPr>
              <a:t>■  La démarche pour connecter MongoDB à un </a:t>
            </a:r>
            <a:r>
              <a:rPr kumimoji="0" sz="1400" b="0" i="0" u="none" strike="noStrike" kern="0" cap="none" spc="0" normalizeH="0" baseline="0" noProof="0" dirty="0" err="1">
                <a:ln>
                  <a:noFill/>
                </a:ln>
                <a:solidFill>
                  <a:srgbClr val="FFFFFF"/>
                </a:solidFill>
                <a:effectLst/>
                <a:uLnTx/>
                <a:uFillTx/>
                <a:latin typeface="Calibri"/>
                <a:cs typeface="Arial"/>
                <a:sym typeface="Arial"/>
              </a:rPr>
              <a:t>outil</a:t>
            </a:r>
            <a:r>
              <a:rPr kumimoji="0" sz="1400" b="0" i="0" u="none" strike="noStrike" kern="0" cap="none" spc="0" normalizeH="0" baseline="0" noProof="0" dirty="0">
                <a:ln>
                  <a:noFill/>
                </a:ln>
                <a:solidFill>
                  <a:srgbClr val="FFFFFF"/>
                </a:solidFill>
                <a:effectLst/>
                <a:uLnTx/>
                <a:uFillTx/>
                <a:latin typeface="Calibri"/>
                <a:cs typeface="Arial"/>
                <a:sym typeface="Arial"/>
              </a:rPr>
              <a:t> de Business Intelligence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0" u="none" strike="noStrike" kern="0" cap="none" spc="0" normalizeH="0" baseline="0" noProof="0" dirty="0">
                <a:ln>
                  <a:noFill/>
                </a:ln>
                <a:solidFill>
                  <a:srgbClr val="FFFFFF"/>
                </a:solidFill>
                <a:effectLst/>
                <a:uLnTx/>
                <a:uFillTx/>
                <a:latin typeface="Calibri"/>
                <a:cs typeface="Arial"/>
                <a:sym typeface="Arial"/>
              </a:rPr>
              <a:t>■  Captures </a:t>
            </a:r>
            <a:r>
              <a:rPr kumimoji="0" sz="1400" b="0" i="0" u="none" strike="noStrike" kern="0" cap="none" spc="0" normalizeH="0" baseline="0" noProof="0" dirty="0" err="1">
                <a:ln>
                  <a:noFill/>
                </a:ln>
                <a:solidFill>
                  <a:srgbClr val="FFFFFF"/>
                </a:solidFill>
                <a:effectLst/>
                <a:uLnTx/>
                <a:uFillTx/>
                <a:latin typeface="Calibri"/>
                <a:cs typeface="Arial"/>
                <a:sym typeface="Arial"/>
              </a:rPr>
              <a:t>d'écran</a:t>
            </a:r>
            <a:r>
              <a:rPr kumimoji="0" sz="1400" b="0" i="0" u="none" strike="noStrike" kern="0" cap="none" spc="0" normalizeH="0" baseline="0" noProof="0" dirty="0">
                <a:ln>
                  <a:noFill/>
                </a:ln>
                <a:solidFill>
                  <a:srgbClr val="FFFFFF"/>
                </a:solidFill>
                <a:effectLst/>
                <a:uLnTx/>
                <a:uFillTx/>
                <a:latin typeface="Calibri"/>
                <a:cs typeface="Arial"/>
                <a:sym typeface="Arial"/>
              </a:rPr>
              <a:t> du tableau de bord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0" u="none" strike="noStrike" kern="0" cap="none" spc="0" normalizeH="0" baseline="0" noProof="0" dirty="0">
                <a:ln>
                  <a:noFill/>
                </a:ln>
                <a:solidFill>
                  <a:srgbClr val="FFFFFF"/>
                </a:solidFill>
                <a:effectLst/>
                <a:uLnTx/>
                <a:uFillTx/>
                <a:latin typeface="Calibri"/>
                <a:cs typeface="Arial"/>
                <a:sym typeface="Arial"/>
              </a:rPr>
              <a:t>■  Captures </a:t>
            </a:r>
            <a:r>
              <a:rPr kumimoji="0" sz="1400" b="0" i="0" u="none" strike="noStrike" kern="0" cap="none" spc="0" normalizeH="0" baseline="0" noProof="0" dirty="0" err="1">
                <a:ln>
                  <a:noFill/>
                </a:ln>
                <a:solidFill>
                  <a:srgbClr val="FFFFFF"/>
                </a:solidFill>
                <a:effectLst/>
                <a:uLnTx/>
                <a:uFillTx/>
                <a:latin typeface="Calibri"/>
                <a:cs typeface="Arial"/>
                <a:sym typeface="Arial"/>
              </a:rPr>
              <a:t>d'écran</a:t>
            </a:r>
            <a:r>
              <a:rPr kumimoji="0" sz="1400" b="0" i="0" u="none" strike="noStrike" kern="0" cap="none" spc="0" normalizeH="0" baseline="0" noProof="0" dirty="0">
                <a:ln>
                  <a:noFill/>
                </a:ln>
                <a:solidFill>
                  <a:srgbClr val="FFFFFF"/>
                </a:solidFill>
                <a:effectLst/>
                <a:uLnTx/>
                <a:uFillTx/>
                <a:latin typeface="Calibri"/>
                <a:cs typeface="Arial"/>
                <a:sym typeface="Arial"/>
              </a:rPr>
              <a:t> du processus de </a:t>
            </a:r>
            <a:r>
              <a:rPr kumimoji="0" sz="1400" b="0" i="0" u="none" strike="noStrike" kern="0" cap="none" spc="0" normalizeH="0" baseline="0" noProof="0" dirty="0" err="1">
                <a:ln>
                  <a:noFill/>
                </a:ln>
                <a:solidFill>
                  <a:srgbClr val="FFFFFF"/>
                </a:solidFill>
                <a:effectLst/>
                <a:uLnTx/>
                <a:uFillTx/>
                <a:latin typeface="Calibri"/>
                <a:cs typeface="Arial"/>
                <a:sym typeface="Arial"/>
              </a:rPr>
              <a:t>connexion</a:t>
            </a:r>
            <a:endParaRPr kumimoji="0" sz="1400" b="0" i="0" u="none" strike="noStrike" kern="0" cap="none" spc="0" normalizeH="0" baseline="0" noProof="0" dirty="0">
              <a:ln>
                <a:noFill/>
              </a:ln>
              <a:solidFill>
                <a:srgbClr val="FFFFFF"/>
              </a:solidFill>
              <a:effectLst/>
              <a:uLnTx/>
              <a:uFillTx/>
              <a:latin typeface="Calibri"/>
              <a:cs typeface="Arial"/>
              <a:sym typeface="Arial"/>
            </a:endParaRPr>
          </a:p>
        </p:txBody>
      </p:sp>
    </p:spTree>
    <p:extLst>
      <p:ext uri="{BB962C8B-B14F-4D97-AF65-F5344CB8AC3E}">
        <p14:creationId xmlns:p14="http://schemas.microsoft.com/office/powerpoint/2010/main" val="1605250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p:cNvGrpSpPr/>
        <p:nvPr/>
      </p:nvGrpSpPr>
      <p:grpSpPr>
        <a:xfrm>
          <a:off x="0" y="0"/>
          <a:ext cx="0" cy="0"/>
          <a:chOff x="0" y="0"/>
          <a:chExt cx="0" cy="0"/>
        </a:xfrm>
      </p:grpSpPr>
      <p:sp>
        <p:nvSpPr>
          <p:cNvPr id="74" name="Rectangle 73"/>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0000" y="92478"/>
            <a:ext cx="7920000" cy="540000"/>
          </a:xfrm>
          <a:prstGeom prst="rect">
            <a:avLst/>
          </a:prstGeom>
          <a:noFill/>
        </p:spPr>
        <p:txBody>
          <a:bodyPr wrap="none">
            <a:spAutoFit/>
          </a:bodyPr>
          <a:lstStyle/>
          <a:p>
            <a:r>
              <a:rPr sz="2400" b="1" dirty="0" err="1">
                <a:solidFill>
                  <a:srgbClr val="FFFFFF"/>
                </a:solidFill>
                <a:latin typeface="Calibri Light"/>
              </a:rPr>
              <a:t>Partie</a:t>
            </a:r>
            <a:r>
              <a:rPr sz="2400" b="1" dirty="0">
                <a:solidFill>
                  <a:srgbClr val="FFFFFF"/>
                </a:solidFill>
                <a:latin typeface="Calibri Light"/>
              </a:rPr>
              <a:t> 2 — </a:t>
            </a:r>
            <a:r>
              <a:rPr sz="2400" b="1" dirty="0" err="1">
                <a:solidFill>
                  <a:srgbClr val="FFFFFF"/>
                </a:solidFill>
                <a:latin typeface="Calibri Light"/>
              </a:rPr>
              <a:t>Analyser</a:t>
            </a:r>
            <a:r>
              <a:rPr sz="2400" b="1" dirty="0">
                <a:solidFill>
                  <a:srgbClr val="FFFFFF"/>
                </a:solidFill>
                <a:latin typeface="Calibri Light"/>
              </a:rPr>
              <a:t> </a:t>
            </a:r>
            <a:r>
              <a:rPr sz="2400" b="1" dirty="0" err="1">
                <a:solidFill>
                  <a:srgbClr val="FFFFFF"/>
                </a:solidFill>
                <a:latin typeface="Calibri Light"/>
              </a:rPr>
              <a:t>l'intégrité</a:t>
            </a:r>
            <a:r>
              <a:rPr sz="2400" b="1" dirty="0">
                <a:solidFill>
                  <a:srgbClr val="FFFFFF"/>
                </a:solidFill>
                <a:latin typeface="Calibri Light"/>
              </a:rPr>
              <a:t> des données</a:t>
            </a:r>
          </a:p>
        </p:txBody>
      </p:sp>
      <p:sp>
        <p:nvSpPr>
          <p:cNvPr id="76" name="Rectangle 75"/>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40000" y="494183"/>
            <a:ext cx="7920000" cy="307777"/>
          </a:xfrm>
          <a:prstGeom prst="rect">
            <a:avLst/>
          </a:prstGeom>
          <a:noFill/>
        </p:spPr>
        <p:txBody>
          <a:bodyPr wrap="square">
            <a:spAutoFit/>
          </a:bodyPr>
          <a:lstStyle/>
          <a:p>
            <a:r>
              <a:rPr sz="1400" b="0" dirty="0">
                <a:solidFill>
                  <a:srgbClr val="FFFFFF"/>
                </a:solidFill>
                <a:latin typeface="Calibri"/>
              </a:rPr>
              <a:t>■  Les </a:t>
            </a:r>
            <a:r>
              <a:rPr sz="1400" b="0" dirty="0" err="1">
                <a:solidFill>
                  <a:srgbClr val="FFFFFF"/>
                </a:solidFill>
                <a:latin typeface="Calibri"/>
              </a:rPr>
              <a:t>requêtes</a:t>
            </a:r>
            <a:r>
              <a:rPr sz="1400" b="0" dirty="0">
                <a:solidFill>
                  <a:srgbClr val="FFFFFF"/>
                </a:solidFill>
                <a:latin typeface="Calibri"/>
              </a:rPr>
              <a:t> MongoDB et </a:t>
            </a:r>
            <a:r>
              <a:rPr sz="1400" b="0" dirty="0" err="1">
                <a:solidFill>
                  <a:srgbClr val="FFFFFF"/>
                </a:solidFill>
                <a:latin typeface="Calibri"/>
              </a:rPr>
              <a:t>leurs</a:t>
            </a:r>
            <a:r>
              <a:rPr sz="1400" b="0" dirty="0">
                <a:solidFill>
                  <a:srgbClr val="FFFFFF"/>
                </a:solidFill>
                <a:latin typeface="Calibri"/>
              </a:rPr>
              <a:t> </a:t>
            </a:r>
            <a:r>
              <a:rPr sz="1400" b="0" dirty="0" err="1">
                <a:solidFill>
                  <a:srgbClr val="FFFFFF"/>
                </a:solidFill>
                <a:latin typeface="Calibri"/>
              </a:rPr>
              <a:t>résultats</a:t>
            </a:r>
            <a:endParaRPr sz="1400" b="0" dirty="0">
              <a:solidFill>
                <a:srgbClr val="FFFFFF"/>
              </a:solidFill>
              <a:latin typeface="Calibri"/>
            </a:endParaRPr>
          </a:p>
        </p:txBody>
      </p:sp>
      <p:sp>
        <p:nvSpPr>
          <p:cNvPr id="5" name="ZoneTexte 4">
            <a:extLst>
              <a:ext uri="{FF2B5EF4-FFF2-40B4-BE49-F238E27FC236}">
                <a16:creationId xmlns:a16="http://schemas.microsoft.com/office/drawing/2014/main" id="{560F9522-2C3A-6DD6-767F-140B2A324CF8}"/>
              </a:ext>
            </a:extLst>
          </p:cNvPr>
          <p:cNvSpPr txBox="1"/>
          <p:nvPr/>
        </p:nvSpPr>
        <p:spPr>
          <a:xfrm>
            <a:off x="540000" y="1176398"/>
            <a:ext cx="3422400" cy="861774"/>
          </a:xfrm>
          <a:prstGeom prst="rect">
            <a:avLst/>
          </a:prstGeom>
          <a:noFill/>
        </p:spPr>
        <p:txBody>
          <a:bodyPr wrap="square">
            <a:spAutoFit/>
          </a:bodyPr>
          <a:lstStyle/>
          <a:p>
            <a:r>
              <a:rPr lang="fr-FR" sz="1200" b="0" i="0" dirty="0">
                <a:solidFill>
                  <a:srgbClr val="D6D0C8"/>
                </a:solidFill>
                <a:effectLst/>
                <a:latin typeface="pplxSansMono"/>
              </a:rPr>
              <a:t>db.listings_paris.</a:t>
            </a:r>
            <a:r>
              <a:rPr lang="fr-FR" sz="1200" b="0" i="0" dirty="0">
                <a:solidFill>
                  <a:srgbClr val="D2A8FF"/>
                </a:solidFill>
                <a:effectLst/>
                <a:latin typeface="pplxSansMono"/>
              </a:rPr>
              <a:t>aggregate</a:t>
            </a:r>
            <a:r>
              <a:rPr lang="fr-FR" sz="1200" b="0" i="0" dirty="0">
                <a:solidFill>
                  <a:srgbClr val="D6D0C8"/>
                </a:solidFill>
                <a:effectLst/>
                <a:latin typeface="pplxSansMono"/>
              </a:rPr>
              <a:t>([</a:t>
            </a:r>
          </a:p>
          <a:p>
            <a:r>
              <a:rPr lang="fr-FR" sz="1200" b="0" i="0" dirty="0">
                <a:solidFill>
                  <a:srgbClr val="D6D0C8"/>
                </a:solidFill>
                <a:effectLst/>
                <a:latin typeface="pplxSansMono"/>
              </a:rPr>
              <a:t> { $group: { _id: </a:t>
            </a:r>
            <a:r>
              <a:rPr lang="fr-FR" sz="1200" b="0" i="0" dirty="0">
                <a:solidFill>
                  <a:srgbClr val="A5D6FF"/>
                </a:solidFill>
                <a:effectLst/>
                <a:latin typeface="pplxSansMono"/>
              </a:rPr>
              <a:t>"$room_type"</a:t>
            </a:r>
            <a:r>
              <a:rPr lang="fr-FR" sz="1200" b="0" i="0" dirty="0">
                <a:solidFill>
                  <a:srgbClr val="D6D0C8"/>
                </a:solidFill>
                <a:effectLst/>
                <a:latin typeface="pplxSansMono"/>
              </a:rPr>
              <a:t>, total: { $sum: </a:t>
            </a:r>
            <a:r>
              <a:rPr lang="fr-FR" sz="1200" b="0" i="0" dirty="0">
                <a:solidFill>
                  <a:srgbClr val="FFA657"/>
                </a:solidFill>
                <a:effectLst/>
                <a:latin typeface="pplxSansMono"/>
              </a:rPr>
              <a:t>1</a:t>
            </a:r>
            <a:r>
              <a:rPr lang="fr-FR" sz="1200" b="0" i="0" dirty="0">
                <a:solidFill>
                  <a:srgbClr val="D6D0C8"/>
                </a:solidFill>
                <a:effectLst/>
                <a:latin typeface="pplxSansMono"/>
              </a:rPr>
              <a:t> } } }, </a:t>
            </a:r>
          </a:p>
          <a:p>
            <a:r>
              <a:rPr lang="fr-FR" sz="1200" b="0" i="0" dirty="0">
                <a:solidFill>
                  <a:srgbClr val="D6D0C8"/>
                </a:solidFill>
                <a:effectLst/>
                <a:latin typeface="pplxSansMono"/>
              </a:rPr>
              <a:t>{ $sort: { total: -</a:t>
            </a:r>
            <a:r>
              <a:rPr lang="fr-FR" sz="1200" b="0" i="0" dirty="0">
                <a:solidFill>
                  <a:srgbClr val="FFA657"/>
                </a:solidFill>
                <a:effectLst/>
                <a:latin typeface="pplxSansMono"/>
              </a:rPr>
              <a:t>1</a:t>
            </a:r>
            <a:r>
              <a:rPr lang="fr-FR" sz="1200" b="0" i="0" dirty="0">
                <a:solidFill>
                  <a:srgbClr val="D6D0C8"/>
                </a:solidFill>
                <a:effectLst/>
                <a:latin typeface="pplxSansMono"/>
              </a:rPr>
              <a:t> } } </a:t>
            </a:r>
          </a:p>
          <a:p>
            <a:r>
              <a:rPr lang="fr-FR" sz="1200" b="0" i="0" dirty="0">
                <a:solidFill>
                  <a:srgbClr val="D6D0C8"/>
                </a:solidFill>
                <a:effectLst/>
                <a:latin typeface="pplxSansMono"/>
              </a:rPr>
              <a:t>])</a:t>
            </a:r>
            <a:endParaRPr lang="fr-FR" sz="1200" dirty="0"/>
          </a:p>
        </p:txBody>
      </p:sp>
      <p:graphicFrame>
        <p:nvGraphicFramePr>
          <p:cNvPr id="6" name="Tableau 5">
            <a:extLst>
              <a:ext uri="{FF2B5EF4-FFF2-40B4-BE49-F238E27FC236}">
                <a16:creationId xmlns:a16="http://schemas.microsoft.com/office/drawing/2014/main" id="{1E6E7715-7678-211A-2AEB-BEDFE9DE1160}"/>
              </a:ext>
            </a:extLst>
          </p:cNvPr>
          <p:cNvGraphicFramePr>
            <a:graphicFrameLocks noGrp="1"/>
          </p:cNvGraphicFramePr>
          <p:nvPr>
            <p:extLst>
              <p:ext uri="{D42A27DB-BD31-4B8C-83A1-F6EECF244321}">
                <p14:modId xmlns:p14="http://schemas.microsoft.com/office/powerpoint/2010/main" val="3434764069"/>
              </p:ext>
            </p:extLst>
          </p:nvPr>
        </p:nvGraphicFramePr>
        <p:xfrm>
          <a:off x="609600" y="2049579"/>
          <a:ext cx="7093527" cy="1676400"/>
        </p:xfrm>
        <a:graphic>
          <a:graphicData uri="http://schemas.openxmlformats.org/drawingml/2006/table">
            <a:tbl>
              <a:tblPr/>
              <a:tblGrid>
                <a:gridCol w="2364509">
                  <a:extLst>
                    <a:ext uri="{9D8B030D-6E8A-4147-A177-3AD203B41FA5}">
                      <a16:colId xmlns:a16="http://schemas.microsoft.com/office/drawing/2014/main" val="459529240"/>
                    </a:ext>
                  </a:extLst>
                </a:gridCol>
                <a:gridCol w="2364509">
                  <a:extLst>
                    <a:ext uri="{9D8B030D-6E8A-4147-A177-3AD203B41FA5}">
                      <a16:colId xmlns:a16="http://schemas.microsoft.com/office/drawing/2014/main" val="42898871"/>
                    </a:ext>
                  </a:extLst>
                </a:gridCol>
                <a:gridCol w="2364509">
                  <a:extLst>
                    <a:ext uri="{9D8B030D-6E8A-4147-A177-3AD203B41FA5}">
                      <a16:colId xmlns:a16="http://schemas.microsoft.com/office/drawing/2014/main" val="434951481"/>
                    </a:ext>
                  </a:extLst>
                </a:gridCol>
              </a:tblGrid>
              <a:tr h="320859">
                <a:tc>
                  <a:txBody>
                    <a:bodyPr/>
                    <a:lstStyle/>
                    <a:p>
                      <a:pPr algn="l">
                        <a:buNone/>
                      </a:pPr>
                      <a:r>
                        <a:rPr lang="fr-FR" sz="1200" dirty="0">
                          <a:effectLst/>
                        </a:rPr>
                        <a:t>Type de location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200" dirty="0">
                          <a:effectLst/>
                        </a:rPr>
                        <a:t>Nb annonces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200">
                          <a:effectLst/>
                        </a:rPr>
                        <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941490761"/>
                  </a:ext>
                </a:extLst>
              </a:tr>
              <a:tr h="320859">
                <a:tc>
                  <a:txBody>
                    <a:bodyPr/>
                    <a:lstStyle/>
                    <a:p>
                      <a:pPr algn="l">
                        <a:buNone/>
                      </a:pPr>
                      <a:r>
                        <a:rPr lang="fr-FR" sz="1200" dirty="0" err="1">
                          <a:solidFill>
                            <a:schemeClr val="bg1"/>
                          </a:solidFill>
                          <a:effectLst/>
                        </a:rPr>
                        <a:t>Entire</a:t>
                      </a:r>
                      <a:r>
                        <a:rPr lang="fr-FR" sz="1200" dirty="0">
                          <a:solidFill>
                            <a:schemeClr val="bg1"/>
                          </a:solidFill>
                          <a:effectLst/>
                        </a:rPr>
                        <a:t> home/</a:t>
                      </a:r>
                      <a:r>
                        <a:rPr lang="fr-FR" sz="1200" dirty="0" err="1">
                          <a:solidFill>
                            <a:schemeClr val="bg1"/>
                          </a:solidFill>
                          <a:effectLst/>
                        </a:rPr>
                        <a:t>apt</a:t>
                      </a:r>
                      <a:endParaRPr lang="fr-FR" sz="12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a:solidFill>
                            <a:schemeClr val="bg1"/>
                          </a:solidFill>
                          <a:effectLst/>
                        </a:rPr>
                        <a:t>85 733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a:solidFill>
                            <a:schemeClr val="bg1"/>
                          </a:solidFill>
                          <a:effectLst/>
                        </a:rPr>
                        <a:t>89,4%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72819281"/>
                  </a:ext>
                </a:extLst>
              </a:tr>
              <a:tr h="320859">
                <a:tc>
                  <a:txBody>
                    <a:bodyPr/>
                    <a:lstStyle/>
                    <a:p>
                      <a:pPr algn="l">
                        <a:buNone/>
                      </a:pPr>
                      <a:r>
                        <a:rPr lang="fr-FR" sz="1200" dirty="0">
                          <a:solidFill>
                            <a:schemeClr val="bg1"/>
                          </a:solidFill>
                          <a:effectLst/>
                        </a:rPr>
                        <a:t>Private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8 975</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a:solidFill>
                            <a:schemeClr val="bg1"/>
                          </a:solidFill>
                          <a:effectLst/>
                        </a:rPr>
                        <a:t>9,4%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07080623"/>
                  </a:ext>
                </a:extLst>
              </a:tr>
              <a:tr h="320859">
                <a:tc>
                  <a:txBody>
                    <a:bodyPr/>
                    <a:lstStyle/>
                    <a:p>
                      <a:pPr algn="l">
                        <a:buNone/>
                      </a:pPr>
                      <a:r>
                        <a:rPr lang="fr-FR" sz="1200" dirty="0" err="1">
                          <a:solidFill>
                            <a:schemeClr val="bg1"/>
                          </a:solidFill>
                          <a:effectLst/>
                        </a:rPr>
                        <a:t>Hotel</a:t>
                      </a:r>
                      <a:r>
                        <a:rPr lang="fr-FR" sz="1200" dirty="0">
                          <a:solidFill>
                            <a:schemeClr val="bg1"/>
                          </a:solidFill>
                          <a:effectLst/>
                        </a:rPr>
                        <a:t>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776</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0,8%</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39623792"/>
                  </a:ext>
                </a:extLst>
              </a:tr>
              <a:tr h="320859">
                <a:tc>
                  <a:txBody>
                    <a:bodyPr/>
                    <a:lstStyle/>
                    <a:p>
                      <a:pPr algn="l">
                        <a:buNone/>
                      </a:pPr>
                      <a:r>
                        <a:rPr lang="fr-FR" sz="1200" dirty="0" err="1">
                          <a:solidFill>
                            <a:schemeClr val="bg1"/>
                          </a:solidFill>
                          <a:effectLst/>
                        </a:rPr>
                        <a:t>Shared</a:t>
                      </a:r>
                      <a:r>
                        <a:rPr lang="fr-FR" sz="1200" dirty="0">
                          <a:solidFill>
                            <a:schemeClr val="bg1"/>
                          </a:solidFill>
                          <a:effectLst/>
                        </a:rPr>
                        <a:t>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401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0,4%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56819274"/>
                  </a:ext>
                </a:extLst>
              </a:tr>
            </a:tbl>
          </a:graphicData>
        </a:graphic>
      </p:graphicFrame>
      <p:sp>
        <p:nvSpPr>
          <p:cNvPr id="8" name="ZoneTexte 7">
            <a:extLst>
              <a:ext uri="{FF2B5EF4-FFF2-40B4-BE49-F238E27FC236}">
                <a16:creationId xmlns:a16="http://schemas.microsoft.com/office/drawing/2014/main" id="{24BDB6F8-E48F-4EBA-2D8D-086ED2E36577}"/>
              </a:ext>
            </a:extLst>
          </p:cNvPr>
          <p:cNvSpPr txBox="1"/>
          <p:nvPr/>
        </p:nvSpPr>
        <p:spPr>
          <a:xfrm>
            <a:off x="391391" y="3967102"/>
            <a:ext cx="8004463" cy="738664"/>
          </a:xfrm>
          <a:prstGeom prst="rect">
            <a:avLst/>
          </a:prstGeom>
          <a:noFill/>
        </p:spPr>
        <p:txBody>
          <a:bodyPr wrap="square">
            <a:spAutoFit/>
          </a:bodyPr>
          <a:lstStyle/>
          <a:p>
            <a:r>
              <a:rPr lang="fr-FR" b="0" i="0" dirty="0">
                <a:solidFill>
                  <a:srgbClr val="D6D5D4"/>
                </a:solidFill>
                <a:effectLst/>
                <a:latin typeface="Aptos Display" panose="020B0004020202020204" pitchFamily="34" charset="0"/>
              </a:rPr>
              <a:t>Paris est dominée à </a:t>
            </a:r>
            <a:r>
              <a:rPr lang="fr-FR" b="1" i="0" dirty="0">
                <a:solidFill>
                  <a:srgbClr val="D6D5D4"/>
                </a:solidFill>
                <a:effectLst/>
                <a:latin typeface="Aptos Display" panose="020B0004020202020204" pitchFamily="34" charset="0"/>
              </a:rPr>
              <a:t>89,4%</a:t>
            </a:r>
            <a:r>
              <a:rPr lang="fr-FR" b="0" i="0" dirty="0">
                <a:solidFill>
                  <a:srgbClr val="D6D5D4"/>
                </a:solidFill>
                <a:effectLst/>
                <a:latin typeface="Aptos Display" panose="020B0004020202020204" pitchFamily="34" charset="0"/>
              </a:rPr>
              <a:t> par des logements entiers loués sur Airbnb. C'est le cœur de la problématique de </a:t>
            </a:r>
            <a:r>
              <a:rPr lang="fr-FR" b="0" i="0" dirty="0" err="1">
                <a:solidFill>
                  <a:srgbClr val="D6D5D4"/>
                </a:solidFill>
                <a:effectLst/>
                <a:latin typeface="Aptos Display" panose="020B0004020202020204" pitchFamily="34" charset="0"/>
              </a:rPr>
              <a:t>NosCités</a:t>
            </a:r>
            <a:r>
              <a:rPr lang="fr-FR" b="0" i="0" dirty="0">
                <a:solidFill>
                  <a:srgbClr val="D6D5D4"/>
                </a:solidFill>
                <a:effectLst/>
                <a:latin typeface="Aptos Display" panose="020B0004020202020204" pitchFamily="34" charset="0"/>
              </a:rPr>
              <a:t> : ces appartements entiers sont retirés du marché locatif classique, ce qui réduit l'offre de logements pour les Parisiens.</a:t>
            </a:r>
            <a:endParaRPr lang="fr-FR" dirty="0">
              <a:latin typeface="Aptos Display" panose="020B0004020202020204" pitchFamily="34" charset="0"/>
            </a:endParaRPr>
          </a:p>
        </p:txBody>
      </p:sp>
      <p:sp>
        <p:nvSpPr>
          <p:cNvPr id="10" name="ZoneTexte 9">
            <a:extLst>
              <a:ext uri="{FF2B5EF4-FFF2-40B4-BE49-F238E27FC236}">
                <a16:creationId xmlns:a16="http://schemas.microsoft.com/office/drawing/2014/main" id="{13BDF881-FE3E-6671-D9C4-98521540DF98}"/>
              </a:ext>
            </a:extLst>
          </p:cNvPr>
          <p:cNvSpPr txBox="1"/>
          <p:nvPr/>
        </p:nvSpPr>
        <p:spPr>
          <a:xfrm>
            <a:off x="491508" y="857214"/>
            <a:ext cx="4807855" cy="307777"/>
          </a:xfrm>
          <a:prstGeom prst="rect">
            <a:avLst/>
          </a:prstGeom>
          <a:noFill/>
        </p:spPr>
        <p:txBody>
          <a:bodyPr wrap="square">
            <a:spAutoFit/>
          </a:bodyPr>
          <a:lstStyle/>
          <a:p>
            <a:pPr algn="l"/>
            <a:r>
              <a:rPr lang="fr-FR" b="1" i="1" dirty="0">
                <a:solidFill>
                  <a:srgbClr val="FF0000"/>
                </a:solidFill>
                <a:effectLst/>
                <a:latin typeface="Inter" panose="020B0604020202020204" charset="0"/>
              </a:rPr>
              <a:t>1) Combien d’annonces y a-t-il par type de location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E495AB81-1E8B-407F-5B9A-05717262563F}"/>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563A8B91-D8D9-FB0B-7747-CC90DCA39382}"/>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1BC6FFC3-A92D-2C39-542E-36408B6602B9}"/>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40E4EE9D-5CC1-F5F0-C7EB-3781BCC58760}"/>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07A4F136-7C19-6715-A1F8-6001399EFE77}"/>
              </a:ext>
            </a:extLst>
          </p:cNvPr>
          <p:cNvSpPr txBox="1"/>
          <p:nvPr/>
        </p:nvSpPr>
        <p:spPr>
          <a:xfrm>
            <a:off x="540000" y="1145049"/>
            <a:ext cx="454429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db.listings_paris.</a:t>
            </a:r>
            <a:r>
              <a:rPr lang="fr-FR" sz="1200" b="0" i="0" dirty="0">
                <a:solidFill>
                  <a:srgbClr val="D2A8FF"/>
                </a:solidFill>
                <a:effectLst/>
                <a:latin typeface="pplxSansMono"/>
              </a:rPr>
              <a:t>find</a:t>
            </a:r>
            <a:r>
              <a:rPr lang="fr-FR" sz="1200" b="0" i="0" dirty="0">
                <a:solidFill>
                  <a:srgbClr val="D6D0C8"/>
                </a:solidFill>
                <a:effectLst/>
                <a:latin typeface="pplxSansMono"/>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name: </a:t>
            </a:r>
            <a:r>
              <a:rPr lang="fr-FR" sz="1200" b="0" i="0" dirty="0">
                <a:solidFill>
                  <a:srgbClr val="FFA657"/>
                </a:solidFill>
                <a:effectLst/>
                <a:latin typeface="pplxSansMono"/>
              </a:rPr>
              <a:t>1</a:t>
            </a:r>
            <a:r>
              <a:rPr lang="fr-FR" sz="1200" b="0" i="0" dirty="0">
                <a:solidFill>
                  <a:srgbClr val="D6D0C8"/>
                </a:solidFill>
                <a:effectLst/>
                <a:latin typeface="pplxSansMono"/>
              </a:rPr>
              <a:t>, number_of_reviews: </a:t>
            </a:r>
            <a:r>
              <a:rPr lang="fr-FR" sz="1200" b="0" i="0" dirty="0">
                <a:solidFill>
                  <a:srgbClr val="FFA657"/>
                </a:solidFill>
                <a:effectLst/>
                <a:latin typeface="pplxSansMono"/>
              </a:rPr>
              <a:t>1</a:t>
            </a:r>
            <a:r>
              <a:rPr lang="fr-FR" sz="1200" b="0" i="0" dirty="0">
                <a:solidFill>
                  <a:srgbClr val="D6D0C8"/>
                </a:solidFill>
                <a:effectLst/>
                <a:latin typeface="pplxSansMono"/>
              </a:rPr>
              <a:t>, _id: </a:t>
            </a:r>
            <a:r>
              <a:rPr lang="fr-FR" sz="1200" b="0" i="0" dirty="0">
                <a:solidFill>
                  <a:srgbClr val="FFA657"/>
                </a:solidFill>
                <a:effectLst/>
                <a:latin typeface="pplxSansMono"/>
              </a:rPr>
              <a:t>0</a:t>
            </a:r>
            <a:r>
              <a:rPr lang="fr-FR" sz="1200" b="0" i="0" dirty="0">
                <a:solidFill>
                  <a:srgbClr val="D6D0C8"/>
                </a:solidFill>
                <a:effectLst/>
                <a:latin typeface="pplxSansMono"/>
              </a:rPr>
              <a:t>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a:t>
            </a:r>
            <a:r>
              <a:rPr lang="fr-FR" sz="1200" b="0" i="0" dirty="0">
                <a:solidFill>
                  <a:srgbClr val="D2A8FF"/>
                </a:solidFill>
                <a:effectLst/>
                <a:latin typeface="pplxSansMono"/>
              </a:rPr>
              <a:t>sort</a:t>
            </a:r>
            <a:r>
              <a:rPr lang="fr-FR" sz="1200" b="0" i="0" dirty="0">
                <a:solidFill>
                  <a:srgbClr val="D6D0C8"/>
                </a:solidFill>
                <a:effectLst/>
                <a:latin typeface="pplxSansMono"/>
              </a:rPr>
              <a:t>({ number_of_reviews: -</a:t>
            </a:r>
            <a:r>
              <a:rPr lang="fr-FR" sz="1200" b="0" i="0" dirty="0">
                <a:solidFill>
                  <a:srgbClr val="FFA657"/>
                </a:solidFill>
                <a:effectLst/>
                <a:latin typeface="pplxSansMono"/>
              </a:rPr>
              <a:t>1</a:t>
            </a:r>
            <a:r>
              <a:rPr lang="fr-FR" sz="1200" b="0" i="0" dirty="0">
                <a:solidFill>
                  <a:srgbClr val="D6D0C8"/>
                </a:solidFill>
                <a:effectLst/>
                <a:latin typeface="pplxSansMono"/>
              </a:rPr>
              <a:t> }).</a:t>
            </a:r>
            <a:r>
              <a:rPr lang="fr-FR" sz="1200" b="0" i="0" dirty="0">
                <a:solidFill>
                  <a:srgbClr val="D2A8FF"/>
                </a:solidFill>
                <a:effectLst/>
                <a:latin typeface="pplxSansMono"/>
              </a:rPr>
              <a:t>limit</a:t>
            </a:r>
            <a:r>
              <a:rPr lang="fr-FR" sz="1200" b="0" i="0" dirty="0">
                <a:solidFill>
                  <a:srgbClr val="D6D0C8"/>
                </a:solidFill>
                <a:effectLst/>
                <a:latin typeface="pplxSansMono"/>
              </a:rPr>
              <a:t>(</a:t>
            </a:r>
            <a:r>
              <a:rPr lang="fr-FR" sz="1200" b="0" i="0" dirty="0">
                <a:solidFill>
                  <a:srgbClr val="FFA657"/>
                </a:solidFill>
                <a:effectLst/>
                <a:latin typeface="pplxSansMono"/>
              </a:rPr>
              <a:t>5</a:t>
            </a:r>
            <a:r>
              <a:rPr lang="fr-FR" sz="1200" b="0" i="0" dirty="0">
                <a:solidFill>
                  <a:srgbClr val="D6D0C8"/>
                </a:solidFill>
                <a:effectLst/>
                <a:latin typeface="pplxSansMono"/>
              </a:rPr>
              <a:t>)</a:t>
            </a:r>
            <a:endParaRPr kumimoji="0" lang="fr-FR" sz="12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ZoneTexte 7">
            <a:extLst>
              <a:ext uri="{FF2B5EF4-FFF2-40B4-BE49-F238E27FC236}">
                <a16:creationId xmlns:a16="http://schemas.microsoft.com/office/drawing/2014/main" id="{B4230D46-88EE-84EB-E703-36B60949F66D}"/>
              </a:ext>
            </a:extLst>
          </p:cNvPr>
          <p:cNvSpPr txBox="1"/>
          <p:nvPr/>
        </p:nvSpPr>
        <p:spPr>
          <a:xfrm>
            <a:off x="455537" y="4285247"/>
            <a:ext cx="800446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Les 5 annonces les plus évaluées sont toutes des chambres (Private room ou </a:t>
            </a:r>
            <a:r>
              <a:rPr kumimoji="0" lang="fr-FR" sz="1400" b="0" i="0" u="none" strike="noStrike" kern="0" cap="none" spc="0" normalizeH="0" baseline="0" noProof="0" dirty="0" err="1">
                <a:ln>
                  <a:noFill/>
                </a:ln>
                <a:solidFill>
                  <a:srgbClr val="D6D5D4"/>
                </a:solidFill>
                <a:effectLst/>
                <a:uLnTx/>
                <a:uFillTx/>
                <a:latin typeface="Aptos Display" panose="020B0004020202020204" pitchFamily="34" charset="0"/>
                <a:cs typeface="Arial"/>
                <a:sym typeface="Arial"/>
              </a:rPr>
              <a:t>Shared</a:t>
            </a:r>
            <a:r>
              <a:rPr kumimoji="0" lang="fr-FR" sz="14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 room), pas des appartements entiers. Logique : plus abordables, elles attirent plus de voyageurs et génèrent donc plus d'avis.</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
        <p:nvSpPr>
          <p:cNvPr id="10" name="ZoneTexte 9">
            <a:extLst>
              <a:ext uri="{FF2B5EF4-FFF2-40B4-BE49-F238E27FC236}">
                <a16:creationId xmlns:a16="http://schemas.microsoft.com/office/drawing/2014/main" id="{DD94952A-4DF8-3FCE-0239-E6564A4415EC}"/>
              </a:ext>
            </a:extLst>
          </p:cNvPr>
          <p:cNvSpPr txBox="1"/>
          <p:nvPr/>
        </p:nvSpPr>
        <p:spPr>
          <a:xfrm>
            <a:off x="491509" y="684871"/>
            <a:ext cx="6241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2 ) Quelles sont les 5 annonces de location avec le plus d’évaluations ? Et combien d’évaluations ont-elles ?</a:t>
            </a:r>
          </a:p>
        </p:txBody>
      </p:sp>
      <p:graphicFrame>
        <p:nvGraphicFramePr>
          <p:cNvPr id="2" name="Tableau 1">
            <a:extLst>
              <a:ext uri="{FF2B5EF4-FFF2-40B4-BE49-F238E27FC236}">
                <a16:creationId xmlns:a16="http://schemas.microsoft.com/office/drawing/2014/main" id="{F0E30530-9540-29BD-277D-441FF4B1809E}"/>
              </a:ext>
            </a:extLst>
          </p:cNvPr>
          <p:cNvGraphicFramePr>
            <a:graphicFrameLocks noGrp="1"/>
          </p:cNvGraphicFramePr>
          <p:nvPr>
            <p:extLst>
              <p:ext uri="{D42A27DB-BD31-4B8C-83A1-F6EECF244321}">
                <p14:modId xmlns:p14="http://schemas.microsoft.com/office/powerpoint/2010/main" val="2653515336"/>
              </p:ext>
            </p:extLst>
          </p:nvPr>
        </p:nvGraphicFramePr>
        <p:xfrm>
          <a:off x="509433" y="2007856"/>
          <a:ext cx="8125134" cy="2121964"/>
        </p:xfrm>
        <a:graphic>
          <a:graphicData uri="http://schemas.openxmlformats.org/drawingml/2006/table">
            <a:tbl>
              <a:tblPr/>
              <a:tblGrid>
                <a:gridCol w="664462">
                  <a:extLst>
                    <a:ext uri="{9D8B030D-6E8A-4147-A177-3AD203B41FA5}">
                      <a16:colId xmlns:a16="http://schemas.microsoft.com/office/drawing/2014/main" val="3827636151"/>
                    </a:ext>
                  </a:extLst>
                </a:gridCol>
                <a:gridCol w="6199909">
                  <a:extLst>
                    <a:ext uri="{9D8B030D-6E8A-4147-A177-3AD203B41FA5}">
                      <a16:colId xmlns:a16="http://schemas.microsoft.com/office/drawing/2014/main" val="1559331891"/>
                    </a:ext>
                  </a:extLst>
                </a:gridCol>
                <a:gridCol w="1260763">
                  <a:extLst>
                    <a:ext uri="{9D8B030D-6E8A-4147-A177-3AD203B41FA5}">
                      <a16:colId xmlns:a16="http://schemas.microsoft.com/office/drawing/2014/main" val="4049833697"/>
                    </a:ext>
                  </a:extLst>
                </a:gridCol>
              </a:tblGrid>
              <a:tr h="223882">
                <a:tc>
                  <a:txBody>
                    <a:bodyPr/>
                    <a:lstStyle/>
                    <a:p>
                      <a:pPr algn="l">
                        <a:buNone/>
                      </a:pPr>
                      <a:r>
                        <a:rPr lang="fr-FR" sz="1100" dirty="0">
                          <a:solidFill>
                            <a:schemeClr val="tx1"/>
                          </a:solidFill>
                          <a:effectLst/>
                        </a:rPr>
                        <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dirty="0">
                          <a:solidFill>
                            <a:schemeClr val="tx1"/>
                          </a:solidFill>
                          <a:effectLst/>
                        </a:rPr>
                        <a:t>Nom de l'annonce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dirty="0">
                          <a:solidFill>
                            <a:schemeClr val="tx1"/>
                          </a:solidFill>
                          <a:effectLst/>
                        </a:rPr>
                        <a:t>Nb évaluations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73667815"/>
                  </a:ext>
                </a:extLst>
              </a:tr>
              <a:tr h="341153">
                <a:tc>
                  <a:txBody>
                    <a:bodyPr/>
                    <a:lstStyle/>
                    <a:p>
                      <a:pPr algn="l">
                        <a:buNone/>
                      </a:pPr>
                      <a:r>
                        <a:rPr lang="fr-FR" sz="1100">
                          <a:solidFill>
                            <a:schemeClr val="bg1"/>
                          </a:solidFill>
                          <a:effectLst/>
                        </a:rPr>
                        <a:t>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Sweet &amp; cosy room </a:t>
                      </a:r>
                      <a:r>
                        <a:rPr lang="fr-FR" sz="1100" dirty="0" err="1">
                          <a:solidFill>
                            <a:schemeClr val="bg1"/>
                          </a:solidFill>
                          <a:effectLst/>
                        </a:rPr>
                        <a:t>next</a:t>
                      </a:r>
                      <a:r>
                        <a:rPr lang="fr-FR" sz="1100" dirty="0">
                          <a:solidFill>
                            <a:schemeClr val="bg1"/>
                          </a:solidFill>
                          <a:effectLst/>
                        </a:rPr>
                        <a:t> to Canal Saint Martin 🧡</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3 067</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12264672"/>
                  </a:ext>
                </a:extLst>
              </a:tr>
              <a:tr h="458425">
                <a:tc>
                  <a:txBody>
                    <a:bodyPr/>
                    <a:lstStyle/>
                    <a:p>
                      <a:pPr algn="l">
                        <a:buNone/>
                      </a:pPr>
                      <a:r>
                        <a:rPr lang="fr-FR" sz="1100" dirty="0">
                          <a:solidFill>
                            <a:schemeClr val="bg1"/>
                          </a:solidFill>
                          <a:effectLst/>
                        </a:rPr>
                        <a:t>2</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Double/Twin Room, close to Opera and the Louvre with breakfast included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2 620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06084682"/>
                  </a:ext>
                </a:extLst>
              </a:tr>
              <a:tr h="341153">
                <a:tc>
                  <a:txBody>
                    <a:bodyPr/>
                    <a:lstStyle/>
                    <a:p>
                      <a:pPr algn="l">
                        <a:buNone/>
                      </a:pPr>
                      <a:r>
                        <a:rPr lang="fr-FR" sz="1100">
                          <a:solidFill>
                            <a:schemeClr val="bg1"/>
                          </a:solidFill>
                          <a:effectLst/>
                        </a:rPr>
                        <a:t>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err="1">
                          <a:solidFill>
                            <a:schemeClr val="bg1"/>
                          </a:solidFill>
                          <a:effectLst/>
                        </a:rPr>
                        <a:t>Bed</a:t>
                      </a:r>
                      <a:r>
                        <a:rPr lang="fr-FR" sz="1100" dirty="0">
                          <a:solidFill>
                            <a:schemeClr val="bg1"/>
                          </a:solidFill>
                          <a:effectLst/>
                        </a:rPr>
                        <a:t> in Dorm of 8 </a:t>
                      </a:r>
                      <a:r>
                        <a:rPr lang="fr-FR" sz="1100" dirty="0" err="1">
                          <a:solidFill>
                            <a:schemeClr val="bg1"/>
                          </a:solidFill>
                          <a:effectLst/>
                        </a:rPr>
                        <a:t>Beds</a:t>
                      </a:r>
                      <a:r>
                        <a:rPr lang="fr-FR" sz="1100" dirty="0">
                          <a:solidFill>
                            <a:schemeClr val="bg1"/>
                          </a:solidFill>
                          <a:effectLst/>
                        </a:rPr>
                        <a:t> "The Big One" in Paris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2 294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26207858"/>
                  </a:ext>
                </a:extLst>
              </a:tr>
              <a:tr h="341153">
                <a:tc>
                  <a:txBody>
                    <a:bodyPr/>
                    <a:lstStyle/>
                    <a:p>
                      <a:pPr algn="l">
                        <a:buNone/>
                      </a:pPr>
                      <a:r>
                        <a:rPr lang="fr-FR" sz="1100">
                          <a:solidFill>
                            <a:schemeClr val="bg1"/>
                          </a:solidFill>
                          <a:effectLst/>
                        </a:rPr>
                        <a:t>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Comfortable bed in shared rooms of 8 in Paris 12e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2 105</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71793738"/>
                  </a:ext>
                </a:extLst>
              </a:tr>
              <a:tr h="223882">
                <a:tc>
                  <a:txBody>
                    <a:bodyPr/>
                    <a:lstStyle/>
                    <a:p>
                      <a:pPr algn="l">
                        <a:buNone/>
                      </a:pPr>
                      <a:r>
                        <a:rPr lang="fr-FR" sz="1100">
                          <a:solidFill>
                            <a:schemeClr val="bg1"/>
                          </a:solidFill>
                          <a:effectLst/>
                        </a:rPr>
                        <a:t>5</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Nice Room for 2 people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2 048</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35822638"/>
                  </a:ext>
                </a:extLst>
              </a:tr>
            </a:tbl>
          </a:graphicData>
        </a:graphic>
      </p:graphicFrame>
    </p:spTree>
    <p:extLst>
      <p:ext uri="{BB962C8B-B14F-4D97-AF65-F5344CB8AC3E}">
        <p14:creationId xmlns:p14="http://schemas.microsoft.com/office/powerpoint/2010/main" val="1266371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1B1E74DB-5713-C1B6-FFB2-4237549D904D}"/>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3AC7AD99-A30D-18DB-FE16-BA706CC1933C}"/>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3EA26A3C-A4A6-0533-BFBB-82E5DCDCD73E}"/>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142DF9E3-8FEF-490C-731B-90338AE4244D}"/>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0166A4B5-EFEC-C381-2A18-8348A03C2C4D}"/>
              </a:ext>
            </a:extLst>
          </p:cNvPr>
          <p:cNvSpPr txBox="1"/>
          <p:nvPr/>
        </p:nvSpPr>
        <p:spPr>
          <a:xfrm>
            <a:off x="509433" y="1176859"/>
            <a:ext cx="454429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0" i="0" dirty="0" err="1">
                <a:solidFill>
                  <a:srgbClr val="D6D0C8"/>
                </a:solidFill>
                <a:effectLst/>
                <a:latin typeface="pplxSansMono"/>
              </a:rPr>
              <a:t>db.listings_paris.</a:t>
            </a:r>
            <a:r>
              <a:rPr lang="fr-FR" b="0" i="0" dirty="0" err="1">
                <a:solidFill>
                  <a:srgbClr val="D2A8FF"/>
                </a:solidFill>
                <a:effectLst/>
                <a:latin typeface="pplxSansMono"/>
              </a:rPr>
              <a:t>distinct</a:t>
            </a:r>
            <a:r>
              <a:rPr lang="fr-FR" b="0" i="0" dirty="0">
                <a:solidFill>
                  <a:srgbClr val="D6D0C8"/>
                </a:solidFill>
                <a:effectLst/>
                <a:latin typeface="pplxSansMono"/>
              </a:rPr>
              <a:t>(</a:t>
            </a:r>
            <a:r>
              <a:rPr lang="fr-FR" b="0" i="0" dirty="0">
                <a:solidFill>
                  <a:srgbClr val="A5D6FF"/>
                </a:solidFill>
                <a:effectLst/>
                <a:latin typeface="pplxSansMono"/>
              </a:rPr>
              <a:t>"</a:t>
            </a:r>
            <a:r>
              <a:rPr lang="fr-FR" b="0" i="0" dirty="0" err="1">
                <a:solidFill>
                  <a:srgbClr val="A5D6FF"/>
                </a:solidFill>
                <a:effectLst/>
                <a:latin typeface="pplxSansMono"/>
              </a:rPr>
              <a:t>host_id</a:t>
            </a:r>
            <a:r>
              <a:rPr lang="fr-FR" b="0" i="0" dirty="0">
                <a:solidFill>
                  <a:srgbClr val="A5D6FF"/>
                </a:solidFill>
                <a:effectLst/>
                <a:latin typeface="pplxSansMono"/>
              </a:rPr>
              <a:t>"</a:t>
            </a:r>
            <a:r>
              <a:rPr lang="fr-FR" b="0" i="0" dirty="0">
                <a:solidFill>
                  <a:srgbClr val="D6D0C8"/>
                </a:solidFill>
                <a:effectLst/>
                <a:latin typeface="pplxSansMono"/>
              </a:rPr>
              <a:t>).</a:t>
            </a:r>
            <a:r>
              <a:rPr lang="fr-FR" b="0" i="0" dirty="0" err="1">
                <a:solidFill>
                  <a:srgbClr val="D6D0C8"/>
                </a:solidFill>
                <a:effectLst/>
                <a:latin typeface="pplxSansMono"/>
              </a:rPr>
              <a:t>length</a:t>
            </a:r>
            <a:endParaRPr kumimoji="0" lang="fr-FR"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ZoneTexte 7">
            <a:extLst>
              <a:ext uri="{FF2B5EF4-FFF2-40B4-BE49-F238E27FC236}">
                <a16:creationId xmlns:a16="http://schemas.microsoft.com/office/drawing/2014/main" id="{E93C4216-7246-0D89-E131-B9EB2EF65ABE}"/>
              </a:ext>
            </a:extLst>
          </p:cNvPr>
          <p:cNvSpPr txBox="1"/>
          <p:nvPr/>
        </p:nvSpPr>
        <p:spPr>
          <a:xfrm>
            <a:off x="491509" y="3935409"/>
            <a:ext cx="800446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Avec 71 979 hôtes pour 95 885 annonces, le ratio est de 1,33 annonce par hôte en moyenne. Cela signifie que la majorité des hôtes ne possèdent qu'un seul logement</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
        <p:nvSpPr>
          <p:cNvPr id="10" name="ZoneTexte 9">
            <a:extLst>
              <a:ext uri="{FF2B5EF4-FFF2-40B4-BE49-F238E27FC236}">
                <a16:creationId xmlns:a16="http://schemas.microsoft.com/office/drawing/2014/main" id="{0B48136F-6D92-F4FB-BDF0-6CFD3F5EEC35}"/>
              </a:ext>
            </a:extLst>
          </p:cNvPr>
          <p:cNvSpPr txBox="1"/>
          <p:nvPr/>
        </p:nvSpPr>
        <p:spPr>
          <a:xfrm>
            <a:off x="491509" y="684871"/>
            <a:ext cx="614481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3) Quel est le nombre total d’hôtes différents ?</a:t>
            </a:r>
          </a:p>
        </p:txBody>
      </p:sp>
      <p:graphicFrame>
        <p:nvGraphicFramePr>
          <p:cNvPr id="3" name="Tableau 2">
            <a:extLst>
              <a:ext uri="{FF2B5EF4-FFF2-40B4-BE49-F238E27FC236}">
                <a16:creationId xmlns:a16="http://schemas.microsoft.com/office/drawing/2014/main" id="{E6F0ED2C-5884-2321-BAE8-B173CFB41A56}"/>
              </a:ext>
            </a:extLst>
          </p:cNvPr>
          <p:cNvGraphicFramePr>
            <a:graphicFrameLocks noGrp="1"/>
          </p:cNvGraphicFramePr>
          <p:nvPr>
            <p:extLst>
              <p:ext uri="{D42A27DB-BD31-4B8C-83A1-F6EECF244321}">
                <p14:modId xmlns:p14="http://schemas.microsoft.com/office/powerpoint/2010/main" val="609824439"/>
              </p:ext>
            </p:extLst>
          </p:nvPr>
        </p:nvGraphicFramePr>
        <p:xfrm>
          <a:off x="540000" y="1885950"/>
          <a:ext cx="7537450" cy="1371600"/>
        </p:xfrm>
        <a:graphic>
          <a:graphicData uri="http://schemas.openxmlformats.org/drawingml/2006/table">
            <a:tbl>
              <a:tblPr/>
              <a:tblGrid>
                <a:gridCol w="3768725">
                  <a:extLst>
                    <a:ext uri="{9D8B030D-6E8A-4147-A177-3AD203B41FA5}">
                      <a16:colId xmlns:a16="http://schemas.microsoft.com/office/drawing/2014/main" val="239938823"/>
                    </a:ext>
                  </a:extLst>
                </a:gridCol>
                <a:gridCol w="3768725">
                  <a:extLst>
                    <a:ext uri="{9D8B030D-6E8A-4147-A177-3AD203B41FA5}">
                      <a16:colId xmlns:a16="http://schemas.microsoft.com/office/drawing/2014/main" val="2119809962"/>
                    </a:ext>
                  </a:extLst>
                </a:gridCol>
              </a:tblGrid>
              <a:tr h="329477">
                <a:tc>
                  <a:txBody>
                    <a:bodyPr/>
                    <a:lstStyle/>
                    <a:p>
                      <a:pPr algn="l">
                        <a:buNone/>
                      </a:pPr>
                      <a:r>
                        <a:rPr lang="fr-FR" dirty="0">
                          <a:effectLst/>
                        </a:rPr>
                        <a:t>Métrique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a:effectLst/>
                        </a:rPr>
                        <a:t>Résultat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38129801"/>
                  </a:ext>
                </a:extLst>
              </a:tr>
              <a:tr h="302020">
                <a:tc>
                  <a:txBody>
                    <a:bodyPr/>
                    <a:lstStyle/>
                    <a:p>
                      <a:pPr algn="l">
                        <a:buNone/>
                      </a:pPr>
                      <a:r>
                        <a:rPr lang="fr-FR" sz="1200" dirty="0">
                          <a:solidFill>
                            <a:schemeClr val="bg1"/>
                          </a:solidFill>
                          <a:effectLst/>
                        </a:rPr>
                        <a:t>Hôtes uniques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b="1">
                          <a:solidFill>
                            <a:schemeClr val="bg1"/>
                          </a:solidFill>
                          <a:effectLst/>
                        </a:rPr>
                        <a:t>71 979</a:t>
                      </a:r>
                      <a:endParaRPr lang="fr-FR" sz="12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512432852"/>
                  </a:ext>
                </a:extLst>
              </a:tr>
              <a:tr h="302020">
                <a:tc>
                  <a:txBody>
                    <a:bodyPr/>
                    <a:lstStyle/>
                    <a:p>
                      <a:pPr algn="l">
                        <a:buNone/>
                      </a:pPr>
                      <a:r>
                        <a:rPr lang="fr-FR" sz="1200" dirty="0">
                          <a:solidFill>
                            <a:schemeClr val="bg1"/>
                          </a:solidFill>
                          <a:effectLst/>
                        </a:rPr>
                        <a:t>Total annonces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a:solidFill>
                            <a:schemeClr val="bg1"/>
                          </a:solidFill>
                          <a:effectLst/>
                        </a:rPr>
                        <a:t>95 885</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20979070"/>
                  </a:ext>
                </a:extLst>
              </a:tr>
              <a:tr h="302020">
                <a:tc>
                  <a:txBody>
                    <a:bodyPr/>
                    <a:lstStyle/>
                    <a:p>
                      <a:pPr algn="l">
                        <a:buNone/>
                      </a:pPr>
                      <a:r>
                        <a:rPr lang="fr-FR" sz="1200">
                          <a:solidFill>
                            <a:schemeClr val="bg1"/>
                          </a:solidFill>
                          <a:effectLst/>
                        </a:rPr>
                        <a:t>Ratio</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~1,33 annonce/hôte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11538400"/>
                  </a:ext>
                </a:extLst>
              </a:tr>
            </a:tbl>
          </a:graphicData>
        </a:graphic>
      </p:graphicFrame>
    </p:spTree>
    <p:extLst>
      <p:ext uri="{BB962C8B-B14F-4D97-AF65-F5344CB8AC3E}">
        <p14:creationId xmlns:p14="http://schemas.microsoft.com/office/powerpoint/2010/main" val="2593640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663747CF-3D5F-39A7-3F76-43F2FDB1B4D3}"/>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6A51C8F5-F61E-0B06-8EC7-9B86491A6E55}"/>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776552F2-476B-A4D2-E582-5B0ED5AE4A3B}"/>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B45D3BAC-1204-80C6-49AC-DA7381E0004D}"/>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96CD5C70-7F6A-D6F5-166E-70914904F17C}"/>
              </a:ext>
            </a:extLst>
          </p:cNvPr>
          <p:cNvSpPr txBox="1"/>
          <p:nvPr/>
        </p:nvSpPr>
        <p:spPr>
          <a:xfrm>
            <a:off x="540000" y="1360492"/>
            <a:ext cx="486327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1" dirty="0">
                <a:solidFill>
                  <a:srgbClr val="A7A39A"/>
                </a:solidFill>
                <a:effectLst/>
                <a:latin typeface="inherit"/>
              </a:rPr>
              <a:t>// Étape 1</a:t>
            </a:r>
            <a:r>
              <a:rPr lang="fr-FR" sz="1200" b="0" i="0" dirty="0">
                <a:solidFill>
                  <a:srgbClr val="D6D0C8"/>
                </a:solidFill>
                <a:effectLst/>
                <a:latin typeface="pplxSansMono"/>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err="1">
                <a:solidFill>
                  <a:srgbClr val="D6D0C8"/>
                </a:solidFill>
                <a:effectLst/>
                <a:latin typeface="pplxSansMono"/>
              </a:rPr>
              <a:t>db.listings_paris.</a:t>
            </a:r>
            <a:r>
              <a:rPr lang="fr-FR" sz="1200" b="0" i="0" dirty="0" err="1">
                <a:solidFill>
                  <a:srgbClr val="D2A8FF"/>
                </a:solidFill>
                <a:effectLst/>
                <a:latin typeface="pplxSansMono"/>
              </a:rPr>
              <a:t>countDocuments</a:t>
            </a:r>
            <a:r>
              <a:rPr lang="fr-FR" sz="1200" b="0" i="0" dirty="0">
                <a:solidFill>
                  <a:srgbClr val="D6D0C8"/>
                </a:solidFill>
                <a:effectLst/>
                <a:latin typeface="pplxSansMono"/>
              </a:rPr>
              <a:t>({ </a:t>
            </a:r>
            <a:r>
              <a:rPr lang="fr-FR" sz="1200" b="0" i="0" dirty="0" err="1">
                <a:solidFill>
                  <a:srgbClr val="D6D0C8"/>
                </a:solidFill>
                <a:effectLst/>
                <a:latin typeface="pplxSansMono"/>
              </a:rPr>
              <a:t>instant_bookable</a:t>
            </a:r>
            <a:r>
              <a:rPr lang="fr-FR" sz="1200" b="0" i="0" dirty="0">
                <a:solidFill>
                  <a:srgbClr val="D6D0C8"/>
                </a:solidFill>
                <a:effectLst/>
                <a:latin typeface="pplxSansMono"/>
              </a:rPr>
              <a:t>: </a:t>
            </a:r>
            <a:r>
              <a:rPr lang="fr-FR" sz="1200" b="0" i="0" dirty="0" err="1">
                <a:solidFill>
                  <a:srgbClr val="D6D0C8"/>
                </a:solidFill>
                <a:effectLst/>
                <a:latin typeface="pplxSansMono"/>
              </a:rPr>
              <a:t>true</a:t>
            </a:r>
            <a:r>
              <a:rPr lang="fr-FR" sz="1200" b="0" i="0" dirty="0">
                <a:solidFill>
                  <a:srgbClr val="D6D0C8"/>
                </a:solidFill>
                <a:effectLst/>
                <a:latin typeface="pplxSansMono"/>
              </a:rPr>
              <a:t>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1" dirty="0">
                <a:solidFill>
                  <a:srgbClr val="A7A39A"/>
                </a:solidFill>
                <a:effectLst/>
                <a:latin typeface="inherit"/>
              </a:rPr>
              <a:t>// Étape 2 (résultat étape 1 = 22094</a:t>
            </a:r>
            <a:r>
              <a:rPr lang="fr-FR" sz="1200" dirty="0">
                <a:solidFill>
                  <a:srgbClr val="D6D0C8"/>
                </a:solidFill>
                <a:latin typeface="pplxSansMono"/>
              </a:rPr>
              <a:t>)</a:t>
            </a:r>
            <a:endParaRPr lang="fr-FR" sz="1200" b="0" i="0" dirty="0">
              <a:solidFill>
                <a:srgbClr val="D6D0C8"/>
              </a:solidFill>
              <a:effectLst/>
              <a:latin typeface="pplxSansMono"/>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a:t>
            </a:r>
            <a:r>
              <a:rPr lang="fr-FR" sz="1200" b="0" i="0" dirty="0">
                <a:solidFill>
                  <a:srgbClr val="FFA657"/>
                </a:solidFill>
                <a:effectLst/>
                <a:latin typeface="pplxSansMono"/>
              </a:rPr>
              <a:t>22094</a:t>
            </a:r>
            <a:r>
              <a:rPr lang="fr-FR" sz="1200" b="0" i="0" dirty="0">
                <a:solidFill>
                  <a:srgbClr val="D6D0C8"/>
                </a:solidFill>
                <a:effectLst/>
                <a:latin typeface="pplxSansMono"/>
              </a:rPr>
              <a:t> / </a:t>
            </a:r>
            <a:r>
              <a:rPr lang="fr-FR" sz="1200" b="0" i="0" dirty="0">
                <a:solidFill>
                  <a:srgbClr val="FFA657"/>
                </a:solidFill>
                <a:effectLst/>
                <a:latin typeface="pplxSansMono"/>
              </a:rPr>
              <a:t>95885</a:t>
            </a:r>
            <a:r>
              <a:rPr lang="fr-FR" sz="1200" b="0" i="0" dirty="0">
                <a:solidFill>
                  <a:srgbClr val="D6D0C8"/>
                </a:solidFill>
                <a:effectLst/>
                <a:latin typeface="pplxSansMono"/>
              </a:rPr>
              <a:t> * </a:t>
            </a:r>
            <a:r>
              <a:rPr lang="fr-FR" sz="1200" b="0" i="0" dirty="0">
                <a:solidFill>
                  <a:srgbClr val="FFA657"/>
                </a:solidFill>
                <a:effectLst/>
                <a:latin typeface="pplxSansMono"/>
              </a:rPr>
              <a:t>100</a:t>
            </a:r>
            <a:r>
              <a:rPr lang="fr-FR" sz="1200" b="0" i="0" dirty="0">
                <a:solidFill>
                  <a:srgbClr val="D6D0C8"/>
                </a:solidFill>
                <a:effectLst/>
                <a:latin typeface="pplxSansMono"/>
              </a:rPr>
              <a:t>).</a:t>
            </a:r>
            <a:r>
              <a:rPr lang="fr-FR" sz="1200" b="0" i="0" dirty="0" err="1">
                <a:solidFill>
                  <a:srgbClr val="D2A8FF"/>
                </a:solidFill>
                <a:effectLst/>
                <a:latin typeface="pplxSansMono"/>
              </a:rPr>
              <a:t>toFixed</a:t>
            </a:r>
            <a:r>
              <a:rPr lang="fr-FR" sz="1200" b="0" i="0" dirty="0">
                <a:solidFill>
                  <a:srgbClr val="D6D0C8"/>
                </a:solidFill>
                <a:effectLst/>
                <a:latin typeface="pplxSansMono"/>
              </a:rPr>
              <a:t>(</a:t>
            </a:r>
            <a:r>
              <a:rPr lang="fr-FR" sz="1200" b="0" i="0" dirty="0">
                <a:solidFill>
                  <a:srgbClr val="FFA657"/>
                </a:solidFill>
                <a:effectLst/>
                <a:latin typeface="pplxSansMono"/>
              </a:rPr>
              <a:t>2</a:t>
            </a:r>
            <a:r>
              <a:rPr lang="fr-FR" sz="1200" b="0" i="0" dirty="0">
                <a:solidFill>
                  <a:srgbClr val="D6D0C8"/>
                </a:solidFill>
                <a:effectLst/>
                <a:latin typeface="pplxSansMono"/>
              </a:rPr>
              <a:t>) + </a:t>
            </a:r>
            <a:r>
              <a:rPr lang="fr-FR" sz="1200" b="0" i="0" dirty="0">
                <a:solidFill>
                  <a:srgbClr val="A5D6FF"/>
                </a:solidFill>
                <a:effectLst/>
                <a:latin typeface="pplxSansMono"/>
              </a:rPr>
              <a:t>" %"</a:t>
            </a:r>
            <a:endParaRPr kumimoji="0" lang="fr-FR"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ZoneTexte 7">
            <a:extLst>
              <a:ext uri="{FF2B5EF4-FFF2-40B4-BE49-F238E27FC236}">
                <a16:creationId xmlns:a16="http://schemas.microsoft.com/office/drawing/2014/main" id="{5D8E3380-508C-02D8-9779-2286091B1323}"/>
              </a:ext>
            </a:extLst>
          </p:cNvPr>
          <p:cNvSpPr txBox="1"/>
          <p:nvPr/>
        </p:nvSpPr>
        <p:spPr>
          <a:xfrm>
            <a:off x="455537" y="4374620"/>
            <a:ext cx="800446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Seulement 23,04% des annonces sont réservables instantanément. La majorité des hôtes parisiens préfèrent valider manuellement chaque réservation — signe d'une gestion plus personnelle et prudente du logement.</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
        <p:nvSpPr>
          <p:cNvPr id="10" name="ZoneTexte 9">
            <a:extLst>
              <a:ext uri="{FF2B5EF4-FFF2-40B4-BE49-F238E27FC236}">
                <a16:creationId xmlns:a16="http://schemas.microsoft.com/office/drawing/2014/main" id="{8418B2E1-B946-5299-B56B-4DBBD842299B}"/>
              </a:ext>
            </a:extLst>
          </p:cNvPr>
          <p:cNvSpPr txBox="1"/>
          <p:nvPr/>
        </p:nvSpPr>
        <p:spPr>
          <a:xfrm>
            <a:off x="491509" y="684871"/>
            <a:ext cx="564605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1" i="1" dirty="0">
                <a:solidFill>
                  <a:srgbClr val="FF0000"/>
                </a:solidFill>
                <a:latin typeface="Inter" panose="020B0604020202020204" charset="0"/>
              </a:rPr>
              <a:t>4</a:t>
            </a: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 Quel est le nombre de locations réservables instantanément ? Cela représente quelle proportion des annonces ? </a:t>
            </a:r>
          </a:p>
        </p:txBody>
      </p:sp>
      <p:graphicFrame>
        <p:nvGraphicFramePr>
          <p:cNvPr id="2" name="Tableau 1">
            <a:extLst>
              <a:ext uri="{FF2B5EF4-FFF2-40B4-BE49-F238E27FC236}">
                <a16:creationId xmlns:a16="http://schemas.microsoft.com/office/drawing/2014/main" id="{7688F8B8-450E-3020-53DA-9F4AF9ECFC99}"/>
              </a:ext>
            </a:extLst>
          </p:cNvPr>
          <p:cNvGraphicFramePr>
            <a:graphicFrameLocks noGrp="1"/>
          </p:cNvGraphicFramePr>
          <p:nvPr>
            <p:extLst>
              <p:ext uri="{D42A27DB-BD31-4B8C-83A1-F6EECF244321}">
                <p14:modId xmlns:p14="http://schemas.microsoft.com/office/powerpoint/2010/main" val="2766333792"/>
              </p:ext>
            </p:extLst>
          </p:nvPr>
        </p:nvGraphicFramePr>
        <p:xfrm>
          <a:off x="778577" y="2413163"/>
          <a:ext cx="5068041" cy="1280160"/>
        </p:xfrm>
        <a:graphic>
          <a:graphicData uri="http://schemas.openxmlformats.org/drawingml/2006/table">
            <a:tbl>
              <a:tblPr/>
              <a:tblGrid>
                <a:gridCol w="2581150">
                  <a:extLst>
                    <a:ext uri="{9D8B030D-6E8A-4147-A177-3AD203B41FA5}">
                      <a16:colId xmlns:a16="http://schemas.microsoft.com/office/drawing/2014/main" val="951631397"/>
                    </a:ext>
                  </a:extLst>
                </a:gridCol>
                <a:gridCol w="2486891">
                  <a:extLst>
                    <a:ext uri="{9D8B030D-6E8A-4147-A177-3AD203B41FA5}">
                      <a16:colId xmlns:a16="http://schemas.microsoft.com/office/drawing/2014/main" val="169123341"/>
                    </a:ext>
                  </a:extLst>
                </a:gridCol>
              </a:tblGrid>
              <a:tr h="0">
                <a:tc>
                  <a:txBody>
                    <a:bodyPr/>
                    <a:lstStyle/>
                    <a:p>
                      <a:pPr algn="l">
                        <a:buNone/>
                      </a:pPr>
                      <a:r>
                        <a:rPr lang="fr-FR" sz="1100" dirty="0">
                          <a:effectLst/>
                        </a:rPr>
                        <a:t>Métrique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dirty="0">
                          <a:effectLst/>
                        </a:rPr>
                        <a:t>Résultat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352666943"/>
                  </a:ext>
                </a:extLst>
              </a:tr>
              <a:tr h="0">
                <a:tc>
                  <a:txBody>
                    <a:bodyPr/>
                    <a:lstStyle/>
                    <a:p>
                      <a:pPr algn="l">
                        <a:buNone/>
                      </a:pPr>
                      <a:r>
                        <a:rPr lang="fr-FR" sz="1100" dirty="0">
                          <a:solidFill>
                            <a:schemeClr val="bg1"/>
                          </a:solidFill>
                          <a:effectLst/>
                        </a:rPr>
                        <a:t>Locations instant </a:t>
                      </a:r>
                      <a:r>
                        <a:rPr lang="fr-FR" sz="1100" dirty="0" err="1">
                          <a:solidFill>
                            <a:schemeClr val="bg1"/>
                          </a:solidFill>
                          <a:effectLst/>
                        </a:rPr>
                        <a:t>bookable</a:t>
                      </a:r>
                      <a:endParaRPr lang="fr-FR" sz="11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dirty="0">
                          <a:solidFill>
                            <a:schemeClr val="bg1"/>
                          </a:solidFill>
                          <a:effectLst/>
                        </a:rPr>
                        <a:t>22 094</a:t>
                      </a:r>
                      <a:endParaRPr lang="fr-FR" sz="11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49477073"/>
                  </a:ext>
                </a:extLst>
              </a:tr>
              <a:tr h="0">
                <a:tc>
                  <a:txBody>
                    <a:bodyPr/>
                    <a:lstStyle/>
                    <a:p>
                      <a:pPr algn="l">
                        <a:buNone/>
                      </a:pPr>
                      <a:r>
                        <a:rPr lang="fr-FR" sz="1100" dirty="0">
                          <a:solidFill>
                            <a:schemeClr val="bg1"/>
                          </a:solidFill>
                          <a:effectLst/>
                        </a:rPr>
                        <a:t>Total annonces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95 885</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53625214"/>
                  </a:ext>
                </a:extLst>
              </a:tr>
              <a:tr h="0">
                <a:tc>
                  <a:txBody>
                    <a:bodyPr/>
                    <a:lstStyle/>
                    <a:p>
                      <a:pPr algn="l">
                        <a:buNone/>
                      </a:pPr>
                      <a:r>
                        <a:rPr lang="fr-FR" sz="1100" dirty="0">
                          <a:solidFill>
                            <a:schemeClr val="bg1"/>
                          </a:solidFill>
                          <a:effectLst/>
                        </a:rPr>
                        <a:t>Proportion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dirty="0">
                          <a:solidFill>
                            <a:schemeClr val="bg1"/>
                          </a:solidFill>
                          <a:effectLst/>
                        </a:rPr>
                        <a:t>23,04%</a:t>
                      </a:r>
                      <a:endParaRPr lang="fr-FR" sz="11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02325565"/>
                  </a:ext>
                </a:extLst>
              </a:tr>
            </a:tbl>
          </a:graphicData>
        </a:graphic>
      </p:graphicFrame>
    </p:spTree>
    <p:extLst>
      <p:ext uri="{BB962C8B-B14F-4D97-AF65-F5344CB8AC3E}">
        <p14:creationId xmlns:p14="http://schemas.microsoft.com/office/powerpoint/2010/main" val="572125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7A7DFA6C-3CB7-6C03-F4FA-1D54BE99903B}"/>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B90AF1D5-8D22-13F8-E570-8D929068340C}"/>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6C50E810-48C9-1E6C-252E-6D03744F5FF0}"/>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7AC54876-ED9A-EE65-497D-DBCDD5648AC7}"/>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DEADB7BC-268C-6855-35C0-AEC629B64EEB}"/>
              </a:ext>
            </a:extLst>
          </p:cNvPr>
          <p:cNvSpPr txBox="1"/>
          <p:nvPr/>
        </p:nvSpPr>
        <p:spPr>
          <a:xfrm>
            <a:off x="357136" y="1529769"/>
            <a:ext cx="302061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db.listings_paris.aggregate([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$group: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_id: "$</a:t>
            </a:r>
            <a:r>
              <a:rPr lang="fr-FR" sz="1200" b="0" i="0" dirty="0" err="1">
                <a:solidFill>
                  <a:srgbClr val="D6D0C8"/>
                </a:solidFill>
                <a:effectLst/>
                <a:latin typeface="pplxSansMono"/>
              </a:rPr>
              <a:t>host_id</a:t>
            </a:r>
            <a:r>
              <a:rPr lang="fr-FR" sz="1200" b="0" i="0" dirty="0">
                <a:solidFill>
                  <a:srgbClr val="D6D0C8"/>
                </a:solidFill>
                <a:effectLst/>
                <a:latin typeface="pplxSansMono"/>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a:t>
            </a:r>
            <a:r>
              <a:rPr lang="fr-FR" sz="1200" b="0" i="0" dirty="0" err="1">
                <a:solidFill>
                  <a:srgbClr val="D6D0C8"/>
                </a:solidFill>
                <a:effectLst/>
                <a:latin typeface="pplxSansMono"/>
              </a:rPr>
              <a:t>host_name</a:t>
            </a:r>
            <a:r>
              <a:rPr lang="fr-FR" sz="1200" b="0" i="0" dirty="0">
                <a:solidFill>
                  <a:srgbClr val="D6D0C8"/>
                </a:solidFill>
                <a:effectLst/>
                <a:latin typeface="pplxSansMono"/>
              </a:rPr>
              <a:t>: { $first: "$</a:t>
            </a:r>
            <a:r>
              <a:rPr lang="fr-FR" sz="1200" b="0" i="0" dirty="0" err="1">
                <a:solidFill>
                  <a:srgbClr val="D6D0C8"/>
                </a:solidFill>
                <a:effectLst/>
                <a:latin typeface="pplxSansMono"/>
              </a:rPr>
              <a:t>host_name</a:t>
            </a:r>
            <a:r>
              <a:rPr lang="fr-FR" sz="1200" b="0" i="0" dirty="0">
                <a:solidFill>
                  <a:srgbClr val="D6D0C8"/>
                </a:solidFill>
                <a:effectLst/>
                <a:latin typeface="pplxSansMono"/>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a:t>
            </a:r>
            <a:r>
              <a:rPr lang="fr-FR" sz="1200" b="0" i="0" dirty="0" err="1">
                <a:solidFill>
                  <a:srgbClr val="D6D0C8"/>
                </a:solidFill>
                <a:effectLst/>
                <a:latin typeface="pplxSansMono"/>
              </a:rPr>
              <a:t>nb_annonces</a:t>
            </a:r>
            <a:r>
              <a:rPr lang="fr-FR" sz="1200" b="0" i="0" dirty="0">
                <a:solidFill>
                  <a:srgbClr val="D6D0C8"/>
                </a:solidFill>
                <a:effectLst/>
                <a:latin typeface="pplxSansMono"/>
              </a:rPr>
              <a:t>: { $sum: 1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$match: { </a:t>
            </a:r>
            <a:r>
              <a:rPr lang="fr-FR" sz="1200" b="0" i="0" dirty="0" err="1">
                <a:solidFill>
                  <a:srgbClr val="D6D0C8"/>
                </a:solidFill>
                <a:effectLst/>
                <a:latin typeface="pplxSansMono"/>
              </a:rPr>
              <a:t>nb_annonces</a:t>
            </a:r>
            <a:r>
              <a:rPr lang="fr-FR" sz="1200" b="0" i="0" dirty="0">
                <a:solidFill>
                  <a:srgbClr val="D6D0C8"/>
                </a:solidFill>
                <a:effectLst/>
                <a:latin typeface="pplxSansMono"/>
              </a:rPr>
              <a:t>: { $gt: 100 }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$sort: { </a:t>
            </a:r>
            <a:r>
              <a:rPr lang="fr-FR" sz="1200" b="0" i="0" dirty="0" err="1">
                <a:solidFill>
                  <a:srgbClr val="D6D0C8"/>
                </a:solidFill>
                <a:effectLst/>
                <a:latin typeface="pplxSansMono"/>
              </a:rPr>
              <a:t>nb_annonces</a:t>
            </a:r>
            <a:r>
              <a:rPr lang="fr-FR" sz="1200" b="0" i="0" dirty="0">
                <a:solidFill>
                  <a:srgbClr val="D6D0C8"/>
                </a:solidFill>
                <a:effectLst/>
                <a:latin typeface="pplxSansMono"/>
              </a:rPr>
              <a:t>: -1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a:t>
            </a:r>
          </a:p>
        </p:txBody>
      </p:sp>
      <p:sp>
        <p:nvSpPr>
          <p:cNvPr id="8" name="ZoneTexte 7">
            <a:extLst>
              <a:ext uri="{FF2B5EF4-FFF2-40B4-BE49-F238E27FC236}">
                <a16:creationId xmlns:a16="http://schemas.microsoft.com/office/drawing/2014/main" id="{FFCF4132-1EA3-DA76-63B2-7022B3B7D373}"/>
              </a:ext>
            </a:extLst>
          </p:cNvPr>
          <p:cNvSpPr txBox="1"/>
          <p:nvPr/>
        </p:nvSpPr>
        <p:spPr>
          <a:xfrm>
            <a:off x="1158325" y="4822837"/>
            <a:ext cx="809271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Seulement 23,04% des annonces sont réservables instantanément. La majorité des hôtes parisiens préfèrent valider manuellement chaque réservation, c’est signe d'une gestion plus personnelle et prudente du logement.</a:t>
            </a:r>
            <a:endParaRPr kumimoji="0" lang="fr-FR" sz="10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
        <p:nvSpPr>
          <p:cNvPr id="10" name="ZoneTexte 9">
            <a:extLst>
              <a:ext uri="{FF2B5EF4-FFF2-40B4-BE49-F238E27FC236}">
                <a16:creationId xmlns:a16="http://schemas.microsoft.com/office/drawing/2014/main" id="{197FEEE7-D57C-5E9A-9ECD-03A552B5AEE2}"/>
              </a:ext>
            </a:extLst>
          </p:cNvPr>
          <p:cNvSpPr txBox="1"/>
          <p:nvPr/>
        </p:nvSpPr>
        <p:spPr>
          <a:xfrm>
            <a:off x="491509" y="561982"/>
            <a:ext cx="630414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5 ) Est-ce que des hôtes ont plus de 100 annonces sur les plateformes ? Et si oui qui sont-ils ? Cela représente quel pourcentage des hôtes ?</a:t>
            </a:r>
          </a:p>
        </p:txBody>
      </p:sp>
      <p:sp>
        <p:nvSpPr>
          <p:cNvPr id="3" name="ZoneTexte 2">
            <a:extLst>
              <a:ext uri="{FF2B5EF4-FFF2-40B4-BE49-F238E27FC236}">
                <a16:creationId xmlns:a16="http://schemas.microsoft.com/office/drawing/2014/main" id="{EE8D85B8-C260-1D50-9D59-91AF5082F0E5}"/>
              </a:ext>
            </a:extLst>
          </p:cNvPr>
          <p:cNvSpPr txBox="1"/>
          <p:nvPr/>
        </p:nvSpPr>
        <p:spPr>
          <a:xfrm>
            <a:off x="3281481" y="1493470"/>
            <a:ext cx="302061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db.listings_paris.aggregate([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$group: { _id: "$</a:t>
            </a:r>
            <a:r>
              <a:rPr lang="fr-FR" sz="1200" b="0" i="0" dirty="0" err="1">
                <a:solidFill>
                  <a:srgbClr val="D6D0C8"/>
                </a:solidFill>
                <a:effectLst/>
                <a:latin typeface="pplxSansMono"/>
              </a:rPr>
              <a:t>host_id</a:t>
            </a:r>
            <a:r>
              <a:rPr lang="fr-FR" sz="1200" b="0" i="0" dirty="0">
                <a:solidFill>
                  <a:srgbClr val="D6D0C8"/>
                </a:solidFill>
                <a:effectLst/>
                <a:latin typeface="pplxSansMono"/>
              </a:rPr>
              <a:t>", </a:t>
            </a:r>
            <a:r>
              <a:rPr lang="fr-FR" sz="1200" b="0" i="0" dirty="0" err="1">
                <a:solidFill>
                  <a:srgbClr val="D6D0C8"/>
                </a:solidFill>
                <a:effectLst/>
                <a:latin typeface="pplxSansMono"/>
              </a:rPr>
              <a:t>nb_annonces</a:t>
            </a:r>
            <a:r>
              <a:rPr lang="fr-FR" sz="1200" b="0" i="0" dirty="0">
                <a:solidFill>
                  <a:srgbClr val="D6D0C8"/>
                </a:solidFill>
                <a:effectLst/>
                <a:latin typeface="pplxSansMono"/>
              </a:rPr>
              <a:t>: { $sum: 1 }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$match: { </a:t>
            </a:r>
            <a:r>
              <a:rPr lang="fr-FR" sz="1200" b="0" i="0" dirty="0" err="1">
                <a:solidFill>
                  <a:srgbClr val="D6D0C8"/>
                </a:solidFill>
                <a:effectLst/>
                <a:latin typeface="pplxSansMono"/>
              </a:rPr>
              <a:t>nb_annonces</a:t>
            </a:r>
            <a:r>
              <a:rPr lang="fr-FR" sz="1200" b="0" i="0" dirty="0">
                <a:solidFill>
                  <a:srgbClr val="D6D0C8"/>
                </a:solidFill>
                <a:effectLst/>
                <a:latin typeface="pplxSansMono"/>
              </a:rPr>
              <a:t>: { $gt: 100 } }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 $count: "nb_hotes_plus_100"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a:t>
            </a:r>
          </a:p>
        </p:txBody>
      </p:sp>
      <p:sp>
        <p:nvSpPr>
          <p:cNvPr id="12" name="ZoneTexte 11">
            <a:extLst>
              <a:ext uri="{FF2B5EF4-FFF2-40B4-BE49-F238E27FC236}">
                <a16:creationId xmlns:a16="http://schemas.microsoft.com/office/drawing/2014/main" id="{B3DD003D-9921-E29A-99B5-853D5C5124F7}"/>
              </a:ext>
            </a:extLst>
          </p:cNvPr>
          <p:cNvSpPr txBox="1"/>
          <p:nvPr/>
        </p:nvSpPr>
        <p:spPr>
          <a:xfrm>
            <a:off x="298963" y="1098882"/>
            <a:ext cx="3078791" cy="430887"/>
          </a:xfrm>
          <a:prstGeom prst="rect">
            <a:avLst/>
          </a:prstGeom>
          <a:noFill/>
        </p:spPr>
        <p:txBody>
          <a:bodyPr wrap="square">
            <a:spAutoFit/>
          </a:bodyPr>
          <a:lstStyle/>
          <a:p>
            <a:pPr rtl="0">
              <a:buNone/>
            </a:pPr>
            <a:r>
              <a:rPr lang="fr-FR" sz="1100" b="1" i="0" u="none" strike="noStrike" dirty="0">
                <a:solidFill>
                  <a:schemeClr val="bg1"/>
                </a:solidFill>
                <a:effectLst/>
                <a:latin typeface="Georgia" panose="02040502050405020303" pitchFamily="18" charset="0"/>
              </a:rPr>
              <a:t>Étape 1 : Trouver les hôtes avec plus de 100 annonces :</a:t>
            </a:r>
            <a:r>
              <a:rPr lang="fr-FR" sz="1050" b="0" i="0" u="none" strike="noStrike" dirty="0">
                <a:solidFill>
                  <a:schemeClr val="bg1"/>
                </a:solidFill>
                <a:effectLst/>
                <a:latin typeface="Arial" panose="020B0604020202020204" pitchFamily="34" charset="0"/>
              </a:rPr>
              <a:t> </a:t>
            </a:r>
            <a:endParaRPr lang="fr-FR" sz="1100" b="0" dirty="0">
              <a:solidFill>
                <a:schemeClr val="bg1"/>
              </a:solidFill>
              <a:effectLst/>
            </a:endParaRPr>
          </a:p>
        </p:txBody>
      </p:sp>
      <p:sp>
        <p:nvSpPr>
          <p:cNvPr id="13" name="ZoneTexte 12">
            <a:extLst>
              <a:ext uri="{FF2B5EF4-FFF2-40B4-BE49-F238E27FC236}">
                <a16:creationId xmlns:a16="http://schemas.microsoft.com/office/drawing/2014/main" id="{649DD35D-849D-6422-6BE0-4920FC993CD6}"/>
              </a:ext>
            </a:extLst>
          </p:cNvPr>
          <p:cNvSpPr txBox="1"/>
          <p:nvPr/>
        </p:nvSpPr>
        <p:spPr>
          <a:xfrm>
            <a:off x="3281481" y="1108749"/>
            <a:ext cx="2466273" cy="430887"/>
          </a:xfrm>
          <a:prstGeom prst="rect">
            <a:avLst/>
          </a:prstGeom>
          <a:noFill/>
        </p:spPr>
        <p:txBody>
          <a:bodyPr wrap="square">
            <a:spAutoFit/>
          </a:bodyPr>
          <a:lstStyle/>
          <a:p>
            <a:pPr rtl="0">
              <a:buNone/>
            </a:pPr>
            <a:r>
              <a:rPr lang="fr-FR" sz="1100" b="1" i="0" u="none" strike="noStrike" dirty="0">
                <a:solidFill>
                  <a:schemeClr val="bg1"/>
                </a:solidFill>
                <a:effectLst/>
                <a:latin typeface="Georgia" panose="02040502050405020303" pitchFamily="18" charset="0"/>
              </a:rPr>
              <a:t>Étape 2 :Compter combien ils sont : </a:t>
            </a:r>
          </a:p>
        </p:txBody>
      </p:sp>
      <p:sp>
        <p:nvSpPr>
          <p:cNvPr id="16" name="ZoneTexte 15">
            <a:extLst>
              <a:ext uri="{FF2B5EF4-FFF2-40B4-BE49-F238E27FC236}">
                <a16:creationId xmlns:a16="http://schemas.microsoft.com/office/drawing/2014/main" id="{E703CCB5-7457-0AB6-22A0-9EB72B40A3A4}"/>
              </a:ext>
            </a:extLst>
          </p:cNvPr>
          <p:cNvSpPr txBox="1"/>
          <p:nvPr/>
        </p:nvSpPr>
        <p:spPr>
          <a:xfrm>
            <a:off x="6174464" y="1098882"/>
            <a:ext cx="2908634" cy="600164"/>
          </a:xfrm>
          <a:prstGeom prst="rect">
            <a:avLst/>
          </a:prstGeom>
          <a:noFill/>
        </p:spPr>
        <p:txBody>
          <a:bodyPr wrap="square">
            <a:spAutoFit/>
          </a:bodyPr>
          <a:lstStyle/>
          <a:p>
            <a:pPr rtl="0">
              <a:buNone/>
            </a:pPr>
            <a:r>
              <a:rPr lang="fr-FR" sz="1100" b="1" i="0" u="none" strike="noStrike" dirty="0">
                <a:solidFill>
                  <a:schemeClr val="bg1"/>
                </a:solidFill>
                <a:effectLst/>
                <a:latin typeface="Georgia" panose="02040502050405020303" pitchFamily="18" charset="0"/>
              </a:rPr>
              <a:t>Étape 3 : Calculer leur pourcentage  parmi tous les hôtes : (24 résultats étape 2)</a:t>
            </a:r>
          </a:p>
        </p:txBody>
      </p:sp>
      <p:sp>
        <p:nvSpPr>
          <p:cNvPr id="17" name="ZoneTexte 16">
            <a:extLst>
              <a:ext uri="{FF2B5EF4-FFF2-40B4-BE49-F238E27FC236}">
                <a16:creationId xmlns:a16="http://schemas.microsoft.com/office/drawing/2014/main" id="{82B54F59-77D0-671E-6445-9A29F8B3C55A}"/>
              </a:ext>
            </a:extLst>
          </p:cNvPr>
          <p:cNvSpPr txBox="1"/>
          <p:nvPr/>
        </p:nvSpPr>
        <p:spPr>
          <a:xfrm>
            <a:off x="6230425" y="1739151"/>
            <a:ext cx="302061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dirty="0">
                <a:solidFill>
                  <a:srgbClr val="D6D0C8"/>
                </a:solidFill>
                <a:effectLst/>
                <a:latin typeface="pplxSansMono"/>
              </a:rPr>
              <a:t>(24 / 71979 * 100).</a:t>
            </a:r>
            <a:r>
              <a:rPr lang="en-US" sz="1200" b="0" i="0" dirty="0" err="1">
                <a:solidFill>
                  <a:srgbClr val="D6D0C8"/>
                </a:solidFill>
                <a:effectLst/>
                <a:latin typeface="pplxSansMono"/>
              </a:rPr>
              <a:t>toFixed</a:t>
            </a:r>
            <a:r>
              <a:rPr lang="en-US" sz="1200" b="0" i="0" dirty="0">
                <a:solidFill>
                  <a:srgbClr val="D6D0C8"/>
                </a:solidFill>
                <a:effectLst/>
                <a:latin typeface="pplxSansMono"/>
              </a:rPr>
              <a:t>(2) + " %"</a:t>
            </a:r>
            <a:endParaRPr lang="fr-FR" sz="1200" b="0" i="0" dirty="0">
              <a:solidFill>
                <a:srgbClr val="D6D0C8"/>
              </a:solidFill>
              <a:effectLst/>
              <a:latin typeface="pplxSansMono"/>
            </a:endParaRPr>
          </a:p>
        </p:txBody>
      </p:sp>
      <p:graphicFrame>
        <p:nvGraphicFramePr>
          <p:cNvPr id="18" name="Tableau 17">
            <a:extLst>
              <a:ext uri="{FF2B5EF4-FFF2-40B4-BE49-F238E27FC236}">
                <a16:creationId xmlns:a16="http://schemas.microsoft.com/office/drawing/2014/main" id="{A6CD7837-32E5-32CC-F77F-9043F4CDFCF1}"/>
              </a:ext>
            </a:extLst>
          </p:cNvPr>
          <p:cNvGraphicFramePr>
            <a:graphicFrameLocks noGrp="1"/>
          </p:cNvGraphicFramePr>
          <p:nvPr>
            <p:extLst>
              <p:ext uri="{D42A27DB-BD31-4B8C-83A1-F6EECF244321}">
                <p14:modId xmlns:p14="http://schemas.microsoft.com/office/powerpoint/2010/main" val="504403482"/>
              </p:ext>
            </p:extLst>
          </p:nvPr>
        </p:nvGraphicFramePr>
        <p:xfrm>
          <a:off x="269602" y="3251743"/>
          <a:ext cx="2958276" cy="1524000"/>
        </p:xfrm>
        <a:graphic>
          <a:graphicData uri="http://schemas.openxmlformats.org/drawingml/2006/table">
            <a:tbl>
              <a:tblPr/>
              <a:tblGrid>
                <a:gridCol w="407619">
                  <a:extLst>
                    <a:ext uri="{9D8B030D-6E8A-4147-A177-3AD203B41FA5}">
                      <a16:colId xmlns:a16="http://schemas.microsoft.com/office/drawing/2014/main" val="3503313497"/>
                    </a:ext>
                  </a:extLst>
                </a:gridCol>
                <a:gridCol w="1364673">
                  <a:extLst>
                    <a:ext uri="{9D8B030D-6E8A-4147-A177-3AD203B41FA5}">
                      <a16:colId xmlns:a16="http://schemas.microsoft.com/office/drawing/2014/main" val="1275200549"/>
                    </a:ext>
                  </a:extLst>
                </a:gridCol>
                <a:gridCol w="1185984">
                  <a:extLst>
                    <a:ext uri="{9D8B030D-6E8A-4147-A177-3AD203B41FA5}">
                      <a16:colId xmlns:a16="http://schemas.microsoft.com/office/drawing/2014/main" val="3351652904"/>
                    </a:ext>
                  </a:extLst>
                </a:gridCol>
              </a:tblGrid>
              <a:tr h="294417">
                <a:tc>
                  <a:txBody>
                    <a:bodyPr/>
                    <a:lstStyle/>
                    <a:p>
                      <a:pPr algn="l">
                        <a:buNone/>
                      </a:pPr>
                      <a:r>
                        <a:rPr lang="fr-FR" sz="1000" b="1" i="0" u="none" strike="noStrike" cap="none" dirty="0">
                          <a:solidFill>
                            <a:schemeClr val="bg1"/>
                          </a:solidFill>
                          <a:effectLst/>
                          <a:latin typeface="+mn-lt"/>
                          <a:ea typeface="+mn-ea"/>
                          <a:cs typeface="+mn-cs"/>
                          <a:sym typeface="Arial"/>
                        </a:rPr>
                        <a:t>#</a:t>
                      </a:r>
                      <a:endParaRPr lang="fr-FR" sz="10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Hôte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a:solidFill>
                            <a:schemeClr val="bg1"/>
                          </a:solidFill>
                          <a:effectLst/>
                        </a:rPr>
                        <a:t>Nb annonces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148026568"/>
                  </a:ext>
                </a:extLst>
              </a:tr>
              <a:tr h="294417">
                <a:tc>
                  <a:txBody>
                    <a:bodyPr/>
                    <a:lstStyle/>
                    <a:p>
                      <a:pPr algn="l">
                        <a:buNone/>
                      </a:pPr>
                      <a:r>
                        <a:rPr lang="fr-FR" sz="1000" dirty="0">
                          <a:solidFill>
                            <a:schemeClr val="bg1"/>
                          </a:solidFill>
                          <a:effectLst/>
                        </a:rPr>
                        <a:t>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i="1" dirty="0" err="1">
                          <a:solidFill>
                            <a:schemeClr val="bg1"/>
                          </a:solidFill>
                          <a:effectLst/>
                          <a:latin typeface="Arial Black" panose="020B0A04020102020204" pitchFamily="34" charset="0"/>
                        </a:rPr>
                        <a:t>Blueground</a:t>
                      </a:r>
                      <a:endParaRPr lang="fr-FR" sz="1000" i="1" dirty="0">
                        <a:solidFill>
                          <a:schemeClr val="bg1"/>
                        </a:solidFill>
                        <a:effectLst/>
                        <a:latin typeface="Arial Black" panose="020B0A04020102020204" pitchFamily="34" charset="0"/>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730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44594235"/>
                  </a:ext>
                </a:extLst>
              </a:tr>
              <a:tr h="294417">
                <a:tc>
                  <a:txBody>
                    <a:bodyPr/>
                    <a:lstStyle/>
                    <a:p>
                      <a:pPr algn="l">
                        <a:buNone/>
                      </a:pPr>
                      <a:r>
                        <a:rPr lang="fr-FR" sz="1000" dirty="0">
                          <a:solidFill>
                            <a:schemeClr val="bg1"/>
                          </a:solidFill>
                          <a:effectLst/>
                        </a:rPr>
                        <a:t>2</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Veeve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497</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528645790"/>
                  </a:ext>
                </a:extLst>
              </a:tr>
              <a:tr h="294417">
                <a:tc>
                  <a:txBody>
                    <a:bodyPr/>
                    <a:lstStyle/>
                    <a:p>
                      <a:pPr algn="l">
                        <a:buNone/>
                      </a:pPr>
                      <a:r>
                        <a:rPr lang="fr-FR" sz="1000" dirty="0">
                          <a:solidFill>
                            <a:schemeClr val="bg1"/>
                          </a:solidFill>
                          <a:effectLst/>
                        </a:rPr>
                        <a:t>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Pierre De </a:t>
                      </a:r>
                      <a:r>
                        <a:rPr lang="fr-FR" sz="1000" dirty="0" err="1">
                          <a:solidFill>
                            <a:schemeClr val="bg1"/>
                          </a:solidFill>
                          <a:effectLst/>
                        </a:rPr>
                        <a:t>WeHost</a:t>
                      </a:r>
                      <a:endParaRPr lang="fr-FR" sz="10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426</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82209487"/>
                  </a:ext>
                </a:extLst>
              </a:tr>
              <a:tr h="294417">
                <a:tc>
                  <a:txBody>
                    <a:bodyPr/>
                    <a:lstStyle/>
                    <a:p>
                      <a:pPr algn="l">
                        <a:buNone/>
                      </a:pPr>
                      <a:r>
                        <a:rPr lang="fr-FR" sz="1000" dirty="0">
                          <a:solidFill>
                            <a:schemeClr val="bg1"/>
                          </a:solidFill>
                          <a:effectLst/>
                        </a:rPr>
                        <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dirty="0">
                          <a:solidFill>
                            <a:schemeClr val="bg1"/>
                          </a:solidFill>
                          <a:effectLst/>
                        </a:rPr>
                        <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67845656"/>
                  </a:ext>
                </a:extLst>
              </a:tr>
            </a:tbl>
          </a:graphicData>
        </a:graphic>
      </p:graphicFrame>
      <p:cxnSp>
        <p:nvCxnSpPr>
          <p:cNvPr id="24" name="Connecteur droit 23">
            <a:extLst>
              <a:ext uri="{FF2B5EF4-FFF2-40B4-BE49-F238E27FC236}">
                <a16:creationId xmlns:a16="http://schemas.microsoft.com/office/drawing/2014/main" id="{F53A78FE-C9A9-801B-3386-892934430F5A}"/>
              </a:ext>
            </a:extLst>
          </p:cNvPr>
          <p:cNvCxnSpPr>
            <a:cxnSpLocks/>
          </p:cNvCxnSpPr>
          <p:nvPr/>
        </p:nvCxnSpPr>
        <p:spPr>
          <a:xfrm>
            <a:off x="3281481" y="1108749"/>
            <a:ext cx="0" cy="3634641"/>
          </a:xfrm>
          <a:prstGeom prst="line">
            <a:avLst/>
          </a:prstGeom>
          <a:ln w="28575">
            <a:solidFill>
              <a:schemeClr val="bg1"/>
            </a:solidFill>
          </a:ln>
        </p:spPr>
        <p:style>
          <a:lnRef idx="1">
            <a:schemeClr val="dk1"/>
          </a:lnRef>
          <a:fillRef idx="0">
            <a:schemeClr val="dk1"/>
          </a:fillRef>
          <a:effectRef idx="0">
            <a:schemeClr val="dk1"/>
          </a:effectRef>
          <a:fontRef idx="minor">
            <a:schemeClr val="tx1"/>
          </a:fontRef>
        </p:style>
      </p:cxnSp>
      <p:cxnSp>
        <p:nvCxnSpPr>
          <p:cNvPr id="26" name="Connecteur droit 25">
            <a:extLst>
              <a:ext uri="{FF2B5EF4-FFF2-40B4-BE49-F238E27FC236}">
                <a16:creationId xmlns:a16="http://schemas.microsoft.com/office/drawing/2014/main" id="{0EB3AF69-54ED-FBB8-993A-1622EC52EB15}"/>
              </a:ext>
            </a:extLst>
          </p:cNvPr>
          <p:cNvCxnSpPr>
            <a:cxnSpLocks/>
          </p:cNvCxnSpPr>
          <p:nvPr/>
        </p:nvCxnSpPr>
        <p:spPr>
          <a:xfrm>
            <a:off x="6158752" y="1108749"/>
            <a:ext cx="0" cy="3634641"/>
          </a:xfrm>
          <a:prstGeom prst="line">
            <a:avLst/>
          </a:prstGeom>
          <a:ln w="28575">
            <a:solidFill>
              <a:schemeClr val="bg1"/>
            </a:solidFill>
          </a:ln>
        </p:spPr>
        <p:style>
          <a:lnRef idx="1">
            <a:schemeClr val="dk1"/>
          </a:lnRef>
          <a:fillRef idx="0">
            <a:schemeClr val="dk1"/>
          </a:fillRef>
          <a:effectRef idx="0">
            <a:schemeClr val="dk1"/>
          </a:effectRef>
          <a:fontRef idx="minor">
            <a:schemeClr val="tx1"/>
          </a:fontRef>
        </p:style>
      </p:cxnSp>
      <p:pic>
        <p:nvPicPr>
          <p:cNvPr id="64" name="Image 63">
            <a:extLst>
              <a:ext uri="{FF2B5EF4-FFF2-40B4-BE49-F238E27FC236}">
                <a16:creationId xmlns:a16="http://schemas.microsoft.com/office/drawing/2014/main" id="{9DD5E4C9-D53F-758B-ACF1-D556F668375E}"/>
              </a:ext>
            </a:extLst>
          </p:cNvPr>
          <p:cNvPicPr>
            <a:picLocks noChangeAspect="1"/>
          </p:cNvPicPr>
          <p:nvPr/>
        </p:nvPicPr>
        <p:blipFill>
          <a:blip r:embed="rId3"/>
          <a:stretch>
            <a:fillRect/>
          </a:stretch>
        </p:blipFill>
        <p:spPr>
          <a:xfrm>
            <a:off x="3605358" y="2706659"/>
            <a:ext cx="1914792" cy="619211"/>
          </a:xfrm>
          <a:prstGeom prst="rect">
            <a:avLst/>
          </a:prstGeom>
        </p:spPr>
      </p:pic>
      <p:pic>
        <p:nvPicPr>
          <p:cNvPr id="66" name="Image 65">
            <a:extLst>
              <a:ext uri="{FF2B5EF4-FFF2-40B4-BE49-F238E27FC236}">
                <a16:creationId xmlns:a16="http://schemas.microsoft.com/office/drawing/2014/main" id="{259B9FE7-089E-7D47-BA53-31413A48D290}"/>
              </a:ext>
            </a:extLst>
          </p:cNvPr>
          <p:cNvPicPr>
            <a:picLocks noChangeAspect="1"/>
          </p:cNvPicPr>
          <p:nvPr/>
        </p:nvPicPr>
        <p:blipFill>
          <a:blip r:embed="rId4"/>
          <a:stretch>
            <a:fillRect/>
          </a:stretch>
        </p:blipFill>
        <p:spPr>
          <a:xfrm>
            <a:off x="6494017" y="2212281"/>
            <a:ext cx="1019317" cy="276264"/>
          </a:xfrm>
          <a:prstGeom prst="rect">
            <a:avLst/>
          </a:prstGeom>
        </p:spPr>
      </p:pic>
    </p:spTree>
    <p:extLst>
      <p:ext uri="{BB962C8B-B14F-4D97-AF65-F5344CB8AC3E}">
        <p14:creationId xmlns:p14="http://schemas.microsoft.com/office/powerpoint/2010/main" val="2814777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642B741D-E2EC-21ED-27F1-F6BF200DCBBE}"/>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1CA82CA9-C7C7-A4F9-D8EC-0FB381FE5F8C}"/>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7CA1D009-FC0B-836A-1A0C-8D21B5AEE969}"/>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C9C7E690-A6A0-F5C5-5C0E-51BE2036EE6F}"/>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ZoneTexte 7">
            <a:extLst>
              <a:ext uri="{FF2B5EF4-FFF2-40B4-BE49-F238E27FC236}">
                <a16:creationId xmlns:a16="http://schemas.microsoft.com/office/drawing/2014/main" id="{C4F1E8DD-59BA-BBDA-6AAB-77E762AFA066}"/>
              </a:ext>
            </a:extLst>
          </p:cNvPr>
          <p:cNvSpPr txBox="1"/>
          <p:nvPr/>
        </p:nvSpPr>
        <p:spPr>
          <a:xfrm>
            <a:off x="225150" y="3295400"/>
            <a:ext cx="8092718"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Seulement 24 hôtes sur 71 979 possèdent plus de 100 annonces, soit une infime minorité de 0,03%. Pourtant, ces acteurs ultra-professionnels gèrent une part significative du parc locatif Airbnb parisien. Ce sont souvent des sociétés de gestion locative qui industrialisent la location courte durée, accentuant la pression sur le marché immobilier parisien.</a:t>
            </a:r>
            <a:endParaRPr kumimoji="0" lang="fr-FR" sz="16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
        <p:nvSpPr>
          <p:cNvPr id="10" name="ZoneTexte 9">
            <a:extLst>
              <a:ext uri="{FF2B5EF4-FFF2-40B4-BE49-F238E27FC236}">
                <a16:creationId xmlns:a16="http://schemas.microsoft.com/office/drawing/2014/main" id="{EEB77D35-0C3A-F52A-6730-663A7943EF4C}"/>
              </a:ext>
            </a:extLst>
          </p:cNvPr>
          <p:cNvSpPr txBox="1"/>
          <p:nvPr/>
        </p:nvSpPr>
        <p:spPr>
          <a:xfrm>
            <a:off x="491509" y="561982"/>
            <a:ext cx="630414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5 ) Est-ce que des hôtes ont plus de 100 annonces sur les plateformes ? Et si oui qui sont-ils ? Cela représente quel pourcentage des hôtes ?</a:t>
            </a:r>
          </a:p>
        </p:txBody>
      </p:sp>
      <p:graphicFrame>
        <p:nvGraphicFramePr>
          <p:cNvPr id="2" name="Tableau 1">
            <a:extLst>
              <a:ext uri="{FF2B5EF4-FFF2-40B4-BE49-F238E27FC236}">
                <a16:creationId xmlns:a16="http://schemas.microsoft.com/office/drawing/2014/main" id="{E1DD16D6-5D30-F06A-5118-6F022AAFACE3}"/>
              </a:ext>
            </a:extLst>
          </p:cNvPr>
          <p:cNvGraphicFramePr>
            <a:graphicFrameLocks noGrp="1"/>
          </p:cNvGraphicFramePr>
          <p:nvPr>
            <p:extLst>
              <p:ext uri="{D42A27DB-BD31-4B8C-83A1-F6EECF244321}">
                <p14:modId xmlns:p14="http://schemas.microsoft.com/office/powerpoint/2010/main" val="189893073"/>
              </p:ext>
            </p:extLst>
          </p:nvPr>
        </p:nvGraphicFramePr>
        <p:xfrm>
          <a:off x="311150" y="1379636"/>
          <a:ext cx="8521700" cy="1463040"/>
        </p:xfrm>
        <a:graphic>
          <a:graphicData uri="http://schemas.openxmlformats.org/drawingml/2006/table">
            <a:tbl>
              <a:tblPr/>
              <a:tblGrid>
                <a:gridCol w="4260850">
                  <a:extLst>
                    <a:ext uri="{9D8B030D-6E8A-4147-A177-3AD203B41FA5}">
                      <a16:colId xmlns:a16="http://schemas.microsoft.com/office/drawing/2014/main" val="398557382"/>
                    </a:ext>
                  </a:extLst>
                </a:gridCol>
                <a:gridCol w="4260850">
                  <a:extLst>
                    <a:ext uri="{9D8B030D-6E8A-4147-A177-3AD203B41FA5}">
                      <a16:colId xmlns:a16="http://schemas.microsoft.com/office/drawing/2014/main" val="3054433885"/>
                    </a:ext>
                  </a:extLst>
                </a:gridCol>
              </a:tblGrid>
              <a:tr h="0">
                <a:tc>
                  <a:txBody>
                    <a:bodyPr/>
                    <a:lstStyle/>
                    <a:p>
                      <a:pPr algn="l">
                        <a:buNone/>
                      </a:pPr>
                      <a:r>
                        <a:rPr lang="fr-FR">
                          <a:effectLst/>
                        </a:rPr>
                        <a:t>Métrique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a:effectLst/>
                        </a:rPr>
                        <a:t>Résultat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40535575"/>
                  </a:ext>
                </a:extLst>
              </a:tr>
              <a:tr h="0">
                <a:tc>
                  <a:txBody>
                    <a:bodyPr/>
                    <a:lstStyle/>
                    <a:p>
                      <a:pPr algn="l">
                        <a:buNone/>
                      </a:pPr>
                      <a:r>
                        <a:rPr lang="fr-FR">
                          <a:solidFill>
                            <a:schemeClr val="bg1"/>
                          </a:solidFill>
                          <a:effectLst/>
                        </a:rPr>
                        <a:t>Hôtes avec +100 annonces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b="1">
                          <a:solidFill>
                            <a:schemeClr val="bg1"/>
                          </a:solidFill>
                          <a:effectLst/>
                        </a:rPr>
                        <a:t>24</a:t>
                      </a:r>
                      <a:endParaRPr lang="fr-FR">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19425833"/>
                  </a:ext>
                </a:extLst>
              </a:tr>
              <a:tr h="0">
                <a:tc>
                  <a:txBody>
                    <a:bodyPr/>
                    <a:lstStyle/>
                    <a:p>
                      <a:pPr algn="l">
                        <a:buNone/>
                      </a:pPr>
                      <a:r>
                        <a:rPr lang="fr-FR" dirty="0">
                          <a:solidFill>
                            <a:schemeClr val="bg1"/>
                          </a:solidFill>
                          <a:effectLst/>
                        </a:rPr>
                        <a:t>Total hôtes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dirty="0">
                          <a:solidFill>
                            <a:schemeClr val="bg1"/>
                          </a:solidFill>
                          <a:effectLst/>
                        </a:rPr>
                        <a:t>71 979</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43102986"/>
                  </a:ext>
                </a:extLst>
              </a:tr>
              <a:tr h="0">
                <a:tc>
                  <a:txBody>
                    <a:bodyPr/>
                    <a:lstStyle/>
                    <a:p>
                      <a:pPr algn="l">
                        <a:buNone/>
                      </a:pPr>
                      <a:r>
                        <a:rPr lang="fr-FR" dirty="0">
                          <a:solidFill>
                            <a:schemeClr val="bg1"/>
                          </a:solidFill>
                          <a:effectLst/>
                        </a:rPr>
                        <a:t>Proportion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b="1" dirty="0">
                          <a:solidFill>
                            <a:schemeClr val="bg1"/>
                          </a:solidFill>
                          <a:effectLst/>
                        </a:rPr>
                        <a:t>0,03%</a:t>
                      </a:r>
                      <a:endParaRPr lang="fr-FR"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17484697"/>
                  </a:ext>
                </a:extLst>
              </a:tr>
            </a:tbl>
          </a:graphicData>
        </a:graphic>
      </p:graphicFrame>
    </p:spTree>
    <p:extLst>
      <p:ext uri="{BB962C8B-B14F-4D97-AF65-F5344CB8AC3E}">
        <p14:creationId xmlns:p14="http://schemas.microsoft.com/office/powerpoint/2010/main" val="88745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295881B8-1C1A-ED97-BADE-FD25CF596DB8}"/>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3B60BC62-CE8B-F664-F216-6B567E3ADF8F}"/>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4C7146A5-FF90-956F-ED43-956080C17445}"/>
              </a:ext>
            </a:extLst>
          </p:cNvPr>
          <p:cNvSpPr txBox="1"/>
          <p:nvPr/>
        </p:nvSpPr>
        <p:spPr>
          <a:xfrm>
            <a:off x="540000" y="92478"/>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C39D54CC-3EE0-9384-CFB8-614D1C559811}"/>
              </a:ext>
            </a:extLst>
          </p:cNvPr>
          <p:cNvSpPr/>
          <p:nvPr/>
        </p:nvSpPr>
        <p:spPr>
          <a:xfrm>
            <a:off x="491509" y="507270"/>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705155E1-8E0E-DE20-4E13-866A9E84CB93}"/>
              </a:ext>
            </a:extLst>
          </p:cNvPr>
          <p:cNvSpPr txBox="1"/>
          <p:nvPr/>
        </p:nvSpPr>
        <p:spPr>
          <a:xfrm>
            <a:off x="455537" y="1108084"/>
            <a:ext cx="4863273"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1" dirty="0">
                <a:solidFill>
                  <a:srgbClr val="A7A39A"/>
                </a:solidFill>
                <a:effectLst/>
                <a:latin typeface="inherit"/>
              </a:rPr>
              <a:t>// Étape 1 — Nombre de super hôtes uniques</a:t>
            </a:r>
            <a:r>
              <a:rPr lang="fr-FR" sz="1200" b="0" i="0" dirty="0">
                <a:solidFill>
                  <a:srgbClr val="D6D0C8"/>
                </a:solidFill>
                <a:effectLst/>
                <a:latin typeface="pplxSansMono"/>
              </a:rPr>
              <a:t> </a:t>
            </a:r>
            <a:r>
              <a:rPr lang="fr-FR" sz="1200" b="0" i="0" dirty="0" err="1">
                <a:solidFill>
                  <a:srgbClr val="D6D0C8"/>
                </a:solidFill>
                <a:effectLst/>
                <a:latin typeface="pplxSansMono"/>
              </a:rPr>
              <a:t>db.listings_paris.</a:t>
            </a:r>
            <a:r>
              <a:rPr lang="fr-FR" sz="1200" b="0" i="0" dirty="0" err="1">
                <a:solidFill>
                  <a:srgbClr val="D2A8FF"/>
                </a:solidFill>
                <a:effectLst/>
                <a:latin typeface="pplxSansMono"/>
              </a:rPr>
              <a:t>distinct</a:t>
            </a:r>
            <a:r>
              <a:rPr lang="fr-FR" sz="1200" b="0" i="0" dirty="0">
                <a:solidFill>
                  <a:srgbClr val="D6D0C8"/>
                </a:solidFill>
                <a:effectLst/>
                <a:latin typeface="pplxSansMono"/>
              </a:rPr>
              <a:t>(</a:t>
            </a:r>
            <a:r>
              <a:rPr lang="fr-FR" sz="1200" b="0" i="0" dirty="0">
                <a:solidFill>
                  <a:srgbClr val="A5D6FF"/>
                </a:solidFill>
                <a:effectLst/>
                <a:latin typeface="pplxSansMono"/>
              </a:rPr>
              <a:t>"</a:t>
            </a:r>
            <a:r>
              <a:rPr lang="fr-FR" sz="1200" b="0" i="0" dirty="0" err="1">
                <a:solidFill>
                  <a:srgbClr val="A5D6FF"/>
                </a:solidFill>
                <a:effectLst/>
                <a:latin typeface="pplxSansMono"/>
              </a:rPr>
              <a:t>host_id</a:t>
            </a:r>
            <a:r>
              <a:rPr lang="fr-FR" sz="1200" b="0" i="0" dirty="0">
                <a:solidFill>
                  <a:srgbClr val="A5D6FF"/>
                </a:solidFill>
                <a:effectLst/>
                <a:latin typeface="pplxSansMono"/>
              </a:rPr>
              <a:t>"</a:t>
            </a:r>
            <a:r>
              <a:rPr lang="fr-FR" sz="1200" b="0" i="0" dirty="0">
                <a:solidFill>
                  <a:srgbClr val="D6D0C8"/>
                </a:solidFill>
                <a:effectLst/>
                <a:latin typeface="pplxSansMono"/>
              </a:rPr>
              <a:t>, { </a:t>
            </a:r>
            <a:r>
              <a:rPr lang="fr-FR" sz="1200" b="0" i="0" dirty="0" err="1">
                <a:solidFill>
                  <a:srgbClr val="D6D0C8"/>
                </a:solidFill>
                <a:effectLst/>
                <a:latin typeface="pplxSansMono"/>
              </a:rPr>
              <a:t>host_is_superhost</a:t>
            </a:r>
            <a:r>
              <a:rPr lang="fr-FR" sz="1200" b="0" i="0" dirty="0">
                <a:solidFill>
                  <a:srgbClr val="D6D0C8"/>
                </a:solidFill>
                <a:effectLst/>
                <a:latin typeface="pplxSansMono"/>
              </a:rPr>
              <a:t>: </a:t>
            </a:r>
            <a:r>
              <a:rPr lang="fr-FR" sz="1200" b="0" i="0" dirty="0" err="1">
                <a:solidFill>
                  <a:srgbClr val="D6D0C8"/>
                </a:solidFill>
                <a:effectLst/>
                <a:latin typeface="pplxSansMono"/>
              </a:rPr>
              <a:t>true</a:t>
            </a:r>
            <a:r>
              <a:rPr lang="fr-FR" sz="1200" b="0" i="0" dirty="0">
                <a:solidFill>
                  <a:srgbClr val="D6D0C8"/>
                </a:solidFill>
                <a:effectLst/>
                <a:latin typeface="pplxSansMono"/>
              </a:rPr>
              <a:t> }).</a:t>
            </a:r>
            <a:r>
              <a:rPr lang="fr-FR" sz="1200" b="0" i="0" dirty="0" err="1">
                <a:solidFill>
                  <a:srgbClr val="D6D0C8"/>
                </a:solidFill>
                <a:effectLst/>
                <a:latin typeface="pplxSansMono"/>
              </a:rPr>
              <a:t>length</a:t>
            </a:r>
            <a:endParaRPr lang="fr-FR" sz="1200" b="0" i="0" dirty="0">
              <a:solidFill>
                <a:srgbClr val="D6D0C8"/>
              </a:solidFill>
              <a:effectLst/>
              <a:latin typeface="pplxSansMono"/>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1" dirty="0">
                <a:solidFill>
                  <a:srgbClr val="A7A39A"/>
                </a:solidFill>
                <a:effectLst/>
                <a:latin typeface="inherit"/>
              </a:rPr>
              <a:t>// Étape 2 — Calculer le pourcentage (10027 = résultat de l’étape 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b="0" i="0" dirty="0">
                <a:solidFill>
                  <a:srgbClr val="D6D0C8"/>
                </a:solidFill>
                <a:effectLst/>
                <a:latin typeface="pplxSansMono"/>
              </a:rPr>
              <a:t> (</a:t>
            </a:r>
            <a:r>
              <a:rPr lang="fr-FR" sz="1200" b="0" i="0" dirty="0">
                <a:solidFill>
                  <a:srgbClr val="FFA657"/>
                </a:solidFill>
                <a:effectLst/>
                <a:latin typeface="pplxSansMono"/>
              </a:rPr>
              <a:t>10027</a:t>
            </a:r>
            <a:r>
              <a:rPr lang="fr-FR" sz="1200" b="0" i="0" dirty="0">
                <a:solidFill>
                  <a:srgbClr val="D6D0C8"/>
                </a:solidFill>
                <a:effectLst/>
                <a:latin typeface="pplxSansMono"/>
              </a:rPr>
              <a:t> / </a:t>
            </a:r>
            <a:r>
              <a:rPr lang="fr-FR" sz="1200" b="0" i="0" dirty="0">
                <a:solidFill>
                  <a:srgbClr val="FFA657"/>
                </a:solidFill>
                <a:effectLst/>
                <a:latin typeface="pplxSansMono"/>
              </a:rPr>
              <a:t>71979</a:t>
            </a:r>
            <a:r>
              <a:rPr lang="fr-FR" sz="1200" b="0" i="0" dirty="0">
                <a:solidFill>
                  <a:srgbClr val="D6D0C8"/>
                </a:solidFill>
                <a:effectLst/>
                <a:latin typeface="pplxSansMono"/>
              </a:rPr>
              <a:t> * </a:t>
            </a:r>
            <a:r>
              <a:rPr lang="fr-FR" sz="1200" b="0" i="0" dirty="0">
                <a:solidFill>
                  <a:srgbClr val="FFA657"/>
                </a:solidFill>
                <a:effectLst/>
                <a:latin typeface="pplxSansMono"/>
              </a:rPr>
              <a:t>100</a:t>
            </a:r>
            <a:r>
              <a:rPr lang="fr-FR" sz="1200" b="0" i="0" dirty="0">
                <a:solidFill>
                  <a:srgbClr val="D6D0C8"/>
                </a:solidFill>
                <a:effectLst/>
                <a:latin typeface="pplxSansMono"/>
              </a:rPr>
              <a:t>).</a:t>
            </a:r>
            <a:r>
              <a:rPr lang="fr-FR" sz="1200" b="0" i="0" dirty="0" err="1">
                <a:solidFill>
                  <a:srgbClr val="D2A8FF"/>
                </a:solidFill>
                <a:effectLst/>
                <a:latin typeface="pplxSansMono"/>
              </a:rPr>
              <a:t>toFixed</a:t>
            </a:r>
            <a:r>
              <a:rPr lang="fr-FR" sz="1200" b="0" i="0" dirty="0">
                <a:solidFill>
                  <a:srgbClr val="D6D0C8"/>
                </a:solidFill>
                <a:effectLst/>
                <a:latin typeface="pplxSansMono"/>
              </a:rPr>
              <a:t>(</a:t>
            </a:r>
            <a:r>
              <a:rPr lang="fr-FR" sz="1200" b="0" i="0" dirty="0">
                <a:solidFill>
                  <a:srgbClr val="FFA657"/>
                </a:solidFill>
                <a:effectLst/>
                <a:latin typeface="pplxSansMono"/>
              </a:rPr>
              <a:t>2</a:t>
            </a:r>
            <a:r>
              <a:rPr lang="fr-FR" sz="1200" b="0" i="0" dirty="0">
                <a:solidFill>
                  <a:srgbClr val="D6D0C8"/>
                </a:solidFill>
                <a:effectLst/>
                <a:latin typeface="pplxSansMono"/>
              </a:rPr>
              <a:t>) + </a:t>
            </a:r>
            <a:r>
              <a:rPr lang="fr-FR" sz="1200" b="0" i="0" dirty="0">
                <a:solidFill>
                  <a:srgbClr val="A5D6FF"/>
                </a:solidFill>
                <a:effectLst/>
                <a:latin typeface="pplxSansMono"/>
              </a:rPr>
              <a:t>" %"</a:t>
            </a:r>
            <a:endParaRPr kumimoji="0" lang="fr-FR" sz="900" b="0" i="0" u="none" strike="noStrike" kern="0" cap="none" spc="0" normalizeH="0" baseline="0" noProof="0" dirty="0">
              <a:ln>
                <a:noFill/>
              </a:ln>
              <a:solidFill>
                <a:srgbClr val="000000"/>
              </a:solidFill>
              <a:effectLst/>
              <a:uLnTx/>
              <a:uFillTx/>
              <a:latin typeface="Arial"/>
              <a:cs typeface="Arial"/>
              <a:sym typeface="Arial"/>
            </a:endParaRPr>
          </a:p>
        </p:txBody>
      </p:sp>
      <p:sp>
        <p:nvSpPr>
          <p:cNvPr id="10" name="ZoneTexte 9">
            <a:extLst>
              <a:ext uri="{FF2B5EF4-FFF2-40B4-BE49-F238E27FC236}">
                <a16:creationId xmlns:a16="http://schemas.microsoft.com/office/drawing/2014/main" id="{2F242D06-236F-1807-AFE0-A0DDE072202D}"/>
              </a:ext>
            </a:extLst>
          </p:cNvPr>
          <p:cNvSpPr txBox="1"/>
          <p:nvPr/>
        </p:nvSpPr>
        <p:spPr>
          <a:xfrm>
            <a:off x="491509" y="684871"/>
            <a:ext cx="564605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6) Combien y a-t-il de super hôtes différents ? Cela représente quel pourcentage des hôtes ?</a:t>
            </a:r>
          </a:p>
        </p:txBody>
      </p:sp>
      <p:graphicFrame>
        <p:nvGraphicFramePr>
          <p:cNvPr id="3" name="Tableau 2">
            <a:extLst>
              <a:ext uri="{FF2B5EF4-FFF2-40B4-BE49-F238E27FC236}">
                <a16:creationId xmlns:a16="http://schemas.microsoft.com/office/drawing/2014/main" id="{B7913382-7D96-EF0A-E6BB-CD02114AB00C}"/>
              </a:ext>
            </a:extLst>
          </p:cNvPr>
          <p:cNvGraphicFramePr>
            <a:graphicFrameLocks noGrp="1"/>
          </p:cNvGraphicFramePr>
          <p:nvPr>
            <p:extLst>
              <p:ext uri="{D42A27DB-BD31-4B8C-83A1-F6EECF244321}">
                <p14:modId xmlns:p14="http://schemas.microsoft.com/office/powerpoint/2010/main" val="666617131"/>
              </p:ext>
            </p:extLst>
          </p:nvPr>
        </p:nvGraphicFramePr>
        <p:xfrm>
          <a:off x="455537" y="2264325"/>
          <a:ext cx="4364510" cy="1280160"/>
        </p:xfrm>
        <a:graphic>
          <a:graphicData uri="http://schemas.openxmlformats.org/drawingml/2006/table">
            <a:tbl>
              <a:tblPr/>
              <a:tblGrid>
                <a:gridCol w="2182255">
                  <a:extLst>
                    <a:ext uri="{9D8B030D-6E8A-4147-A177-3AD203B41FA5}">
                      <a16:colId xmlns:a16="http://schemas.microsoft.com/office/drawing/2014/main" val="1404743549"/>
                    </a:ext>
                  </a:extLst>
                </a:gridCol>
                <a:gridCol w="2182255">
                  <a:extLst>
                    <a:ext uri="{9D8B030D-6E8A-4147-A177-3AD203B41FA5}">
                      <a16:colId xmlns:a16="http://schemas.microsoft.com/office/drawing/2014/main" val="4117101307"/>
                    </a:ext>
                  </a:extLst>
                </a:gridCol>
              </a:tblGrid>
              <a:tr h="299790">
                <a:tc>
                  <a:txBody>
                    <a:bodyPr/>
                    <a:lstStyle/>
                    <a:p>
                      <a:pPr algn="l">
                        <a:buNone/>
                      </a:pPr>
                      <a:r>
                        <a:rPr lang="fr-FR" sz="1100" dirty="0">
                          <a:effectLst/>
                        </a:rPr>
                        <a:t>Métrique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dirty="0">
                          <a:effectLst/>
                        </a:rPr>
                        <a:t>Résultat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578261549"/>
                  </a:ext>
                </a:extLst>
              </a:tr>
              <a:tr h="299790">
                <a:tc>
                  <a:txBody>
                    <a:bodyPr/>
                    <a:lstStyle/>
                    <a:p>
                      <a:pPr algn="l">
                        <a:buNone/>
                      </a:pPr>
                      <a:r>
                        <a:rPr lang="fr-FR" sz="1100" dirty="0">
                          <a:solidFill>
                            <a:schemeClr val="bg1"/>
                          </a:solidFill>
                          <a:effectLst/>
                        </a:rPr>
                        <a:t>Super hôtes uniques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10 027</a:t>
                      </a:r>
                      <a:endParaRPr lang="fr-FR" sz="11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28839450"/>
                  </a:ext>
                </a:extLst>
              </a:tr>
              <a:tr h="299790">
                <a:tc>
                  <a:txBody>
                    <a:bodyPr/>
                    <a:lstStyle/>
                    <a:p>
                      <a:pPr algn="l">
                        <a:buNone/>
                      </a:pPr>
                      <a:r>
                        <a:rPr lang="fr-FR" sz="1100" dirty="0">
                          <a:solidFill>
                            <a:schemeClr val="bg1"/>
                          </a:solidFill>
                          <a:effectLst/>
                        </a:rPr>
                        <a:t>Total hôtes (</a:t>
                      </a:r>
                      <a:r>
                        <a:rPr lang="fr-FR" sz="1100" dirty="0" err="1">
                          <a:solidFill>
                            <a:schemeClr val="bg1"/>
                          </a:solidFill>
                          <a:effectLst/>
                        </a:rPr>
                        <a:t>req</a:t>
                      </a:r>
                      <a:r>
                        <a:rPr lang="fr-FR" sz="1100" dirty="0">
                          <a:solidFill>
                            <a:schemeClr val="bg1"/>
                          </a:solidFill>
                          <a:effectLst/>
                        </a:rPr>
                        <a:t>. 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71 979</a:t>
                      </a:r>
                      <a:endParaRPr lang="fr-FR" sz="11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19836549"/>
                  </a:ext>
                </a:extLst>
              </a:tr>
              <a:tr h="299790">
                <a:tc>
                  <a:txBody>
                    <a:bodyPr/>
                    <a:lstStyle/>
                    <a:p>
                      <a:pPr algn="l">
                        <a:buNone/>
                      </a:pPr>
                      <a:r>
                        <a:rPr lang="fr-FR" sz="1100" dirty="0">
                          <a:solidFill>
                            <a:schemeClr val="bg1"/>
                          </a:solidFill>
                          <a:effectLst/>
                        </a:rPr>
                        <a:t>Proportion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dirty="0">
                          <a:solidFill>
                            <a:schemeClr val="bg1"/>
                          </a:solidFill>
                          <a:effectLst/>
                        </a:rPr>
                        <a:t>13,93%</a:t>
                      </a:r>
                      <a:endParaRPr lang="fr-FR" sz="11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21976081"/>
                  </a:ext>
                </a:extLst>
              </a:tr>
            </a:tbl>
          </a:graphicData>
        </a:graphic>
      </p:graphicFrame>
      <p:sp>
        <p:nvSpPr>
          <p:cNvPr id="4" name="ZoneTexte 3">
            <a:extLst>
              <a:ext uri="{FF2B5EF4-FFF2-40B4-BE49-F238E27FC236}">
                <a16:creationId xmlns:a16="http://schemas.microsoft.com/office/drawing/2014/main" id="{0A18F980-00E3-C9C1-9030-375B6608947B}"/>
              </a:ext>
            </a:extLst>
          </p:cNvPr>
          <p:cNvSpPr txBox="1"/>
          <p:nvPr/>
        </p:nvSpPr>
        <p:spPr>
          <a:xfrm>
            <a:off x="367282" y="3820061"/>
            <a:ext cx="809271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b="0" i="0" u="none" strike="noStrike" kern="0" cap="none" spc="0" normalizeH="0" baseline="0" noProof="0" dirty="0">
                <a:ln>
                  <a:noFill/>
                </a:ln>
                <a:solidFill>
                  <a:srgbClr val="D6D5D4"/>
                </a:solidFill>
                <a:effectLst/>
                <a:uLnTx/>
                <a:uFillTx/>
                <a:latin typeface="Aptos Display" panose="020B0004020202020204" pitchFamily="34" charset="0"/>
                <a:cs typeface="Arial"/>
                <a:sym typeface="Arial"/>
              </a:rPr>
              <a:t>Avec seulement 13,93% de super hôtes, le label reste sélectif et difficile à obtenir. Il récompense les hôtes qui maintiennent un taux de réponse élevé, peu d'annulations et d'excellentes évaluations de la part des voyageurs. Cette faible proportion montre que la grande majorité des hôtes parisiens gèrent leur logement de façon occasionnelle ou peu optimisée, loin des standards professionnels qu'Airbnb met en avant.</a:t>
            </a:r>
            <a:endParaRPr kumimoji="0" lang="fr-FR"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spTree>
    <p:extLst>
      <p:ext uri="{BB962C8B-B14F-4D97-AF65-F5344CB8AC3E}">
        <p14:creationId xmlns:p14="http://schemas.microsoft.com/office/powerpoint/2010/main" val="4163199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19968359-C391-BA4F-A3E9-E2AF5B5A881D}"/>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F40D5A3A-2E70-F06F-184E-7432D3D4E848}"/>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7A31C56A-8E07-1D34-0B72-AB9FB2384F05}"/>
              </a:ext>
            </a:extLst>
          </p:cNvPr>
          <p:cNvSpPr txBox="1"/>
          <p:nvPr/>
        </p:nvSpPr>
        <p:spPr>
          <a:xfrm>
            <a:off x="540000" y="-24526"/>
            <a:ext cx="7027886"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r>
              <a:rPr kumimoji="0" lang="fr-FR" sz="2400" b="1" i="0" u="none" strike="noStrike" kern="0" cap="none" spc="0" normalizeH="0" baseline="0" noProof="0" dirty="0">
                <a:ln>
                  <a:noFill/>
                </a:ln>
                <a:solidFill>
                  <a:srgbClr val="FFFFFF"/>
                </a:solidFill>
                <a:effectLst/>
                <a:uLnTx/>
                <a:uFillTx/>
                <a:latin typeface="Calibri Light"/>
                <a:cs typeface="Arial"/>
                <a:sym typeface="Arial"/>
              </a:rPr>
              <a:t> </a:t>
            </a:r>
            <a:r>
              <a:rPr kumimoji="0" lang="fr-FR" sz="2400" b="1" i="1" strike="noStrike" kern="0" cap="none" spc="0" normalizeH="0" baseline="0" noProof="0" dirty="0">
                <a:ln>
                  <a:noFill/>
                </a:ln>
                <a:solidFill>
                  <a:schemeClr val="accent6"/>
                </a:solidFill>
                <a:effectLst/>
                <a:uLnTx/>
                <a:uFillTx/>
                <a:latin typeface="Calibri Light"/>
                <a:cs typeface="Arial"/>
                <a:sym typeface="Arial"/>
              </a:rPr>
              <a:t>(avec Polars)</a:t>
            </a:r>
            <a:endParaRPr kumimoji="0" sz="2400" b="1" i="1" strike="noStrike" kern="0" cap="none" spc="0" normalizeH="0" baseline="0" noProof="0" dirty="0">
              <a:ln>
                <a:noFill/>
              </a:ln>
              <a:solidFill>
                <a:schemeClr val="accent6"/>
              </a:solidFill>
              <a:effectLst/>
              <a:uLnTx/>
              <a:uFillTx/>
              <a:latin typeface="Calibri Light"/>
              <a:cs typeface="Arial"/>
              <a:sym typeface="Arial"/>
            </a:endParaRPr>
          </a:p>
        </p:txBody>
      </p:sp>
      <p:sp>
        <p:nvSpPr>
          <p:cNvPr id="76" name="Rectangle 75">
            <a:extLst>
              <a:ext uri="{FF2B5EF4-FFF2-40B4-BE49-F238E27FC236}">
                <a16:creationId xmlns:a16="http://schemas.microsoft.com/office/drawing/2014/main" id="{7C588E77-3A82-F02F-33C6-B0520D8A7807}"/>
              </a:ext>
            </a:extLst>
          </p:cNvPr>
          <p:cNvSpPr/>
          <p:nvPr/>
        </p:nvSpPr>
        <p:spPr>
          <a:xfrm>
            <a:off x="449946" y="36822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709D4DFE-5B18-5ED0-C491-D05BC8B3C90B}"/>
              </a:ext>
            </a:extLst>
          </p:cNvPr>
          <p:cNvSpPr txBox="1"/>
          <p:nvPr/>
        </p:nvSpPr>
        <p:spPr>
          <a:xfrm>
            <a:off x="216000" y="653675"/>
            <a:ext cx="4863273" cy="1615827"/>
          </a:xfrm>
          <a:prstGeom prst="rect">
            <a:avLst/>
          </a:prstGeom>
          <a:noFill/>
        </p:spPr>
        <p:txBody>
          <a:bodyPr wrap="square">
            <a:spAutoFit/>
          </a:bodyPr>
          <a:lstStyle/>
          <a:p>
            <a:pPr>
              <a:buNone/>
            </a:pPr>
            <a:r>
              <a:rPr lang="fr-FR" sz="1100" b="0" dirty="0">
                <a:solidFill>
                  <a:srgbClr val="C9D1D9"/>
                </a:solidFill>
                <a:effectLst/>
                <a:latin typeface="pplxSansMono"/>
              </a:rPr>
              <a:t>req1</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C9D1D9"/>
                </a:solidFill>
                <a:effectLst/>
                <a:latin typeface="pplxSansMono"/>
              </a:rPr>
              <a:t>df</a:t>
            </a:r>
            <a:r>
              <a:rPr lang="fr-FR" sz="1100" b="0" dirty="0" err="1">
                <a:solidFill>
                  <a:srgbClr val="BBBEBF"/>
                </a:solidFill>
                <a:effectLst/>
                <a:latin typeface="pplxSansMono"/>
              </a:rPr>
              <a:t>.</a:t>
            </a:r>
            <a:r>
              <a:rPr lang="fr-FR" sz="1100" b="0" dirty="0" err="1">
                <a:solidFill>
                  <a:srgbClr val="D2A8FF"/>
                </a:solidFill>
                <a:effectLst/>
                <a:latin typeface="pplxSansMono"/>
              </a:rPr>
              <a:t>with_columns</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B5CEA8"/>
                </a:solidFill>
                <a:effectLst/>
                <a:latin typeface="pplxSansMono"/>
              </a:rPr>
              <a:t>365</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"availability_365"</a:t>
            </a:r>
            <a:r>
              <a:rPr lang="fr-FR" sz="1100" b="0" dirty="0">
                <a:solidFill>
                  <a:srgbClr val="BBBEBF"/>
                </a:solidFill>
                <a:effectLst/>
                <a:latin typeface="pplxSansMono"/>
              </a:rPr>
              <a:t>)) </a:t>
            </a:r>
            <a:r>
              <a:rPr lang="fr-FR" sz="1100" b="0" dirty="0">
                <a:solidFill>
                  <a:srgbClr val="DCDCAA"/>
                </a:solidFill>
                <a:effectLst/>
                <a:latin typeface="pplxSansMono"/>
              </a:rPr>
              <a:t>/</a:t>
            </a:r>
            <a:r>
              <a:rPr lang="fr-FR" sz="1100" b="0" dirty="0">
                <a:solidFill>
                  <a:srgbClr val="BBBEBF"/>
                </a:solidFill>
                <a:effectLst/>
                <a:latin typeface="pplxSansMono"/>
              </a:rPr>
              <a:t> </a:t>
            </a:r>
            <a:r>
              <a:rPr lang="fr-FR" sz="1100" b="0" dirty="0">
                <a:solidFill>
                  <a:srgbClr val="B5CEA8"/>
                </a:solidFill>
                <a:effectLst/>
                <a:latin typeface="pplxSansMono"/>
              </a:rPr>
              <a:t>365</a:t>
            </a:r>
            <a:r>
              <a:rPr lang="fr-FR" sz="1100" b="0" dirty="0">
                <a:solidFill>
                  <a:srgbClr val="BBBEBF"/>
                </a:solidFill>
                <a:effectLst/>
                <a:latin typeface="pplxSansMono"/>
              </a:rPr>
              <a:t> </a:t>
            </a:r>
            <a:r>
              <a:rPr lang="fr-FR" sz="1100" b="0" dirty="0">
                <a:solidFill>
                  <a:srgbClr val="DCDCAA"/>
                </a:solidFill>
                <a:effectLst/>
                <a:latin typeface="pplxSansMono"/>
              </a:rPr>
              <a:t>*</a:t>
            </a:r>
            <a:r>
              <a:rPr lang="fr-FR" sz="1100" b="0" dirty="0">
                <a:solidFill>
                  <a:srgbClr val="BBBEBF"/>
                </a:solidFill>
                <a:effectLst/>
                <a:latin typeface="pplxSansMono"/>
              </a:rPr>
              <a:t> </a:t>
            </a:r>
            <a:r>
              <a:rPr lang="fr-FR" sz="1100" b="0" dirty="0">
                <a:solidFill>
                  <a:srgbClr val="B5CEA8"/>
                </a:solidFill>
                <a:effectLst/>
                <a:latin typeface="pplxSansMono"/>
              </a:rPr>
              <a:t>100</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taux_reservation</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last_scraped</a:t>
            </a:r>
            <a:r>
              <a:rPr lang="fr-FR" sz="1100" b="0" dirty="0">
                <a:solidFill>
                  <a:srgbClr val="A5D6FF"/>
                </a:solidFill>
                <a:effectLst/>
                <a:latin typeface="pplxSansMono"/>
              </a:rPr>
              <a:t>"</a:t>
            </a:r>
            <a:r>
              <a:rPr lang="fr-FR" sz="1100" b="0" dirty="0">
                <a:solidFill>
                  <a:srgbClr val="BBBEBF"/>
                </a:solidFill>
                <a:effectLst/>
                <a:latin typeface="pplxSansMono"/>
              </a:rPr>
              <a:t>).</a:t>
            </a:r>
            <a:r>
              <a:rPr lang="fr-FR" sz="1100" b="0" dirty="0" err="1">
                <a:solidFill>
                  <a:srgbClr val="C9D1D9"/>
                </a:solidFill>
                <a:effectLst/>
                <a:latin typeface="pplxSansMono"/>
              </a:rPr>
              <a:t>dt</a:t>
            </a:r>
            <a:r>
              <a:rPr lang="fr-FR" sz="1100" b="0" dirty="0" err="1">
                <a:solidFill>
                  <a:srgbClr val="BBBEBF"/>
                </a:solidFill>
                <a:effectLst/>
                <a:latin typeface="pplxSansMono"/>
              </a:rPr>
              <a:t>.</a:t>
            </a:r>
            <a:r>
              <a:rPr lang="fr-FR" sz="1100" b="0" dirty="0" err="1">
                <a:solidFill>
                  <a:srgbClr val="D2A8FF"/>
                </a:solidFill>
                <a:effectLst/>
                <a:latin typeface="pplxSansMono"/>
              </a:rPr>
              <a:t>month</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"mois"</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group_by</a:t>
            </a:r>
            <a:r>
              <a:rPr lang="fr-FR" sz="1100" b="0" dirty="0">
                <a:solidFill>
                  <a:srgbClr val="BBBEBF"/>
                </a:solidFill>
                <a:effectLst/>
                <a:latin typeface="pplxSansMono"/>
              </a:rPr>
              <a:t>([</a:t>
            </a:r>
            <a:r>
              <a:rPr lang="fr-FR" sz="1100" b="0" dirty="0">
                <a:solidFill>
                  <a:srgbClr val="A5D6FF"/>
                </a:solidFill>
                <a:effectLst/>
                <a:latin typeface="pplxSansMono"/>
              </a:rPr>
              <a:t>"mois"</a:t>
            </a:r>
            <a:r>
              <a:rPr lang="fr-FR" sz="1100" b="0" dirty="0">
                <a:solidFill>
                  <a:srgbClr val="BBBEBF"/>
                </a:solidFill>
                <a:effectLst/>
                <a:latin typeface="pplxSansMono"/>
              </a:rPr>
              <a:t>, </a:t>
            </a:r>
            <a:r>
              <a:rPr lang="fr-FR" sz="1100" b="0" dirty="0">
                <a:solidFill>
                  <a:srgbClr val="A5D6FF"/>
                </a:solidFill>
                <a:effectLst/>
                <a:latin typeface="pplxSansMono"/>
              </a:rPr>
              <a:t>"</a:t>
            </a:r>
            <a:r>
              <a:rPr lang="fr-FR" sz="1100" b="0" dirty="0" err="1">
                <a:solidFill>
                  <a:srgbClr val="A5D6FF"/>
                </a:solidFill>
                <a:effectLst/>
                <a:latin typeface="pplxSansMono"/>
              </a:rPr>
              <a:t>room_type</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agg</a:t>
            </a:r>
            <a:r>
              <a:rPr lang="fr-FR" sz="1100" b="0" dirty="0">
                <a:solidFill>
                  <a:srgbClr val="BBBEBF"/>
                </a:solidFill>
                <a:effectLst/>
                <a:latin typeface="pplxSansMono"/>
              </a:rPr>
              <a:t>(</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taux_reservation</a:t>
            </a:r>
            <a:r>
              <a:rPr lang="fr-FR" sz="1100" b="0" dirty="0">
                <a:solidFill>
                  <a:srgbClr val="A5D6FF"/>
                </a:solidFill>
                <a:effectLst/>
                <a:latin typeface="pplxSansMono"/>
              </a:rPr>
              <a:t>"</a:t>
            </a:r>
            <a:r>
              <a:rPr lang="fr-FR" sz="1100" b="0" dirty="0">
                <a:solidFill>
                  <a:srgbClr val="BBBEBF"/>
                </a:solidFill>
                <a:effectLst/>
                <a:latin typeface="pplxSansMono"/>
              </a:rPr>
              <a:t>).</a:t>
            </a:r>
            <a:r>
              <a:rPr lang="fr-FR" sz="1100" b="0" dirty="0" err="1">
                <a:solidFill>
                  <a:srgbClr val="D2A8FF"/>
                </a:solidFill>
                <a:effectLst/>
                <a:latin typeface="pplxSansMono"/>
              </a:rPr>
              <a:t>mean</a:t>
            </a:r>
            <a:r>
              <a:rPr lang="fr-FR" sz="1100" b="0" dirty="0">
                <a:solidFill>
                  <a:srgbClr val="BBBEBF"/>
                </a:solidFill>
                <a:effectLst/>
                <a:latin typeface="pplxSansMono"/>
              </a:rPr>
              <a:t>().</a:t>
            </a:r>
            <a:r>
              <a:rPr lang="fr-FR" sz="1100" b="0" dirty="0">
                <a:solidFill>
                  <a:srgbClr val="D2A8FF"/>
                </a:solidFill>
                <a:effectLst/>
                <a:latin typeface="pplxSansMono"/>
              </a:rPr>
              <a:t>round</a:t>
            </a:r>
            <a:r>
              <a:rPr lang="fr-FR" sz="1100" b="0" dirty="0">
                <a:solidFill>
                  <a:srgbClr val="BBBEBF"/>
                </a:solidFill>
                <a:effectLst/>
                <a:latin typeface="pplxSansMono"/>
              </a:rPr>
              <a:t>(</a:t>
            </a:r>
            <a:r>
              <a:rPr lang="fr-FR" sz="1100" b="0" dirty="0">
                <a:solidFill>
                  <a:srgbClr val="B5CEA8"/>
                </a:solidFill>
                <a:effectLst/>
                <a:latin typeface="pplxSansMono"/>
              </a:rPr>
              <a:t>2</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taux_moyen</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D2A8FF"/>
                </a:solidFill>
                <a:effectLst/>
                <a:latin typeface="pplxSansMono"/>
              </a:rPr>
              <a:t>sort</a:t>
            </a:r>
            <a:r>
              <a:rPr lang="fr-FR" sz="1100" b="0" dirty="0">
                <a:solidFill>
                  <a:srgbClr val="BBBEBF"/>
                </a:solidFill>
                <a:effectLst/>
                <a:latin typeface="pplxSansMono"/>
              </a:rPr>
              <a:t>([</a:t>
            </a:r>
            <a:r>
              <a:rPr lang="fr-FR" sz="1100" b="0" dirty="0">
                <a:solidFill>
                  <a:srgbClr val="A5D6FF"/>
                </a:solidFill>
                <a:effectLst/>
                <a:latin typeface="pplxSansMono"/>
              </a:rPr>
              <a:t>"mois"</a:t>
            </a:r>
            <a:r>
              <a:rPr lang="fr-FR" sz="1100" b="0" dirty="0">
                <a:solidFill>
                  <a:srgbClr val="BBBEBF"/>
                </a:solidFill>
                <a:effectLst/>
                <a:latin typeface="pplxSansMono"/>
              </a:rPr>
              <a:t>, </a:t>
            </a:r>
            <a:r>
              <a:rPr lang="fr-FR" sz="1100" b="0" dirty="0">
                <a:solidFill>
                  <a:srgbClr val="A5D6FF"/>
                </a:solidFill>
                <a:effectLst/>
                <a:latin typeface="pplxSansMono"/>
              </a:rPr>
              <a:t>"</a:t>
            </a:r>
            <a:r>
              <a:rPr lang="fr-FR" sz="1100" b="0" dirty="0" err="1">
                <a:solidFill>
                  <a:srgbClr val="A5D6FF"/>
                </a:solidFill>
                <a:effectLst/>
                <a:latin typeface="pplxSansMono"/>
              </a:rPr>
              <a:t>room_type</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a:t>
            </a:r>
          </a:p>
        </p:txBody>
      </p:sp>
      <p:sp>
        <p:nvSpPr>
          <p:cNvPr id="10" name="ZoneTexte 9">
            <a:extLst>
              <a:ext uri="{FF2B5EF4-FFF2-40B4-BE49-F238E27FC236}">
                <a16:creationId xmlns:a16="http://schemas.microsoft.com/office/drawing/2014/main" id="{BBD555FC-CCA0-D42A-EB9D-5BB085A423A1}"/>
              </a:ext>
            </a:extLst>
          </p:cNvPr>
          <p:cNvSpPr txBox="1"/>
          <p:nvPr/>
        </p:nvSpPr>
        <p:spPr>
          <a:xfrm>
            <a:off x="216000" y="426609"/>
            <a:ext cx="678054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1) Calculer le taux de réservation moyen par mois par type de logement</a:t>
            </a:r>
          </a:p>
        </p:txBody>
      </p:sp>
      <p:sp>
        <p:nvSpPr>
          <p:cNvPr id="4" name="ZoneTexte 3">
            <a:extLst>
              <a:ext uri="{FF2B5EF4-FFF2-40B4-BE49-F238E27FC236}">
                <a16:creationId xmlns:a16="http://schemas.microsoft.com/office/drawing/2014/main" id="{5CFB5E1F-5784-3CC6-D6CD-BD39E5324EF4}"/>
              </a:ext>
            </a:extLst>
          </p:cNvPr>
          <p:cNvSpPr txBox="1"/>
          <p:nvPr/>
        </p:nvSpPr>
        <p:spPr>
          <a:xfrm>
            <a:off x="367282" y="4101866"/>
            <a:ext cx="8092718"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0" i="0" dirty="0">
                <a:solidFill>
                  <a:srgbClr val="D6D5D4"/>
                </a:solidFill>
                <a:effectLst/>
                <a:latin typeface="pplxSerif"/>
              </a:rPr>
              <a:t>Les </a:t>
            </a:r>
            <a:r>
              <a:rPr lang="fr-FR" b="1" i="0" dirty="0">
                <a:solidFill>
                  <a:srgbClr val="D6D5D4"/>
                </a:solidFill>
                <a:effectLst/>
                <a:latin typeface="pplxSerif"/>
              </a:rPr>
              <a:t>chambres privées</a:t>
            </a:r>
            <a:r>
              <a:rPr lang="fr-FR" b="0" i="0" dirty="0">
                <a:solidFill>
                  <a:srgbClr val="D6D5D4"/>
                </a:solidFill>
                <a:effectLst/>
                <a:latin typeface="pplxSerif"/>
              </a:rPr>
              <a:t> affichent le taux de réservation le plus élevé à </a:t>
            </a:r>
            <a:r>
              <a:rPr lang="fr-FR" b="1" i="0" dirty="0">
                <a:solidFill>
                  <a:srgbClr val="D6D5D4"/>
                </a:solidFill>
                <a:effectLst/>
                <a:latin typeface="pplxSerif"/>
              </a:rPr>
              <a:t>68,8%</a:t>
            </a:r>
            <a:r>
              <a:rPr lang="fr-FR" b="0" i="0" dirty="0">
                <a:solidFill>
                  <a:srgbClr val="D6D5D4"/>
                </a:solidFill>
                <a:effectLst/>
                <a:latin typeface="pplxSerif"/>
              </a:rPr>
              <a:t>, devant les appartements entiers à </a:t>
            </a:r>
            <a:r>
              <a:rPr lang="fr-FR" b="1" i="0" dirty="0">
                <a:solidFill>
                  <a:srgbClr val="D6D5D4"/>
                </a:solidFill>
                <a:effectLst/>
                <a:latin typeface="pplxSerif"/>
              </a:rPr>
              <a:t>64,9%</a:t>
            </a:r>
            <a:r>
              <a:rPr lang="fr-FR" b="0" i="0" dirty="0">
                <a:solidFill>
                  <a:srgbClr val="D6D5D4"/>
                </a:solidFill>
                <a:effectLst/>
                <a:latin typeface="pplxSerif"/>
              </a:rPr>
              <a:t>. Les hôtels Airbnb sont les moins réservés avec seulement </a:t>
            </a:r>
            <a:r>
              <a:rPr lang="fr-FR" b="1" i="0" dirty="0">
                <a:solidFill>
                  <a:srgbClr val="D6D5D4"/>
                </a:solidFill>
                <a:effectLst/>
                <a:latin typeface="pplxSerif"/>
              </a:rPr>
              <a:t>52,38%</a:t>
            </a:r>
            <a:r>
              <a:rPr lang="fr-FR" b="0" i="0" dirty="0">
                <a:solidFill>
                  <a:srgbClr val="D6D5D4"/>
                </a:solidFill>
                <a:effectLst/>
                <a:latin typeface="pplxSerif"/>
              </a:rPr>
              <a:t> c’est logique, ils font face à une forte concurrence des hôtels traditionnels parisiens.</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graphicFrame>
        <p:nvGraphicFramePr>
          <p:cNvPr id="7" name="Tableau 6">
            <a:extLst>
              <a:ext uri="{FF2B5EF4-FFF2-40B4-BE49-F238E27FC236}">
                <a16:creationId xmlns:a16="http://schemas.microsoft.com/office/drawing/2014/main" id="{B129F39D-C210-795C-41BB-EA9BAF5CB107}"/>
              </a:ext>
            </a:extLst>
          </p:cNvPr>
          <p:cNvGraphicFramePr>
            <a:graphicFrameLocks noGrp="1"/>
          </p:cNvGraphicFramePr>
          <p:nvPr>
            <p:extLst>
              <p:ext uri="{D42A27DB-BD31-4B8C-83A1-F6EECF244321}">
                <p14:modId xmlns:p14="http://schemas.microsoft.com/office/powerpoint/2010/main" val="3532658194"/>
              </p:ext>
            </p:extLst>
          </p:nvPr>
        </p:nvGraphicFramePr>
        <p:xfrm>
          <a:off x="344317" y="2347484"/>
          <a:ext cx="4606638" cy="1676400"/>
        </p:xfrm>
        <a:graphic>
          <a:graphicData uri="http://schemas.openxmlformats.org/drawingml/2006/table">
            <a:tbl>
              <a:tblPr/>
              <a:tblGrid>
                <a:gridCol w="1535546">
                  <a:extLst>
                    <a:ext uri="{9D8B030D-6E8A-4147-A177-3AD203B41FA5}">
                      <a16:colId xmlns:a16="http://schemas.microsoft.com/office/drawing/2014/main" val="2933519903"/>
                    </a:ext>
                  </a:extLst>
                </a:gridCol>
                <a:gridCol w="1535546">
                  <a:extLst>
                    <a:ext uri="{9D8B030D-6E8A-4147-A177-3AD203B41FA5}">
                      <a16:colId xmlns:a16="http://schemas.microsoft.com/office/drawing/2014/main" val="3638850886"/>
                    </a:ext>
                  </a:extLst>
                </a:gridCol>
                <a:gridCol w="1535546">
                  <a:extLst>
                    <a:ext uri="{9D8B030D-6E8A-4147-A177-3AD203B41FA5}">
                      <a16:colId xmlns:a16="http://schemas.microsoft.com/office/drawing/2014/main" val="4084102108"/>
                    </a:ext>
                  </a:extLst>
                </a:gridCol>
              </a:tblGrid>
              <a:tr h="238240">
                <a:tc>
                  <a:txBody>
                    <a:bodyPr/>
                    <a:lstStyle/>
                    <a:p>
                      <a:pPr algn="l">
                        <a:buNone/>
                      </a:pPr>
                      <a:r>
                        <a:rPr lang="fr-FR" sz="1000" dirty="0">
                          <a:effectLst/>
                        </a:rPr>
                        <a:t>Mois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00">
                          <a:effectLst/>
                        </a:rPr>
                        <a:t>Type de logement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00">
                          <a:effectLst/>
                        </a:rPr>
                        <a:t>Taux de réservation moyen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887006296"/>
                  </a:ext>
                </a:extLst>
              </a:tr>
              <a:tr h="238240">
                <a:tc>
                  <a:txBody>
                    <a:bodyPr/>
                    <a:lstStyle/>
                    <a:p>
                      <a:pPr algn="l">
                        <a:buNone/>
                      </a:pPr>
                      <a:r>
                        <a:rPr lang="fr-FR" sz="1000" dirty="0">
                          <a:solidFill>
                            <a:schemeClr val="bg1"/>
                          </a:solidFill>
                          <a:effectLst/>
                        </a:rPr>
                        <a:t>Juin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a:solidFill>
                            <a:schemeClr val="bg1"/>
                          </a:solidFill>
                          <a:effectLst/>
                        </a:rPr>
                        <a:t>Private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b="1">
                          <a:solidFill>
                            <a:schemeClr val="bg1"/>
                          </a:solidFill>
                          <a:effectLst/>
                        </a:rPr>
                        <a:t>68,80%</a:t>
                      </a:r>
                      <a:endParaRPr lang="fr-FR" sz="10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899538893"/>
                  </a:ext>
                </a:extLst>
              </a:tr>
              <a:tr h="238240">
                <a:tc>
                  <a:txBody>
                    <a:bodyPr/>
                    <a:lstStyle/>
                    <a:p>
                      <a:pPr algn="l">
                        <a:buNone/>
                      </a:pPr>
                      <a:r>
                        <a:rPr lang="fr-FR" sz="1000" dirty="0">
                          <a:solidFill>
                            <a:schemeClr val="bg1"/>
                          </a:solidFill>
                          <a:effectLst/>
                        </a:rPr>
                        <a:t>Juin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a:solidFill>
                            <a:schemeClr val="bg1"/>
                          </a:solidFill>
                          <a:effectLst/>
                        </a:rPr>
                        <a:t>Entire home/apt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b="1">
                          <a:solidFill>
                            <a:schemeClr val="bg1"/>
                          </a:solidFill>
                          <a:effectLst/>
                        </a:rPr>
                        <a:t>64,90%</a:t>
                      </a:r>
                      <a:endParaRPr lang="fr-FR" sz="10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521366280"/>
                  </a:ext>
                </a:extLst>
              </a:tr>
              <a:tr h="238240">
                <a:tc>
                  <a:txBody>
                    <a:bodyPr/>
                    <a:lstStyle/>
                    <a:p>
                      <a:pPr algn="l">
                        <a:buNone/>
                      </a:pPr>
                      <a:r>
                        <a:rPr lang="fr-FR" sz="1000">
                          <a:solidFill>
                            <a:schemeClr val="bg1"/>
                          </a:solidFill>
                          <a:effectLst/>
                        </a:rPr>
                        <a:t>Juin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a:solidFill>
                            <a:schemeClr val="bg1"/>
                          </a:solidFill>
                          <a:effectLst/>
                        </a:rPr>
                        <a:t>Shared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b="1">
                          <a:solidFill>
                            <a:schemeClr val="bg1"/>
                          </a:solidFill>
                          <a:effectLst/>
                        </a:rPr>
                        <a:t>63,33%</a:t>
                      </a:r>
                      <a:endParaRPr lang="fr-FR" sz="10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63444311"/>
                  </a:ext>
                </a:extLst>
              </a:tr>
              <a:tr h="238240">
                <a:tc>
                  <a:txBody>
                    <a:bodyPr/>
                    <a:lstStyle/>
                    <a:p>
                      <a:pPr algn="l">
                        <a:buNone/>
                      </a:pPr>
                      <a:r>
                        <a:rPr lang="fr-FR" sz="1000" dirty="0">
                          <a:solidFill>
                            <a:schemeClr val="bg1"/>
                          </a:solidFill>
                          <a:effectLst/>
                        </a:rPr>
                        <a:t>Juin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a:solidFill>
                            <a:schemeClr val="bg1"/>
                          </a:solidFill>
                          <a:effectLst/>
                        </a:rPr>
                        <a:t>Hotel room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00" b="1" dirty="0">
                          <a:solidFill>
                            <a:schemeClr val="bg1"/>
                          </a:solidFill>
                          <a:effectLst/>
                        </a:rPr>
                        <a:t>52,38%</a:t>
                      </a:r>
                      <a:endParaRPr lang="fr-FR" sz="1000"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20593720"/>
                  </a:ext>
                </a:extLst>
              </a:tr>
            </a:tbl>
          </a:graphicData>
        </a:graphic>
      </p:graphicFrame>
    </p:spTree>
    <p:extLst>
      <p:ext uri="{BB962C8B-B14F-4D97-AF65-F5344CB8AC3E}">
        <p14:creationId xmlns:p14="http://schemas.microsoft.com/office/powerpoint/2010/main" val="850086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93865A0B-C24B-C7FE-402F-BF7DD428A422}"/>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52E689BB-3E56-EEE3-2DC5-C07FE0DA8DC0}"/>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0833083E-1198-918F-50A3-259884C82828}"/>
              </a:ext>
            </a:extLst>
          </p:cNvPr>
          <p:cNvSpPr txBox="1"/>
          <p:nvPr/>
        </p:nvSpPr>
        <p:spPr>
          <a:xfrm>
            <a:off x="540000" y="-24526"/>
            <a:ext cx="7027886"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r>
              <a:rPr kumimoji="0" lang="fr-FR" sz="2400" b="1" i="0" u="none" strike="noStrike" kern="0" cap="none" spc="0" normalizeH="0" baseline="0" noProof="0" dirty="0">
                <a:ln>
                  <a:noFill/>
                </a:ln>
                <a:solidFill>
                  <a:srgbClr val="FFFFFF"/>
                </a:solidFill>
                <a:effectLst/>
                <a:uLnTx/>
                <a:uFillTx/>
                <a:latin typeface="Calibri Light"/>
                <a:cs typeface="Arial"/>
                <a:sym typeface="Arial"/>
              </a:rPr>
              <a:t> </a:t>
            </a:r>
            <a:r>
              <a:rPr kumimoji="0" lang="fr-FR" sz="2400" b="1" i="1" u="none" strike="noStrike" kern="0" cap="none" spc="0" normalizeH="0" baseline="0" noProof="0" dirty="0">
                <a:ln>
                  <a:noFill/>
                </a:ln>
                <a:solidFill>
                  <a:srgbClr val="EEFF41"/>
                </a:solidFill>
                <a:effectLst/>
                <a:uLnTx/>
                <a:uFillTx/>
                <a:latin typeface="Calibri Light"/>
                <a:cs typeface="Arial"/>
                <a:sym typeface="Arial"/>
              </a:rPr>
              <a:t>(avec Polars)</a:t>
            </a:r>
            <a:endParaRPr kumimoji="0" sz="2400" b="1" i="1" u="none" strike="noStrike" kern="0" cap="none" spc="0" normalizeH="0" baseline="0" noProof="0" dirty="0">
              <a:ln>
                <a:noFill/>
              </a:ln>
              <a:solidFill>
                <a:srgbClr val="EEFF41"/>
              </a:solidFill>
              <a:effectLst/>
              <a:uLnTx/>
              <a:uFillTx/>
              <a:latin typeface="Calibri Light"/>
              <a:cs typeface="Arial"/>
              <a:sym typeface="Arial"/>
            </a:endParaRPr>
          </a:p>
        </p:txBody>
      </p:sp>
      <p:sp>
        <p:nvSpPr>
          <p:cNvPr id="76" name="Rectangle 75">
            <a:extLst>
              <a:ext uri="{FF2B5EF4-FFF2-40B4-BE49-F238E27FC236}">
                <a16:creationId xmlns:a16="http://schemas.microsoft.com/office/drawing/2014/main" id="{0E37DD34-A58C-59EE-649F-43AB7EBAF374}"/>
              </a:ext>
            </a:extLst>
          </p:cNvPr>
          <p:cNvSpPr/>
          <p:nvPr/>
        </p:nvSpPr>
        <p:spPr>
          <a:xfrm>
            <a:off x="449946" y="36822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C540B44E-AB9E-D689-167B-6982A7EC7C60}"/>
              </a:ext>
            </a:extLst>
          </p:cNvPr>
          <p:cNvSpPr txBox="1"/>
          <p:nvPr/>
        </p:nvSpPr>
        <p:spPr>
          <a:xfrm>
            <a:off x="216000" y="734386"/>
            <a:ext cx="4863273" cy="646331"/>
          </a:xfrm>
          <a:prstGeom prst="rect">
            <a:avLst/>
          </a:prstGeom>
          <a:noFill/>
        </p:spPr>
        <p:txBody>
          <a:bodyPr wrap="square">
            <a:spAutoFit/>
          </a:bodyPr>
          <a:lstStyle/>
          <a:p>
            <a:pPr>
              <a:buNone/>
            </a:pPr>
            <a:r>
              <a:rPr lang="fr-FR" sz="1200" b="0" dirty="0">
                <a:solidFill>
                  <a:srgbClr val="C9D1D9"/>
                </a:solidFill>
                <a:effectLst/>
                <a:latin typeface="pplxSansMono"/>
              </a:rPr>
              <a:t>req2</a:t>
            </a:r>
            <a:r>
              <a:rPr lang="fr-FR" sz="1200" b="0" dirty="0">
                <a:solidFill>
                  <a:srgbClr val="BBBEBF"/>
                </a:solidFill>
                <a:effectLst/>
                <a:latin typeface="pplxSansMono"/>
              </a:rPr>
              <a:t> </a:t>
            </a:r>
            <a:r>
              <a:rPr lang="fr-FR" sz="1200" b="0" dirty="0">
                <a:solidFill>
                  <a:srgbClr val="D4D4D4"/>
                </a:solidFill>
                <a:effectLst/>
                <a:latin typeface="pplxSansMono"/>
              </a:rPr>
              <a:t>=</a:t>
            </a:r>
            <a:r>
              <a:rPr lang="fr-FR" sz="1200" b="0" dirty="0">
                <a:solidFill>
                  <a:srgbClr val="BBBEBF"/>
                </a:solidFill>
                <a:effectLst/>
                <a:latin typeface="pplxSansMono"/>
              </a:rPr>
              <a:t> </a:t>
            </a:r>
            <a:r>
              <a:rPr lang="fr-FR" sz="1200" b="0" dirty="0" err="1">
                <a:solidFill>
                  <a:srgbClr val="C9D1D9"/>
                </a:solidFill>
                <a:effectLst/>
                <a:latin typeface="pplxSansMono"/>
              </a:rPr>
              <a:t>df</a:t>
            </a:r>
            <a:r>
              <a:rPr lang="fr-FR" sz="1200" b="0" dirty="0" err="1">
                <a:solidFill>
                  <a:srgbClr val="BBBEBF"/>
                </a:solidFill>
                <a:effectLst/>
                <a:latin typeface="pplxSansMono"/>
              </a:rPr>
              <a:t>.</a:t>
            </a:r>
            <a:r>
              <a:rPr lang="fr-FR" sz="1200" b="0" dirty="0" err="1">
                <a:solidFill>
                  <a:srgbClr val="D2A8FF"/>
                </a:solidFill>
                <a:effectLst/>
                <a:latin typeface="pplxSansMono"/>
              </a:rPr>
              <a:t>select</a:t>
            </a:r>
            <a:r>
              <a:rPr lang="fr-FR" sz="1200" b="0" dirty="0">
                <a:solidFill>
                  <a:srgbClr val="BBBEBF"/>
                </a:solidFill>
                <a:effectLst/>
                <a:latin typeface="pplxSansMono"/>
              </a:rPr>
              <a:t>(</a:t>
            </a:r>
          </a:p>
          <a:p>
            <a:pPr>
              <a:buNone/>
            </a:pPr>
            <a:r>
              <a:rPr lang="fr-FR" sz="1200" b="0" dirty="0">
                <a:solidFill>
                  <a:srgbClr val="BBBEBF"/>
                </a:solidFill>
                <a:effectLst/>
                <a:latin typeface="pplxSansMono"/>
              </a:rPr>
              <a:t>    </a:t>
            </a:r>
            <a:r>
              <a:rPr lang="fr-FR" sz="1200" b="0" dirty="0" err="1">
                <a:solidFill>
                  <a:srgbClr val="4EC9B0"/>
                </a:solidFill>
                <a:effectLst/>
                <a:latin typeface="pplxSansMono"/>
              </a:rPr>
              <a:t>pl</a:t>
            </a:r>
            <a:r>
              <a:rPr lang="fr-FR" sz="1200" b="0" dirty="0" err="1">
                <a:solidFill>
                  <a:srgbClr val="BBBEBF"/>
                </a:solidFill>
                <a:effectLst/>
                <a:latin typeface="pplxSansMono"/>
              </a:rPr>
              <a:t>.</a:t>
            </a:r>
            <a:r>
              <a:rPr lang="fr-FR" sz="1200" b="0" dirty="0" err="1">
                <a:solidFill>
                  <a:srgbClr val="C9D1D9"/>
                </a:solidFill>
                <a:effectLst/>
                <a:latin typeface="pplxSansMono"/>
              </a:rPr>
              <a:t>col</a:t>
            </a:r>
            <a:r>
              <a:rPr lang="fr-FR" sz="1200" b="0" dirty="0">
                <a:solidFill>
                  <a:srgbClr val="BBBEBF"/>
                </a:solidFill>
                <a:effectLst/>
                <a:latin typeface="pplxSansMono"/>
              </a:rPr>
              <a:t>(</a:t>
            </a:r>
            <a:r>
              <a:rPr lang="fr-FR" sz="1200" b="0" dirty="0">
                <a:solidFill>
                  <a:srgbClr val="A5D6FF"/>
                </a:solidFill>
                <a:effectLst/>
                <a:latin typeface="pplxSansMono"/>
              </a:rPr>
              <a:t>"</a:t>
            </a:r>
            <a:r>
              <a:rPr lang="fr-FR" sz="1200" b="0" dirty="0" err="1">
                <a:solidFill>
                  <a:srgbClr val="A5D6FF"/>
                </a:solidFill>
                <a:effectLst/>
                <a:latin typeface="pplxSansMono"/>
              </a:rPr>
              <a:t>number_of_reviews</a:t>
            </a:r>
            <a:r>
              <a:rPr lang="fr-FR" sz="1200" b="0" dirty="0">
                <a:solidFill>
                  <a:srgbClr val="A5D6FF"/>
                </a:solidFill>
                <a:effectLst/>
                <a:latin typeface="pplxSansMono"/>
              </a:rPr>
              <a:t>"</a:t>
            </a:r>
            <a:r>
              <a:rPr lang="fr-FR" sz="1200" b="0" dirty="0">
                <a:solidFill>
                  <a:srgbClr val="BBBEBF"/>
                </a:solidFill>
                <a:effectLst/>
                <a:latin typeface="pplxSansMono"/>
              </a:rPr>
              <a:t>).</a:t>
            </a:r>
            <a:r>
              <a:rPr lang="fr-FR" sz="1200" b="0" dirty="0" err="1">
                <a:solidFill>
                  <a:srgbClr val="D2A8FF"/>
                </a:solidFill>
                <a:effectLst/>
                <a:latin typeface="pplxSansMono"/>
              </a:rPr>
              <a:t>median</a:t>
            </a:r>
            <a:r>
              <a:rPr lang="fr-FR" sz="1200" b="0" dirty="0">
                <a:solidFill>
                  <a:srgbClr val="BBBEBF"/>
                </a:solidFill>
                <a:effectLst/>
                <a:latin typeface="pplxSansMono"/>
              </a:rPr>
              <a:t>().</a:t>
            </a:r>
            <a:r>
              <a:rPr lang="fr-FR" sz="1200" b="0" dirty="0">
                <a:solidFill>
                  <a:srgbClr val="D2A8FF"/>
                </a:solidFill>
                <a:effectLst/>
                <a:latin typeface="pplxSansMono"/>
              </a:rPr>
              <a:t>alias</a:t>
            </a:r>
            <a:r>
              <a:rPr lang="fr-FR" sz="1200" b="0" dirty="0">
                <a:solidFill>
                  <a:srgbClr val="BBBEBF"/>
                </a:solidFill>
                <a:effectLst/>
                <a:latin typeface="pplxSansMono"/>
              </a:rPr>
              <a:t>(</a:t>
            </a:r>
            <a:r>
              <a:rPr lang="fr-FR" sz="1200" b="0" dirty="0">
                <a:solidFill>
                  <a:srgbClr val="A5D6FF"/>
                </a:solidFill>
                <a:effectLst/>
                <a:latin typeface="pplxSansMono"/>
              </a:rPr>
              <a:t>"</a:t>
            </a:r>
            <a:r>
              <a:rPr lang="fr-FR" sz="1200" b="0" dirty="0" err="1">
                <a:solidFill>
                  <a:srgbClr val="A5D6FF"/>
                </a:solidFill>
                <a:effectLst/>
                <a:latin typeface="pplxSansMono"/>
              </a:rPr>
              <a:t>mediane_avis</a:t>
            </a:r>
            <a:r>
              <a:rPr lang="fr-FR" sz="1200" b="0" dirty="0">
                <a:solidFill>
                  <a:srgbClr val="A5D6FF"/>
                </a:solidFill>
                <a:effectLst/>
                <a:latin typeface="pplxSansMono"/>
              </a:rPr>
              <a:t>"</a:t>
            </a:r>
            <a:r>
              <a:rPr lang="fr-FR" sz="1200" b="0" dirty="0">
                <a:solidFill>
                  <a:srgbClr val="BBBEBF"/>
                </a:solidFill>
                <a:effectLst/>
                <a:latin typeface="pplxSansMono"/>
              </a:rPr>
              <a:t>)</a:t>
            </a:r>
          </a:p>
          <a:p>
            <a:pPr>
              <a:buNone/>
            </a:pPr>
            <a:r>
              <a:rPr lang="fr-FR" sz="1200" b="0" dirty="0">
                <a:solidFill>
                  <a:srgbClr val="BBBEBF"/>
                </a:solidFill>
                <a:effectLst/>
                <a:latin typeface="pplxSansMono"/>
              </a:rPr>
              <a:t>)</a:t>
            </a:r>
          </a:p>
        </p:txBody>
      </p:sp>
      <p:sp>
        <p:nvSpPr>
          <p:cNvPr id="10" name="ZoneTexte 9">
            <a:extLst>
              <a:ext uri="{FF2B5EF4-FFF2-40B4-BE49-F238E27FC236}">
                <a16:creationId xmlns:a16="http://schemas.microsoft.com/office/drawing/2014/main" id="{E0E99E3D-5902-BEC2-B2DE-302B29069FDE}"/>
              </a:ext>
            </a:extLst>
          </p:cNvPr>
          <p:cNvSpPr txBox="1"/>
          <p:nvPr/>
        </p:nvSpPr>
        <p:spPr>
          <a:xfrm>
            <a:off x="216000" y="426609"/>
            <a:ext cx="678054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2) Calculer la médiane des nombre d’avis pour tous les logements</a:t>
            </a:r>
          </a:p>
        </p:txBody>
      </p:sp>
      <p:sp>
        <p:nvSpPr>
          <p:cNvPr id="4" name="ZoneTexte 3">
            <a:extLst>
              <a:ext uri="{FF2B5EF4-FFF2-40B4-BE49-F238E27FC236}">
                <a16:creationId xmlns:a16="http://schemas.microsoft.com/office/drawing/2014/main" id="{A8BB6683-1BD3-486C-3CFB-2BD269D20C05}"/>
              </a:ext>
            </a:extLst>
          </p:cNvPr>
          <p:cNvSpPr txBox="1"/>
          <p:nvPr/>
        </p:nvSpPr>
        <p:spPr>
          <a:xfrm>
            <a:off x="367282" y="3346793"/>
            <a:ext cx="7696063" cy="116955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b="0" i="0" dirty="0">
                <a:solidFill>
                  <a:srgbClr val="D6D5D4"/>
                </a:solidFill>
                <a:effectLst/>
                <a:latin typeface="pplxSerif"/>
              </a:rPr>
              <a:t>La médiane est de seulement </a:t>
            </a:r>
            <a:r>
              <a:rPr lang="fr-FR" b="1" i="0" dirty="0">
                <a:solidFill>
                  <a:srgbClr val="D6D5D4"/>
                </a:solidFill>
                <a:effectLst/>
                <a:latin typeface="pplxSerif"/>
              </a:rPr>
              <a:t>3 avis</a:t>
            </a:r>
            <a:r>
              <a:rPr lang="fr-FR" dirty="0">
                <a:solidFill>
                  <a:srgbClr val="D6D5D4"/>
                </a:solidFill>
                <a:latin typeface="pplxSerif"/>
              </a:rPr>
              <a:t>,</a:t>
            </a:r>
            <a:r>
              <a:rPr lang="fr-FR" b="0" i="0" dirty="0">
                <a:solidFill>
                  <a:srgbClr val="D6D5D4"/>
                </a:solidFill>
                <a:effectLst/>
                <a:latin typeface="pplxSerif"/>
              </a:rPr>
              <a:t> ce qui veut dire que </a:t>
            </a:r>
            <a:r>
              <a:rPr lang="fr-FR" b="1" i="0" dirty="0">
                <a:solidFill>
                  <a:srgbClr val="D6D5D4"/>
                </a:solidFill>
                <a:effectLst/>
                <a:latin typeface="pplxSerif"/>
              </a:rPr>
              <a:t>la moitié des logements parisiens sur Airbnb ont 3 avis ou moins</a:t>
            </a:r>
            <a:r>
              <a:rPr lang="fr-FR" b="0" i="0" dirty="0">
                <a:solidFill>
                  <a:srgbClr val="D6D5D4"/>
                </a:solidFill>
                <a:effectLst/>
                <a:latin typeface="pplxSerif"/>
              </a:rPr>
              <a:t>. C'est très faible ! Cela révèle qu'une grande majorité des annonces sont </a:t>
            </a:r>
            <a:r>
              <a:rPr lang="fr-FR" b="1" i="0" dirty="0">
                <a:solidFill>
                  <a:srgbClr val="D6D5D4"/>
                </a:solidFill>
                <a:effectLst/>
                <a:latin typeface="pplxSerif"/>
              </a:rPr>
              <a:t>peu actives ou récentes</a:t>
            </a:r>
            <a:r>
              <a:rPr lang="fr-FR" b="0" i="0" dirty="0">
                <a:solidFill>
                  <a:srgbClr val="D6D5D4"/>
                </a:solidFill>
                <a:effectLst/>
                <a:latin typeface="pplxSerif"/>
              </a:rPr>
              <a:t>, tandis qu'une minorité de logements très populaires concentrent des centaines d'avis (comme le top 5 qu'on a vus dans la requête 2 de l'étape 1 avec plus de 2 000 avis). C'est une distribution très </a:t>
            </a:r>
            <a:r>
              <a:rPr lang="fr-FR" b="1" i="0" dirty="0">
                <a:solidFill>
                  <a:srgbClr val="D6D5D4"/>
                </a:solidFill>
                <a:effectLst/>
                <a:latin typeface="pplxSerif"/>
              </a:rPr>
              <a:t>asymétrique</a:t>
            </a:r>
            <a:r>
              <a:rPr lang="fr-FR" b="0" i="0" dirty="0">
                <a:solidFill>
                  <a:srgbClr val="D6D5D4"/>
                </a:solidFill>
                <a:effectLst/>
                <a:latin typeface="pplxSerif"/>
              </a:rPr>
              <a:t>.</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graphicFrame>
        <p:nvGraphicFramePr>
          <p:cNvPr id="2" name="Tableau 1">
            <a:extLst>
              <a:ext uri="{FF2B5EF4-FFF2-40B4-BE49-F238E27FC236}">
                <a16:creationId xmlns:a16="http://schemas.microsoft.com/office/drawing/2014/main" id="{3DCAEBAC-409E-67B0-765C-26F421D06E8A}"/>
              </a:ext>
            </a:extLst>
          </p:cNvPr>
          <p:cNvGraphicFramePr>
            <a:graphicFrameLocks noGrp="1"/>
          </p:cNvGraphicFramePr>
          <p:nvPr>
            <p:extLst>
              <p:ext uri="{D42A27DB-BD31-4B8C-83A1-F6EECF244321}">
                <p14:modId xmlns:p14="http://schemas.microsoft.com/office/powerpoint/2010/main" val="2109450024"/>
              </p:ext>
            </p:extLst>
          </p:nvPr>
        </p:nvGraphicFramePr>
        <p:xfrm>
          <a:off x="367282" y="2052366"/>
          <a:ext cx="5036706" cy="731520"/>
        </p:xfrm>
        <a:graphic>
          <a:graphicData uri="http://schemas.openxmlformats.org/drawingml/2006/table">
            <a:tbl>
              <a:tblPr/>
              <a:tblGrid>
                <a:gridCol w="2518353">
                  <a:extLst>
                    <a:ext uri="{9D8B030D-6E8A-4147-A177-3AD203B41FA5}">
                      <a16:colId xmlns:a16="http://schemas.microsoft.com/office/drawing/2014/main" val="831762733"/>
                    </a:ext>
                  </a:extLst>
                </a:gridCol>
                <a:gridCol w="2518353">
                  <a:extLst>
                    <a:ext uri="{9D8B030D-6E8A-4147-A177-3AD203B41FA5}">
                      <a16:colId xmlns:a16="http://schemas.microsoft.com/office/drawing/2014/main" val="2301051067"/>
                    </a:ext>
                  </a:extLst>
                </a:gridCol>
              </a:tblGrid>
              <a:tr h="323166">
                <a:tc>
                  <a:txBody>
                    <a:bodyPr/>
                    <a:lstStyle/>
                    <a:p>
                      <a:pPr algn="l">
                        <a:buNone/>
                      </a:pPr>
                      <a:r>
                        <a:rPr lang="fr-FR">
                          <a:effectLst/>
                        </a:rPr>
                        <a:t>Métrique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a:effectLst/>
                        </a:rPr>
                        <a:t>Résultat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707684386"/>
                  </a:ext>
                </a:extLst>
              </a:tr>
              <a:tr h="323166">
                <a:tc>
                  <a:txBody>
                    <a:bodyPr/>
                    <a:lstStyle/>
                    <a:p>
                      <a:pPr algn="l">
                        <a:buNone/>
                      </a:pPr>
                      <a:r>
                        <a:rPr lang="fr-FR" dirty="0">
                          <a:solidFill>
                            <a:schemeClr val="bg1"/>
                          </a:solidFill>
                          <a:effectLst/>
                        </a:rPr>
                        <a:t>Médiane des avis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b="1" dirty="0">
                          <a:solidFill>
                            <a:schemeClr val="bg1"/>
                          </a:solidFill>
                          <a:effectLst/>
                        </a:rPr>
                        <a:t>3 avis</a:t>
                      </a:r>
                      <a:endParaRPr lang="fr-FR" dirty="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90357240"/>
                  </a:ext>
                </a:extLst>
              </a:tr>
            </a:tbl>
          </a:graphicData>
        </a:graphic>
      </p:graphicFrame>
    </p:spTree>
    <p:extLst>
      <p:ext uri="{BB962C8B-B14F-4D97-AF65-F5344CB8AC3E}">
        <p14:creationId xmlns:p14="http://schemas.microsoft.com/office/powerpoint/2010/main" val="206561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F454E78C-94AB-488B-95BD-E4E2BB0D6915}"/>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ACB27D6D-731B-1BDA-8FC0-221059BB1353}"/>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F596B5B9-7361-5412-0ED5-E45A360FE667}"/>
              </a:ext>
            </a:extLst>
          </p:cNvPr>
          <p:cNvSpPr txBox="1"/>
          <p:nvPr/>
        </p:nvSpPr>
        <p:spPr>
          <a:xfrm>
            <a:off x="540000" y="-24526"/>
            <a:ext cx="7027886"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r>
              <a:rPr kumimoji="0" lang="fr-FR" sz="2400" b="1" i="0" u="none" strike="noStrike" kern="0" cap="none" spc="0" normalizeH="0" baseline="0" noProof="0" dirty="0">
                <a:ln>
                  <a:noFill/>
                </a:ln>
                <a:solidFill>
                  <a:srgbClr val="FFFFFF"/>
                </a:solidFill>
                <a:effectLst/>
                <a:uLnTx/>
                <a:uFillTx/>
                <a:latin typeface="Calibri Light"/>
                <a:cs typeface="Arial"/>
                <a:sym typeface="Arial"/>
              </a:rPr>
              <a:t> </a:t>
            </a:r>
            <a:r>
              <a:rPr kumimoji="0" lang="fr-FR" sz="2400" b="1" i="1" u="none" strike="noStrike" kern="0" cap="none" spc="0" normalizeH="0" baseline="0" noProof="0" dirty="0">
                <a:ln>
                  <a:noFill/>
                </a:ln>
                <a:solidFill>
                  <a:srgbClr val="EEFF41"/>
                </a:solidFill>
                <a:effectLst/>
                <a:uLnTx/>
                <a:uFillTx/>
                <a:latin typeface="Calibri Light"/>
                <a:cs typeface="Arial"/>
                <a:sym typeface="Arial"/>
              </a:rPr>
              <a:t>(avec Polars)</a:t>
            </a:r>
            <a:endParaRPr kumimoji="0" sz="2400" b="1" i="1" u="none" strike="noStrike" kern="0" cap="none" spc="0" normalizeH="0" baseline="0" noProof="0" dirty="0">
              <a:ln>
                <a:noFill/>
              </a:ln>
              <a:solidFill>
                <a:srgbClr val="EEFF41"/>
              </a:solidFill>
              <a:effectLst/>
              <a:uLnTx/>
              <a:uFillTx/>
              <a:latin typeface="Calibri Light"/>
              <a:cs typeface="Arial"/>
              <a:sym typeface="Arial"/>
            </a:endParaRPr>
          </a:p>
        </p:txBody>
      </p:sp>
      <p:sp>
        <p:nvSpPr>
          <p:cNvPr id="76" name="Rectangle 75">
            <a:extLst>
              <a:ext uri="{FF2B5EF4-FFF2-40B4-BE49-F238E27FC236}">
                <a16:creationId xmlns:a16="http://schemas.microsoft.com/office/drawing/2014/main" id="{B4C40D80-5A98-E523-AE40-C486392B9659}"/>
              </a:ext>
            </a:extLst>
          </p:cNvPr>
          <p:cNvSpPr/>
          <p:nvPr/>
        </p:nvSpPr>
        <p:spPr>
          <a:xfrm>
            <a:off x="449946" y="36822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35F117E3-28BC-13F4-1B10-EDBC810DCCD9}"/>
              </a:ext>
            </a:extLst>
          </p:cNvPr>
          <p:cNvSpPr txBox="1"/>
          <p:nvPr/>
        </p:nvSpPr>
        <p:spPr>
          <a:xfrm>
            <a:off x="216000" y="734386"/>
            <a:ext cx="8221418" cy="938719"/>
          </a:xfrm>
          <a:prstGeom prst="rect">
            <a:avLst/>
          </a:prstGeom>
          <a:noFill/>
        </p:spPr>
        <p:txBody>
          <a:bodyPr wrap="square">
            <a:spAutoFit/>
          </a:bodyPr>
          <a:lstStyle/>
          <a:p>
            <a:pPr>
              <a:buNone/>
            </a:pPr>
            <a:r>
              <a:rPr lang="fr-FR" sz="1100" b="0" dirty="0">
                <a:solidFill>
                  <a:srgbClr val="C9D1D9"/>
                </a:solidFill>
                <a:effectLst/>
                <a:latin typeface="pplxSansMono"/>
              </a:rPr>
              <a:t>req3</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C9D1D9"/>
                </a:solidFill>
                <a:effectLst/>
                <a:latin typeface="pplxSansMono"/>
              </a:rPr>
              <a:t>df</a:t>
            </a:r>
            <a:r>
              <a:rPr lang="fr-FR" sz="1100" b="0" dirty="0" err="1">
                <a:solidFill>
                  <a:srgbClr val="BBBEBF"/>
                </a:solidFill>
                <a:effectLst/>
                <a:latin typeface="pplxSansMono"/>
              </a:rPr>
              <a:t>.</a:t>
            </a:r>
            <a:r>
              <a:rPr lang="fr-FR" sz="1100" b="0" dirty="0" err="1">
                <a:solidFill>
                  <a:srgbClr val="D2A8FF"/>
                </a:solidFill>
                <a:effectLst/>
                <a:latin typeface="pplxSansMono"/>
              </a:rPr>
              <a:t>group_by</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host_is_superhost</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agg</a:t>
            </a:r>
            <a:r>
              <a:rPr lang="fr-FR" sz="1100" b="0" dirty="0">
                <a:solidFill>
                  <a:srgbClr val="BBBEBF"/>
                </a:solidFill>
                <a:effectLst/>
                <a:latin typeface="pplxSansMono"/>
              </a:rPr>
              <a:t>(</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number_of_reviews</a:t>
            </a:r>
            <a:r>
              <a:rPr lang="fr-FR" sz="1100" b="0" dirty="0">
                <a:solidFill>
                  <a:srgbClr val="A5D6FF"/>
                </a:solidFill>
                <a:effectLst/>
                <a:latin typeface="pplxSansMono"/>
              </a:rPr>
              <a:t>"</a:t>
            </a:r>
            <a:r>
              <a:rPr lang="fr-FR" sz="1100" b="0" dirty="0">
                <a:solidFill>
                  <a:srgbClr val="BBBEBF"/>
                </a:solidFill>
                <a:effectLst/>
                <a:latin typeface="pplxSansMono"/>
              </a:rPr>
              <a:t>).</a:t>
            </a:r>
            <a:r>
              <a:rPr lang="fr-FR" sz="1100" b="0" dirty="0" err="1">
                <a:solidFill>
                  <a:srgbClr val="D2A8FF"/>
                </a:solidFill>
                <a:effectLst/>
                <a:latin typeface="pplxSansMono"/>
              </a:rPr>
              <a:t>median</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mediane_avis</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D2A8FF"/>
                </a:solidFill>
                <a:effectLst/>
                <a:latin typeface="pplxSansMono"/>
              </a:rPr>
              <a:t>sort</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host_is_superhost</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a:t>
            </a:r>
          </a:p>
        </p:txBody>
      </p:sp>
      <p:sp>
        <p:nvSpPr>
          <p:cNvPr id="10" name="ZoneTexte 9">
            <a:extLst>
              <a:ext uri="{FF2B5EF4-FFF2-40B4-BE49-F238E27FC236}">
                <a16:creationId xmlns:a16="http://schemas.microsoft.com/office/drawing/2014/main" id="{DF2C2A6C-DF2D-77F4-8074-891CD25F398C}"/>
              </a:ext>
            </a:extLst>
          </p:cNvPr>
          <p:cNvSpPr txBox="1"/>
          <p:nvPr/>
        </p:nvSpPr>
        <p:spPr>
          <a:xfrm>
            <a:off x="216000" y="426609"/>
            <a:ext cx="678054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1" i="1" dirty="0">
                <a:solidFill>
                  <a:srgbClr val="FF0000"/>
                </a:solidFill>
                <a:latin typeface="Inter" panose="020B0604020202020204" charset="0"/>
              </a:rPr>
              <a:t>3</a:t>
            </a: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 Calculer la médiane des nombre d’avis par catégorie d’hôte</a:t>
            </a:r>
          </a:p>
        </p:txBody>
      </p:sp>
      <p:sp>
        <p:nvSpPr>
          <p:cNvPr id="4" name="ZoneTexte 3">
            <a:extLst>
              <a:ext uri="{FF2B5EF4-FFF2-40B4-BE49-F238E27FC236}">
                <a16:creationId xmlns:a16="http://schemas.microsoft.com/office/drawing/2014/main" id="{977F2C3B-5DF6-C7D1-986A-52B6A46088DF}"/>
              </a:ext>
            </a:extLst>
          </p:cNvPr>
          <p:cNvSpPr txBox="1"/>
          <p:nvPr/>
        </p:nvSpPr>
        <p:spPr>
          <a:xfrm>
            <a:off x="313883" y="3616956"/>
            <a:ext cx="7696063"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b="0" i="0" dirty="0">
                <a:solidFill>
                  <a:srgbClr val="D6D5D4"/>
                </a:solidFill>
                <a:effectLst/>
                <a:latin typeface="pplxSerif"/>
              </a:rPr>
              <a:t>La différence est </a:t>
            </a:r>
            <a:r>
              <a:rPr lang="fr-FR" b="1" i="0" dirty="0">
                <a:solidFill>
                  <a:srgbClr val="D6D5D4"/>
                </a:solidFill>
                <a:effectLst/>
                <a:latin typeface="pplxSerif"/>
              </a:rPr>
              <a:t>énorme</a:t>
            </a:r>
            <a:r>
              <a:rPr lang="fr-FR" dirty="0">
                <a:solidFill>
                  <a:srgbClr val="D6D5D4"/>
                </a:solidFill>
                <a:latin typeface="pplxSerif"/>
              </a:rPr>
              <a:t>,</a:t>
            </a:r>
            <a:r>
              <a:rPr lang="fr-FR" b="0" i="0" dirty="0">
                <a:solidFill>
                  <a:srgbClr val="D6D5D4"/>
                </a:solidFill>
                <a:effectLst/>
                <a:latin typeface="pplxSerif"/>
              </a:rPr>
              <a:t> les super hôtes ont une médiane de </a:t>
            </a:r>
            <a:r>
              <a:rPr lang="fr-FR" b="1" i="0" dirty="0">
                <a:solidFill>
                  <a:srgbClr val="D6D5D4"/>
                </a:solidFill>
                <a:effectLst/>
                <a:latin typeface="pplxSerif"/>
              </a:rPr>
              <a:t>24 avis</a:t>
            </a:r>
            <a:r>
              <a:rPr lang="fr-FR" b="0" i="0" dirty="0">
                <a:solidFill>
                  <a:srgbClr val="D6D5D4"/>
                </a:solidFill>
                <a:effectLst/>
                <a:latin typeface="pplxSerif"/>
              </a:rPr>
              <a:t> contre seulement </a:t>
            </a:r>
            <a:r>
              <a:rPr lang="fr-FR" b="1" i="0" dirty="0">
                <a:solidFill>
                  <a:srgbClr val="D6D5D4"/>
                </a:solidFill>
                <a:effectLst/>
                <a:latin typeface="pplxSerif"/>
              </a:rPr>
              <a:t>2 avis</a:t>
            </a:r>
            <a:r>
              <a:rPr lang="fr-FR" b="0" i="0" dirty="0">
                <a:solidFill>
                  <a:srgbClr val="D6D5D4"/>
                </a:solidFill>
                <a:effectLst/>
                <a:latin typeface="pplxSerif"/>
              </a:rPr>
              <a:t> pour les non super hôtes. C'est 12 fois plus ! Cela confirme que le label "super hôte" est directement lié à une </a:t>
            </a:r>
            <a:r>
              <a:rPr lang="fr-FR" b="1" i="0" dirty="0">
                <a:solidFill>
                  <a:srgbClr val="D6D5D4"/>
                </a:solidFill>
                <a:effectLst/>
                <a:latin typeface="pplxSerif"/>
              </a:rPr>
              <a:t>activité intense et régulière</a:t>
            </a:r>
            <a:r>
              <a:rPr lang="fr-FR" b="0" i="0" dirty="0">
                <a:solidFill>
                  <a:srgbClr val="D6D5D4"/>
                </a:solidFill>
                <a:effectLst/>
                <a:latin typeface="pplxSerif"/>
              </a:rPr>
              <a:t> sur la plateforme. Les super hôtes sont des hôtes expérimentés qui accueillent beaucoup plus de voyageurs, ce qui génère mécaniquement plus d'avis.</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graphicFrame>
        <p:nvGraphicFramePr>
          <p:cNvPr id="3" name="Tableau 2">
            <a:extLst>
              <a:ext uri="{FF2B5EF4-FFF2-40B4-BE49-F238E27FC236}">
                <a16:creationId xmlns:a16="http://schemas.microsoft.com/office/drawing/2014/main" id="{221AAF28-36D2-492F-497B-3576807AE0CC}"/>
              </a:ext>
            </a:extLst>
          </p:cNvPr>
          <p:cNvGraphicFramePr>
            <a:graphicFrameLocks noGrp="1"/>
          </p:cNvGraphicFramePr>
          <p:nvPr>
            <p:extLst>
              <p:ext uri="{D42A27DB-BD31-4B8C-83A1-F6EECF244321}">
                <p14:modId xmlns:p14="http://schemas.microsoft.com/office/powerpoint/2010/main" val="873739308"/>
              </p:ext>
            </p:extLst>
          </p:nvPr>
        </p:nvGraphicFramePr>
        <p:xfrm>
          <a:off x="367282" y="1676553"/>
          <a:ext cx="5874192" cy="1342888"/>
        </p:xfrm>
        <a:graphic>
          <a:graphicData uri="http://schemas.openxmlformats.org/drawingml/2006/table">
            <a:tbl>
              <a:tblPr/>
              <a:tblGrid>
                <a:gridCol w="2937096">
                  <a:extLst>
                    <a:ext uri="{9D8B030D-6E8A-4147-A177-3AD203B41FA5}">
                      <a16:colId xmlns:a16="http://schemas.microsoft.com/office/drawing/2014/main" val="2280811397"/>
                    </a:ext>
                  </a:extLst>
                </a:gridCol>
                <a:gridCol w="2937096">
                  <a:extLst>
                    <a:ext uri="{9D8B030D-6E8A-4147-A177-3AD203B41FA5}">
                      <a16:colId xmlns:a16="http://schemas.microsoft.com/office/drawing/2014/main" val="239794263"/>
                    </a:ext>
                  </a:extLst>
                </a:gridCol>
              </a:tblGrid>
              <a:tr h="335722">
                <a:tc>
                  <a:txBody>
                    <a:bodyPr/>
                    <a:lstStyle/>
                    <a:p>
                      <a:pPr algn="l">
                        <a:buNone/>
                      </a:pPr>
                      <a:r>
                        <a:rPr lang="fr-FR" sz="1200" dirty="0">
                          <a:effectLst/>
                        </a:rPr>
                        <a:t>Catégorie d'hôte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200">
                          <a:effectLst/>
                        </a:rPr>
                        <a:t>Médiane des avis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563394490"/>
                  </a:ext>
                </a:extLst>
              </a:tr>
              <a:tr h="335722">
                <a:tc>
                  <a:txBody>
                    <a:bodyPr/>
                    <a:lstStyle/>
                    <a:p>
                      <a:pPr algn="l">
                        <a:buNone/>
                      </a:pPr>
                      <a:r>
                        <a:rPr lang="fr-FR" sz="1200" dirty="0">
                          <a:solidFill>
                            <a:schemeClr val="bg1"/>
                          </a:solidFill>
                          <a:effectLst/>
                        </a:rPr>
                        <a:t>Super hôte ✅</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b="1">
                          <a:solidFill>
                            <a:schemeClr val="bg1"/>
                          </a:solidFill>
                          <a:effectLst/>
                        </a:rPr>
                        <a:t>24 avis</a:t>
                      </a:r>
                      <a:endParaRPr lang="fr-FR" sz="12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56426516"/>
                  </a:ext>
                </a:extLst>
              </a:tr>
              <a:tr h="335722">
                <a:tc>
                  <a:txBody>
                    <a:bodyPr/>
                    <a:lstStyle/>
                    <a:p>
                      <a:pPr algn="l">
                        <a:buNone/>
                      </a:pPr>
                      <a:r>
                        <a:rPr lang="fr-FR" sz="1200" dirty="0">
                          <a:solidFill>
                            <a:schemeClr val="bg1"/>
                          </a:solidFill>
                          <a:effectLst/>
                        </a:rPr>
                        <a:t>Non super hôte ❌</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b="1">
                          <a:solidFill>
                            <a:schemeClr val="bg1"/>
                          </a:solidFill>
                          <a:effectLst/>
                        </a:rPr>
                        <a:t>2 avis</a:t>
                      </a:r>
                      <a:endParaRPr lang="fr-FR" sz="1200">
                        <a:solidFill>
                          <a:schemeClr val="bg1"/>
                        </a:solidFill>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31138909"/>
                  </a:ext>
                </a:extLst>
              </a:tr>
              <a:tr h="335722">
                <a:tc>
                  <a:txBody>
                    <a:bodyPr/>
                    <a:lstStyle/>
                    <a:p>
                      <a:pPr algn="l">
                        <a:buNone/>
                      </a:pPr>
                      <a:r>
                        <a:rPr lang="fr-FR" sz="1200">
                          <a:solidFill>
                            <a:schemeClr val="bg1"/>
                          </a:solidFill>
                          <a:effectLst/>
                        </a:rPr>
                        <a:t>Non renseigné (null)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200" dirty="0">
                          <a:solidFill>
                            <a:schemeClr val="bg1"/>
                          </a:solidFill>
                          <a:effectLst/>
                        </a:rPr>
                        <a:t>12,5 avis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853377"/>
                  </a:ext>
                </a:extLst>
              </a:tr>
            </a:tbl>
          </a:graphicData>
        </a:graphic>
      </p:graphicFrame>
    </p:spTree>
    <p:extLst>
      <p:ext uri="{BB962C8B-B14F-4D97-AF65-F5344CB8AC3E}">
        <p14:creationId xmlns:p14="http://schemas.microsoft.com/office/powerpoint/2010/main" val="189822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E6E4BF38-C614-06DE-DC18-12B3720CE0DE}"/>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426DEAEC-1B08-4341-93A4-522A73BE7B80}"/>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E002AD7B-1C4B-E1D9-FDAD-0A777559F42F}"/>
              </a:ext>
            </a:extLst>
          </p:cNvPr>
          <p:cNvSpPr txBox="1"/>
          <p:nvPr/>
        </p:nvSpPr>
        <p:spPr>
          <a:xfrm>
            <a:off x="540000" y="-24526"/>
            <a:ext cx="7027886"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r>
              <a:rPr kumimoji="0" lang="fr-FR" sz="2400" b="1" i="0" u="none" strike="noStrike" kern="0" cap="none" spc="0" normalizeH="0" baseline="0" noProof="0" dirty="0">
                <a:ln>
                  <a:noFill/>
                </a:ln>
                <a:solidFill>
                  <a:srgbClr val="FFFFFF"/>
                </a:solidFill>
                <a:effectLst/>
                <a:uLnTx/>
                <a:uFillTx/>
                <a:latin typeface="Calibri Light"/>
                <a:cs typeface="Arial"/>
                <a:sym typeface="Arial"/>
              </a:rPr>
              <a:t> </a:t>
            </a:r>
            <a:r>
              <a:rPr kumimoji="0" lang="fr-FR" sz="2400" b="1" i="1" u="none" strike="noStrike" kern="0" cap="none" spc="0" normalizeH="0" baseline="0" noProof="0" dirty="0">
                <a:ln>
                  <a:noFill/>
                </a:ln>
                <a:solidFill>
                  <a:srgbClr val="EEFF41"/>
                </a:solidFill>
                <a:effectLst/>
                <a:uLnTx/>
                <a:uFillTx/>
                <a:latin typeface="Calibri Light"/>
                <a:cs typeface="Arial"/>
                <a:sym typeface="Arial"/>
              </a:rPr>
              <a:t>(avec Polars)</a:t>
            </a:r>
            <a:endParaRPr kumimoji="0" sz="2400" b="1" i="1" u="none" strike="noStrike" kern="0" cap="none" spc="0" normalizeH="0" baseline="0" noProof="0" dirty="0">
              <a:ln>
                <a:noFill/>
              </a:ln>
              <a:solidFill>
                <a:srgbClr val="EEFF41"/>
              </a:solidFill>
              <a:effectLst/>
              <a:uLnTx/>
              <a:uFillTx/>
              <a:latin typeface="Calibri Light"/>
              <a:cs typeface="Arial"/>
              <a:sym typeface="Arial"/>
            </a:endParaRPr>
          </a:p>
        </p:txBody>
      </p:sp>
      <p:sp>
        <p:nvSpPr>
          <p:cNvPr id="76" name="Rectangle 75">
            <a:extLst>
              <a:ext uri="{FF2B5EF4-FFF2-40B4-BE49-F238E27FC236}">
                <a16:creationId xmlns:a16="http://schemas.microsoft.com/office/drawing/2014/main" id="{3F7D3CDB-36B7-428E-D444-70EE2860CDE3}"/>
              </a:ext>
            </a:extLst>
          </p:cNvPr>
          <p:cNvSpPr/>
          <p:nvPr/>
        </p:nvSpPr>
        <p:spPr>
          <a:xfrm>
            <a:off x="449946" y="36822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7A4D0667-0FFE-CBBF-F78B-9662390CA4D6}"/>
              </a:ext>
            </a:extLst>
          </p:cNvPr>
          <p:cNvSpPr txBox="1"/>
          <p:nvPr/>
        </p:nvSpPr>
        <p:spPr>
          <a:xfrm>
            <a:off x="216000" y="734386"/>
            <a:ext cx="8221418" cy="938719"/>
          </a:xfrm>
          <a:prstGeom prst="rect">
            <a:avLst/>
          </a:prstGeom>
          <a:noFill/>
        </p:spPr>
        <p:txBody>
          <a:bodyPr wrap="square">
            <a:spAutoFit/>
          </a:bodyPr>
          <a:lstStyle/>
          <a:p>
            <a:pPr>
              <a:buNone/>
            </a:pPr>
            <a:r>
              <a:rPr lang="fr-FR" sz="1100" b="0" dirty="0">
                <a:solidFill>
                  <a:srgbClr val="C9D1D9"/>
                </a:solidFill>
                <a:effectLst/>
                <a:latin typeface="pplxSansMono"/>
              </a:rPr>
              <a:t>req4</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C9D1D9"/>
                </a:solidFill>
                <a:effectLst/>
                <a:latin typeface="pplxSansMono"/>
              </a:rPr>
              <a:t>df</a:t>
            </a:r>
            <a:r>
              <a:rPr lang="fr-FR" sz="1100" b="0" dirty="0" err="1">
                <a:solidFill>
                  <a:srgbClr val="BBBEBF"/>
                </a:solidFill>
                <a:effectLst/>
                <a:latin typeface="pplxSansMono"/>
              </a:rPr>
              <a:t>.</a:t>
            </a:r>
            <a:r>
              <a:rPr lang="fr-FR" sz="1100" b="0" dirty="0" err="1">
                <a:solidFill>
                  <a:srgbClr val="D2A8FF"/>
                </a:solidFill>
                <a:effectLst/>
                <a:latin typeface="pplxSansMono"/>
              </a:rPr>
              <a:t>group_by</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neighbourhood_cleansed</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agg</a:t>
            </a:r>
            <a:r>
              <a:rPr lang="fr-FR" sz="1100" b="0" dirty="0">
                <a:solidFill>
                  <a:srgbClr val="BBBEBF"/>
                </a:solidFill>
                <a:effectLst/>
                <a:latin typeface="pplxSansMono"/>
              </a:rPr>
              <a:t>(</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D2A8FF"/>
                </a:solidFill>
                <a:effectLst/>
                <a:latin typeface="pplxSansMono"/>
              </a:rPr>
              <a:t>len</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nb_logements</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D2A8FF"/>
                </a:solidFill>
                <a:effectLst/>
                <a:latin typeface="pplxSansMono"/>
              </a:rPr>
              <a:t>sort</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nb_logements</a:t>
            </a:r>
            <a:r>
              <a:rPr lang="fr-FR" sz="1100" b="0" dirty="0">
                <a:solidFill>
                  <a:srgbClr val="A5D6FF"/>
                </a:solidFill>
                <a:effectLst/>
                <a:latin typeface="pplxSansMono"/>
              </a:rPr>
              <a:t>"</a:t>
            </a:r>
            <a:r>
              <a:rPr lang="fr-FR" sz="1100" b="0" dirty="0">
                <a:solidFill>
                  <a:srgbClr val="BBBEBF"/>
                </a:solidFill>
                <a:effectLst/>
                <a:latin typeface="pplxSansMono"/>
              </a:rPr>
              <a:t>, </a:t>
            </a:r>
            <a:r>
              <a:rPr lang="fr-FR" sz="1100" b="0" dirty="0" err="1">
                <a:solidFill>
                  <a:srgbClr val="FFA657"/>
                </a:solidFill>
                <a:effectLst/>
                <a:latin typeface="pplxSansMono"/>
              </a:rPr>
              <a:t>descending</a:t>
            </a:r>
            <a:r>
              <a:rPr lang="fr-FR" sz="1100" b="0" dirty="0">
                <a:solidFill>
                  <a:srgbClr val="D4D4D4"/>
                </a:solidFill>
                <a:effectLst/>
                <a:latin typeface="pplxSansMono"/>
              </a:rPr>
              <a:t>=</a:t>
            </a:r>
            <a:r>
              <a:rPr lang="fr-FR" sz="1100" b="0" dirty="0">
                <a:solidFill>
                  <a:srgbClr val="569CD6"/>
                </a:solidFill>
                <a:effectLst/>
                <a:latin typeface="pplxSansMono"/>
              </a:rPr>
              <a:t>True</a:t>
            </a:r>
            <a:r>
              <a:rPr lang="fr-FR" sz="1100" b="0" dirty="0">
                <a:solidFill>
                  <a:srgbClr val="BBBEBF"/>
                </a:solidFill>
                <a:effectLst/>
                <a:latin typeface="pplxSansMono"/>
              </a:rPr>
              <a:t>)</a:t>
            </a:r>
          </a:p>
          <a:p>
            <a:pPr>
              <a:buNone/>
            </a:pPr>
            <a:r>
              <a:rPr lang="fr-FR" sz="1100" b="0" dirty="0">
                <a:solidFill>
                  <a:srgbClr val="BBBEBF"/>
                </a:solidFill>
                <a:effectLst/>
                <a:latin typeface="pplxSansMono"/>
              </a:rPr>
              <a:t>)</a:t>
            </a:r>
          </a:p>
        </p:txBody>
      </p:sp>
      <p:sp>
        <p:nvSpPr>
          <p:cNvPr id="10" name="ZoneTexte 9">
            <a:extLst>
              <a:ext uri="{FF2B5EF4-FFF2-40B4-BE49-F238E27FC236}">
                <a16:creationId xmlns:a16="http://schemas.microsoft.com/office/drawing/2014/main" id="{D10FA487-A20F-7DB9-C10F-78FDAFBDBB12}"/>
              </a:ext>
            </a:extLst>
          </p:cNvPr>
          <p:cNvSpPr txBox="1"/>
          <p:nvPr/>
        </p:nvSpPr>
        <p:spPr>
          <a:xfrm>
            <a:off x="216000" y="426609"/>
            <a:ext cx="678054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1" i="1" dirty="0">
                <a:solidFill>
                  <a:srgbClr val="FF0000"/>
                </a:solidFill>
                <a:latin typeface="Inter" panose="020B0604020202020204" charset="0"/>
              </a:rPr>
              <a:t>4</a:t>
            </a: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 Calculer la densité de logements par quartier de Paris</a:t>
            </a:r>
          </a:p>
        </p:txBody>
      </p:sp>
      <p:sp>
        <p:nvSpPr>
          <p:cNvPr id="4" name="ZoneTexte 3">
            <a:extLst>
              <a:ext uri="{FF2B5EF4-FFF2-40B4-BE49-F238E27FC236}">
                <a16:creationId xmlns:a16="http://schemas.microsoft.com/office/drawing/2014/main" id="{804CB8A5-5C8D-254B-DD8C-B1A47A642079}"/>
              </a:ext>
            </a:extLst>
          </p:cNvPr>
          <p:cNvSpPr txBox="1"/>
          <p:nvPr/>
        </p:nvSpPr>
        <p:spPr>
          <a:xfrm>
            <a:off x="3433090" y="1980882"/>
            <a:ext cx="5654203" cy="160043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b="1" i="0" dirty="0">
                <a:solidFill>
                  <a:srgbClr val="D6D5D4"/>
                </a:solidFill>
                <a:effectLst/>
                <a:latin typeface="pplxSerif"/>
              </a:rPr>
              <a:t>Buttes-Montmartre</a:t>
            </a:r>
            <a:r>
              <a:rPr lang="fr-FR" b="0" i="0" dirty="0">
                <a:solidFill>
                  <a:srgbClr val="D6D5D4"/>
                </a:solidFill>
                <a:effectLst/>
                <a:latin typeface="pplxSerif"/>
              </a:rPr>
              <a:t> domine largement avec </a:t>
            </a:r>
            <a:r>
              <a:rPr lang="fr-FR" b="1" i="0" dirty="0">
                <a:solidFill>
                  <a:srgbClr val="D6D5D4"/>
                </a:solidFill>
                <a:effectLst/>
                <a:latin typeface="pplxSerif"/>
              </a:rPr>
              <a:t>10 555 logements</a:t>
            </a:r>
            <a:r>
              <a:rPr lang="fr-FR" b="0" i="0" dirty="0">
                <a:solidFill>
                  <a:srgbClr val="D6D5D4"/>
                </a:solidFill>
                <a:effectLst/>
                <a:latin typeface="pplxSerif"/>
              </a:rPr>
              <a:t>, soit 5x plus que le quartier le moins dense (Louvre). Les quartiers les plus denses sont des </a:t>
            </a:r>
            <a:r>
              <a:rPr lang="fr-FR" b="1" i="0" dirty="0">
                <a:solidFill>
                  <a:srgbClr val="D6D5D4"/>
                </a:solidFill>
                <a:effectLst/>
                <a:latin typeface="pplxSerif"/>
              </a:rPr>
              <a:t>zones résidentielles populaires</a:t>
            </a:r>
            <a:r>
              <a:rPr lang="fr-FR" b="0" i="0" dirty="0">
                <a:solidFill>
                  <a:srgbClr val="D6D5D4"/>
                </a:solidFill>
                <a:effectLst/>
                <a:latin typeface="pplxSerif"/>
              </a:rPr>
              <a:t> comme Montmartre, Popincourt ou Vaugirard, pas comme les quartiers touristiques du centre. Paradoxalement, les quartiers ultra-touristiques comme le </a:t>
            </a:r>
            <a:r>
              <a:rPr lang="fr-FR" b="1" i="0" dirty="0">
                <a:solidFill>
                  <a:srgbClr val="D6D5D4"/>
                </a:solidFill>
                <a:effectLst/>
                <a:latin typeface="pplxSerif"/>
              </a:rPr>
              <a:t>Louvre ou le Luxembourg</a:t>
            </a:r>
            <a:r>
              <a:rPr lang="fr-FR" b="0" i="0" dirty="0">
                <a:solidFill>
                  <a:srgbClr val="D6D5D4"/>
                </a:solidFill>
                <a:effectLst/>
                <a:latin typeface="pplxSerif"/>
              </a:rPr>
              <a:t> ont peu d'annonces, probablement à cause des prix immobiliers très élevés qui limitent l'offre.</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graphicFrame>
        <p:nvGraphicFramePr>
          <p:cNvPr id="2" name="Tableau 1">
            <a:extLst>
              <a:ext uri="{FF2B5EF4-FFF2-40B4-BE49-F238E27FC236}">
                <a16:creationId xmlns:a16="http://schemas.microsoft.com/office/drawing/2014/main" id="{8501C7C3-8BF1-D2EC-B1C6-EB5991070E23}"/>
              </a:ext>
            </a:extLst>
          </p:cNvPr>
          <p:cNvGraphicFramePr>
            <a:graphicFrameLocks noGrp="1"/>
          </p:cNvGraphicFramePr>
          <p:nvPr>
            <p:extLst>
              <p:ext uri="{D42A27DB-BD31-4B8C-83A1-F6EECF244321}">
                <p14:modId xmlns:p14="http://schemas.microsoft.com/office/powerpoint/2010/main" val="2696248551"/>
              </p:ext>
            </p:extLst>
          </p:nvPr>
        </p:nvGraphicFramePr>
        <p:xfrm>
          <a:off x="400827" y="1673105"/>
          <a:ext cx="2847436" cy="3416304"/>
        </p:xfrm>
        <a:graphic>
          <a:graphicData uri="http://schemas.openxmlformats.org/drawingml/2006/table">
            <a:tbl>
              <a:tblPr/>
              <a:tblGrid>
                <a:gridCol w="365443">
                  <a:extLst>
                    <a:ext uri="{9D8B030D-6E8A-4147-A177-3AD203B41FA5}">
                      <a16:colId xmlns:a16="http://schemas.microsoft.com/office/drawing/2014/main" val="465187509"/>
                    </a:ext>
                  </a:extLst>
                </a:gridCol>
                <a:gridCol w="1524000">
                  <a:extLst>
                    <a:ext uri="{9D8B030D-6E8A-4147-A177-3AD203B41FA5}">
                      <a16:colId xmlns:a16="http://schemas.microsoft.com/office/drawing/2014/main" val="2027824141"/>
                    </a:ext>
                  </a:extLst>
                </a:gridCol>
                <a:gridCol w="957993">
                  <a:extLst>
                    <a:ext uri="{9D8B030D-6E8A-4147-A177-3AD203B41FA5}">
                      <a16:colId xmlns:a16="http://schemas.microsoft.com/office/drawing/2014/main" val="3339727082"/>
                    </a:ext>
                  </a:extLst>
                </a:gridCol>
              </a:tblGrid>
              <a:tr h="284692">
                <a:tc>
                  <a:txBody>
                    <a:bodyPr/>
                    <a:lstStyle/>
                    <a:p>
                      <a:pPr algn="l">
                        <a:buNone/>
                      </a:pPr>
                      <a:r>
                        <a:rPr lang="fr-FR" sz="1050">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50">
                          <a:effectLst/>
                        </a:rPr>
                        <a:t>Quartier</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50">
                          <a:effectLst/>
                        </a:rPr>
                        <a:t>Nb logements</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50693822"/>
                  </a:ext>
                </a:extLst>
              </a:tr>
              <a:tr h="284692">
                <a:tc>
                  <a:txBody>
                    <a:bodyPr/>
                    <a:lstStyle/>
                    <a:p>
                      <a:pPr algn="l">
                        <a:buNone/>
                      </a:pPr>
                      <a:r>
                        <a:rPr lang="fr-FR" sz="1050" dirty="0">
                          <a:solidFill>
                            <a:schemeClr val="bg1"/>
                          </a:solidFill>
                          <a:effectLst/>
                        </a:rPr>
                        <a:t>1</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Buttes-Montmartre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a:solidFill>
                            <a:schemeClr val="bg1"/>
                          </a:solidFill>
                          <a:effectLst/>
                        </a:rPr>
                        <a:t>10 555</a:t>
                      </a:r>
                      <a:endParaRPr lang="fr-FR" sz="105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48724172"/>
                  </a:ext>
                </a:extLst>
              </a:tr>
              <a:tr h="284692">
                <a:tc>
                  <a:txBody>
                    <a:bodyPr/>
                    <a:lstStyle/>
                    <a:p>
                      <a:pPr algn="l">
                        <a:buNone/>
                      </a:pPr>
                      <a:r>
                        <a:rPr lang="fr-FR" sz="1050" dirty="0">
                          <a:solidFill>
                            <a:schemeClr val="bg1"/>
                          </a:solidFill>
                          <a:effectLst/>
                        </a:rPr>
                        <a:t>2</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Popincourt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dirty="0">
                          <a:solidFill>
                            <a:schemeClr val="bg1"/>
                          </a:solidFill>
                          <a:effectLst/>
                        </a:rPr>
                        <a:t>8 430</a:t>
                      </a:r>
                      <a:endParaRPr lang="fr-FR" sz="1050" dirty="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24913403"/>
                  </a:ext>
                </a:extLst>
              </a:tr>
              <a:tr h="284692">
                <a:tc>
                  <a:txBody>
                    <a:bodyPr/>
                    <a:lstStyle/>
                    <a:p>
                      <a:pPr algn="l">
                        <a:buNone/>
                      </a:pPr>
                      <a:r>
                        <a:rPr lang="fr-FR" sz="1050">
                          <a:solidFill>
                            <a:schemeClr val="bg1"/>
                          </a:solidFill>
                          <a:effectLst/>
                        </a:rPr>
                        <a:t>3</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Vaugirard</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a:solidFill>
                            <a:schemeClr val="bg1"/>
                          </a:solidFill>
                          <a:effectLst/>
                        </a:rPr>
                        <a:t>7 802</a:t>
                      </a:r>
                      <a:endParaRPr lang="fr-FR" sz="105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47472675"/>
                  </a:ext>
                </a:extLst>
              </a:tr>
              <a:tr h="284692">
                <a:tc>
                  <a:txBody>
                    <a:bodyPr/>
                    <a:lstStyle/>
                    <a:p>
                      <a:pPr algn="l">
                        <a:buNone/>
                      </a:pPr>
                      <a:r>
                        <a:rPr lang="fr-FR" sz="1050">
                          <a:solidFill>
                            <a:schemeClr val="bg1"/>
                          </a:solidFill>
                          <a:effectLst/>
                        </a:rPr>
                        <a:t>4</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Batignolles-Monceau</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a:solidFill>
                            <a:schemeClr val="bg1"/>
                          </a:solidFill>
                          <a:effectLst/>
                        </a:rPr>
                        <a:t>6 857</a:t>
                      </a:r>
                      <a:endParaRPr lang="fr-FR" sz="105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30003400"/>
                  </a:ext>
                </a:extLst>
              </a:tr>
              <a:tr h="284692">
                <a:tc>
                  <a:txBody>
                    <a:bodyPr/>
                    <a:lstStyle/>
                    <a:p>
                      <a:pPr algn="l">
                        <a:buNone/>
                      </a:pPr>
                      <a:r>
                        <a:rPr lang="fr-FR" sz="1050">
                          <a:solidFill>
                            <a:schemeClr val="bg1"/>
                          </a:solidFill>
                          <a:effectLst/>
                        </a:rPr>
                        <a:t>5</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Entrepôt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a:solidFill>
                            <a:schemeClr val="bg1"/>
                          </a:solidFill>
                          <a:effectLst/>
                        </a:rPr>
                        <a:t>6 558</a:t>
                      </a:r>
                      <a:endParaRPr lang="fr-FR" sz="105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62866200"/>
                  </a:ext>
                </a:extLst>
              </a:tr>
              <a:tr h="284692">
                <a:tc>
                  <a:txBody>
                    <a:bodyPr/>
                    <a:lstStyle/>
                    <a:p>
                      <a:pPr algn="l">
                        <a:buNone/>
                      </a:pPr>
                      <a:r>
                        <a:rPr lang="fr-FR" sz="105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54224421"/>
                  </a:ext>
                </a:extLst>
              </a:tr>
              <a:tr h="284692">
                <a:tc>
                  <a:txBody>
                    <a:bodyPr/>
                    <a:lstStyle/>
                    <a:p>
                      <a:pPr algn="l">
                        <a:buNone/>
                      </a:pPr>
                      <a:r>
                        <a:rPr lang="fr-FR" sz="1050">
                          <a:solidFill>
                            <a:schemeClr val="bg1"/>
                          </a:solidFill>
                          <a:effectLst/>
                        </a:rPr>
                        <a:t>16</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Élysée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2 898</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103665328"/>
                  </a:ext>
                </a:extLst>
              </a:tr>
              <a:tr h="284692">
                <a:tc>
                  <a:txBody>
                    <a:bodyPr/>
                    <a:lstStyle/>
                    <a:p>
                      <a:pPr algn="l">
                        <a:buNone/>
                      </a:pPr>
                      <a:r>
                        <a:rPr lang="fr-FR" sz="1050">
                          <a:solidFill>
                            <a:schemeClr val="bg1"/>
                          </a:solidFill>
                          <a:effectLst/>
                        </a:rPr>
                        <a:t>17</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Hôtel-de-Ville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2 821</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5047297"/>
                  </a:ext>
                </a:extLst>
              </a:tr>
              <a:tr h="284692">
                <a:tc>
                  <a:txBody>
                    <a:bodyPr/>
                    <a:lstStyle/>
                    <a:p>
                      <a:pPr algn="l">
                        <a:buNone/>
                      </a:pPr>
                      <a:r>
                        <a:rPr lang="fr-FR" sz="1050">
                          <a:solidFill>
                            <a:schemeClr val="bg1"/>
                          </a:solidFill>
                          <a:effectLst/>
                        </a:rPr>
                        <a:t>18</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Palais-Bourbon</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2 740</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50338101"/>
                  </a:ext>
                </a:extLst>
              </a:tr>
              <a:tr h="284692">
                <a:tc>
                  <a:txBody>
                    <a:bodyPr/>
                    <a:lstStyle/>
                    <a:p>
                      <a:pPr algn="l">
                        <a:buNone/>
                      </a:pPr>
                      <a:r>
                        <a:rPr lang="fr-FR" sz="1050">
                          <a:solidFill>
                            <a:schemeClr val="bg1"/>
                          </a:solidFill>
                          <a:effectLst/>
                        </a:rPr>
                        <a:t>19</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Luxembourg</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2 701</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76929643"/>
                  </a:ext>
                </a:extLst>
              </a:tr>
              <a:tr h="284692">
                <a:tc>
                  <a:txBody>
                    <a:bodyPr/>
                    <a:lstStyle/>
                    <a:p>
                      <a:pPr algn="l">
                        <a:buNone/>
                      </a:pPr>
                      <a:r>
                        <a:rPr lang="fr-FR" sz="1050">
                          <a:solidFill>
                            <a:schemeClr val="bg1"/>
                          </a:solidFill>
                          <a:effectLst/>
                        </a:rPr>
                        <a:t>20</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rPr>
                        <a:t>Louvre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b="1" dirty="0">
                          <a:solidFill>
                            <a:schemeClr val="bg1"/>
                          </a:solidFill>
                          <a:effectLst/>
                        </a:rPr>
                        <a:t>2 026</a:t>
                      </a:r>
                      <a:endParaRPr lang="fr-FR" sz="1050" dirty="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656138"/>
                  </a:ext>
                </a:extLst>
              </a:tr>
            </a:tbl>
          </a:graphicData>
        </a:graphic>
      </p:graphicFrame>
    </p:spTree>
    <p:extLst>
      <p:ext uri="{BB962C8B-B14F-4D97-AF65-F5344CB8AC3E}">
        <p14:creationId xmlns:p14="http://schemas.microsoft.com/office/powerpoint/2010/main" val="1047084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6251175C-3976-020E-08B6-F8274CB0BC92}"/>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5E05EC89-616C-E747-B5AF-1E8952BABC9A}"/>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18ACB1F1-EC62-4BDE-C283-57615857B7F5}"/>
              </a:ext>
            </a:extLst>
          </p:cNvPr>
          <p:cNvSpPr txBox="1"/>
          <p:nvPr/>
        </p:nvSpPr>
        <p:spPr>
          <a:xfrm>
            <a:off x="540000" y="-24526"/>
            <a:ext cx="7027886" cy="46166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r>
              <a:rPr kumimoji="0" lang="fr-FR" sz="2400" b="1" i="0" u="none" strike="noStrike" kern="0" cap="none" spc="0" normalizeH="0" baseline="0" noProof="0" dirty="0">
                <a:ln>
                  <a:noFill/>
                </a:ln>
                <a:solidFill>
                  <a:srgbClr val="FFFFFF"/>
                </a:solidFill>
                <a:effectLst/>
                <a:uLnTx/>
                <a:uFillTx/>
                <a:latin typeface="Calibri Light"/>
                <a:cs typeface="Arial"/>
                <a:sym typeface="Arial"/>
              </a:rPr>
              <a:t> </a:t>
            </a:r>
            <a:r>
              <a:rPr kumimoji="0" lang="fr-FR" sz="2400" b="1" i="1" u="none" strike="noStrike" kern="0" cap="none" spc="0" normalizeH="0" baseline="0" noProof="0" dirty="0">
                <a:ln>
                  <a:noFill/>
                </a:ln>
                <a:solidFill>
                  <a:srgbClr val="EEFF41"/>
                </a:solidFill>
                <a:effectLst/>
                <a:uLnTx/>
                <a:uFillTx/>
                <a:latin typeface="Calibri Light"/>
                <a:cs typeface="Arial"/>
                <a:sym typeface="Arial"/>
              </a:rPr>
              <a:t>(avec Polars)</a:t>
            </a:r>
            <a:endParaRPr kumimoji="0" sz="2400" b="1" i="1" u="none" strike="noStrike" kern="0" cap="none" spc="0" normalizeH="0" baseline="0" noProof="0" dirty="0">
              <a:ln>
                <a:noFill/>
              </a:ln>
              <a:solidFill>
                <a:srgbClr val="EEFF41"/>
              </a:solidFill>
              <a:effectLst/>
              <a:uLnTx/>
              <a:uFillTx/>
              <a:latin typeface="Calibri Light"/>
              <a:cs typeface="Arial"/>
              <a:sym typeface="Arial"/>
            </a:endParaRPr>
          </a:p>
        </p:txBody>
      </p:sp>
      <p:sp>
        <p:nvSpPr>
          <p:cNvPr id="76" name="Rectangle 75">
            <a:extLst>
              <a:ext uri="{FF2B5EF4-FFF2-40B4-BE49-F238E27FC236}">
                <a16:creationId xmlns:a16="http://schemas.microsoft.com/office/drawing/2014/main" id="{BAC92D4F-6437-8441-0B49-3181FF5A9153}"/>
              </a:ext>
            </a:extLst>
          </p:cNvPr>
          <p:cNvSpPr/>
          <p:nvPr/>
        </p:nvSpPr>
        <p:spPr>
          <a:xfrm>
            <a:off x="449946" y="36822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ZoneTexte 4">
            <a:extLst>
              <a:ext uri="{FF2B5EF4-FFF2-40B4-BE49-F238E27FC236}">
                <a16:creationId xmlns:a16="http://schemas.microsoft.com/office/drawing/2014/main" id="{9EF5E376-75EE-3807-950B-757EC35E270F}"/>
              </a:ext>
            </a:extLst>
          </p:cNvPr>
          <p:cNvSpPr txBox="1"/>
          <p:nvPr/>
        </p:nvSpPr>
        <p:spPr>
          <a:xfrm>
            <a:off x="216000" y="734386"/>
            <a:ext cx="8221418" cy="1446550"/>
          </a:xfrm>
          <a:prstGeom prst="rect">
            <a:avLst/>
          </a:prstGeom>
          <a:noFill/>
        </p:spPr>
        <p:txBody>
          <a:bodyPr wrap="square">
            <a:spAutoFit/>
          </a:bodyPr>
          <a:lstStyle/>
          <a:p>
            <a:pPr>
              <a:buNone/>
            </a:pPr>
            <a:r>
              <a:rPr lang="fr-FR" sz="1100" b="0" dirty="0">
                <a:solidFill>
                  <a:srgbClr val="C9D1D9"/>
                </a:solidFill>
                <a:effectLst/>
                <a:latin typeface="pplxSansMono"/>
              </a:rPr>
              <a:t>req5</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C9D1D9"/>
                </a:solidFill>
                <a:effectLst/>
                <a:latin typeface="pplxSansMono"/>
              </a:rPr>
              <a:t>df</a:t>
            </a:r>
            <a:r>
              <a:rPr lang="fr-FR" sz="1100" b="0" dirty="0" err="1">
                <a:solidFill>
                  <a:srgbClr val="BBBEBF"/>
                </a:solidFill>
                <a:effectLst/>
                <a:latin typeface="pplxSansMono"/>
              </a:rPr>
              <a:t>.</a:t>
            </a:r>
            <a:r>
              <a:rPr lang="fr-FR" sz="1100" b="0" dirty="0" err="1">
                <a:solidFill>
                  <a:srgbClr val="D2A8FF"/>
                </a:solidFill>
                <a:effectLst/>
                <a:latin typeface="pplxSansMono"/>
              </a:rPr>
              <a:t>with_columns</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B5CEA8"/>
                </a:solidFill>
                <a:effectLst/>
                <a:latin typeface="pplxSansMono"/>
              </a:rPr>
              <a:t>365</a:t>
            </a:r>
            <a:r>
              <a:rPr lang="fr-FR" sz="1100" b="0" dirty="0">
                <a:solidFill>
                  <a:srgbClr val="BBBEBF"/>
                </a:solidFill>
                <a:effectLst/>
                <a:latin typeface="pplxSansMono"/>
              </a:rPr>
              <a:t> </a:t>
            </a:r>
            <a:r>
              <a:rPr lang="fr-FR" sz="1100" b="0" dirty="0">
                <a:solidFill>
                  <a:srgbClr val="D4D4D4"/>
                </a:solidFill>
                <a:effectLst/>
                <a:latin typeface="pplxSansMono"/>
              </a:rPr>
              <a:t>-</a:t>
            </a:r>
            <a:r>
              <a:rPr lang="fr-FR" sz="1100" b="0" dirty="0">
                <a:solidFill>
                  <a:srgbClr val="BBBEBF"/>
                </a:solidFill>
                <a:effectLst/>
                <a:latin typeface="pplxSansMono"/>
              </a:rPr>
              <a:t> </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"availability_365"</a:t>
            </a:r>
            <a:r>
              <a:rPr lang="fr-FR" sz="1100" b="0" dirty="0">
                <a:solidFill>
                  <a:srgbClr val="BBBEBF"/>
                </a:solidFill>
                <a:effectLst/>
                <a:latin typeface="pplxSansMono"/>
              </a:rPr>
              <a:t>)) </a:t>
            </a:r>
            <a:r>
              <a:rPr lang="fr-FR" sz="1100" b="0" dirty="0">
                <a:solidFill>
                  <a:srgbClr val="DCDCAA"/>
                </a:solidFill>
                <a:effectLst/>
                <a:latin typeface="pplxSansMono"/>
              </a:rPr>
              <a:t>/</a:t>
            </a:r>
            <a:r>
              <a:rPr lang="fr-FR" sz="1100" b="0" dirty="0">
                <a:solidFill>
                  <a:srgbClr val="BBBEBF"/>
                </a:solidFill>
                <a:effectLst/>
                <a:latin typeface="pplxSansMono"/>
              </a:rPr>
              <a:t> </a:t>
            </a:r>
            <a:r>
              <a:rPr lang="fr-FR" sz="1100" b="0" dirty="0">
                <a:solidFill>
                  <a:srgbClr val="B5CEA8"/>
                </a:solidFill>
                <a:effectLst/>
                <a:latin typeface="pplxSansMono"/>
              </a:rPr>
              <a:t>365</a:t>
            </a:r>
            <a:r>
              <a:rPr lang="fr-FR" sz="1100" b="0" dirty="0">
                <a:solidFill>
                  <a:srgbClr val="BBBEBF"/>
                </a:solidFill>
                <a:effectLst/>
                <a:latin typeface="pplxSansMono"/>
              </a:rPr>
              <a:t> </a:t>
            </a:r>
            <a:r>
              <a:rPr lang="fr-FR" sz="1100" b="0" dirty="0">
                <a:solidFill>
                  <a:srgbClr val="DCDCAA"/>
                </a:solidFill>
                <a:effectLst/>
                <a:latin typeface="pplxSansMono"/>
              </a:rPr>
              <a:t>*</a:t>
            </a:r>
            <a:r>
              <a:rPr lang="fr-FR" sz="1100" b="0" dirty="0">
                <a:solidFill>
                  <a:srgbClr val="BBBEBF"/>
                </a:solidFill>
                <a:effectLst/>
                <a:latin typeface="pplxSansMono"/>
              </a:rPr>
              <a:t> </a:t>
            </a:r>
            <a:r>
              <a:rPr lang="fr-FR" sz="1100" b="0" dirty="0">
                <a:solidFill>
                  <a:srgbClr val="B5CEA8"/>
                </a:solidFill>
                <a:effectLst/>
                <a:latin typeface="pplxSansMono"/>
              </a:rPr>
              <a:t>100</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taux_reservation</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group_by</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neighbourhood_cleansed</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err="1">
                <a:solidFill>
                  <a:srgbClr val="D2A8FF"/>
                </a:solidFill>
                <a:effectLst/>
                <a:latin typeface="pplxSansMono"/>
              </a:rPr>
              <a:t>agg</a:t>
            </a:r>
            <a:r>
              <a:rPr lang="fr-FR" sz="1100" b="0" dirty="0">
                <a:solidFill>
                  <a:srgbClr val="BBBEBF"/>
                </a:solidFill>
                <a:effectLst/>
                <a:latin typeface="pplxSansMono"/>
              </a:rPr>
              <a:t>(</a:t>
            </a:r>
            <a:r>
              <a:rPr lang="fr-FR" sz="1100" b="0" dirty="0" err="1">
                <a:solidFill>
                  <a:srgbClr val="4EC9B0"/>
                </a:solidFill>
                <a:effectLst/>
                <a:latin typeface="pplxSansMono"/>
              </a:rPr>
              <a:t>pl</a:t>
            </a:r>
            <a:r>
              <a:rPr lang="fr-FR" sz="1100" b="0" dirty="0" err="1">
                <a:solidFill>
                  <a:srgbClr val="BBBEBF"/>
                </a:solidFill>
                <a:effectLst/>
                <a:latin typeface="pplxSansMono"/>
              </a:rPr>
              <a:t>.</a:t>
            </a:r>
            <a:r>
              <a:rPr lang="fr-FR" sz="1100" b="0" dirty="0" err="1">
                <a:solidFill>
                  <a:srgbClr val="C9D1D9"/>
                </a:solidFill>
                <a:effectLst/>
                <a:latin typeface="pplxSansMono"/>
              </a:rPr>
              <a:t>col</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taux_reservation</a:t>
            </a:r>
            <a:r>
              <a:rPr lang="fr-FR" sz="1100" b="0" dirty="0">
                <a:solidFill>
                  <a:srgbClr val="A5D6FF"/>
                </a:solidFill>
                <a:effectLst/>
                <a:latin typeface="pplxSansMono"/>
              </a:rPr>
              <a:t>"</a:t>
            </a:r>
            <a:r>
              <a:rPr lang="fr-FR" sz="1100" b="0" dirty="0">
                <a:solidFill>
                  <a:srgbClr val="BBBEBF"/>
                </a:solidFill>
                <a:effectLst/>
                <a:latin typeface="pplxSansMono"/>
              </a:rPr>
              <a:t>).</a:t>
            </a:r>
            <a:r>
              <a:rPr lang="fr-FR" sz="1100" b="0" dirty="0" err="1">
                <a:solidFill>
                  <a:srgbClr val="D2A8FF"/>
                </a:solidFill>
                <a:effectLst/>
                <a:latin typeface="pplxSansMono"/>
              </a:rPr>
              <a:t>mean</a:t>
            </a:r>
            <a:r>
              <a:rPr lang="fr-FR" sz="1100" b="0" dirty="0">
                <a:solidFill>
                  <a:srgbClr val="BBBEBF"/>
                </a:solidFill>
                <a:effectLst/>
                <a:latin typeface="pplxSansMono"/>
              </a:rPr>
              <a:t>().</a:t>
            </a:r>
            <a:r>
              <a:rPr lang="fr-FR" sz="1100" b="0" dirty="0">
                <a:solidFill>
                  <a:srgbClr val="D2A8FF"/>
                </a:solidFill>
                <a:effectLst/>
                <a:latin typeface="pplxSansMono"/>
              </a:rPr>
              <a:t>round</a:t>
            </a:r>
            <a:r>
              <a:rPr lang="fr-FR" sz="1100" b="0" dirty="0">
                <a:solidFill>
                  <a:srgbClr val="BBBEBF"/>
                </a:solidFill>
                <a:effectLst/>
                <a:latin typeface="pplxSansMono"/>
              </a:rPr>
              <a:t>(</a:t>
            </a:r>
            <a:r>
              <a:rPr lang="fr-FR" sz="1100" b="0" dirty="0">
                <a:solidFill>
                  <a:srgbClr val="B5CEA8"/>
                </a:solidFill>
                <a:effectLst/>
                <a:latin typeface="pplxSansMono"/>
              </a:rPr>
              <a:t>2</a:t>
            </a:r>
            <a:r>
              <a:rPr lang="fr-FR" sz="1100" b="0" dirty="0">
                <a:solidFill>
                  <a:srgbClr val="BBBEBF"/>
                </a:solidFill>
                <a:effectLst/>
                <a:latin typeface="pplxSansMono"/>
              </a:rPr>
              <a:t>).</a:t>
            </a:r>
            <a:r>
              <a:rPr lang="fr-FR" sz="1100" b="0" dirty="0">
                <a:solidFill>
                  <a:srgbClr val="D2A8FF"/>
                </a:solidFill>
                <a:effectLst/>
                <a:latin typeface="pplxSansMono"/>
              </a:rPr>
              <a:t>alias</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taux_moyen</a:t>
            </a:r>
            <a:r>
              <a:rPr lang="fr-FR" sz="1100" b="0" dirty="0">
                <a:solidFill>
                  <a:srgbClr val="A5D6FF"/>
                </a:solidFill>
                <a:effectLst/>
                <a:latin typeface="pplxSansMono"/>
              </a:rPr>
              <a:t>"</a:t>
            </a:r>
            <a:r>
              <a:rPr lang="fr-FR" sz="1100" b="0" dirty="0">
                <a:solidFill>
                  <a:srgbClr val="BBBEBF"/>
                </a:solidFill>
                <a:effectLst/>
                <a:latin typeface="pplxSansMono"/>
              </a:rPr>
              <a:t>))</a:t>
            </a:r>
          </a:p>
          <a:p>
            <a:pPr>
              <a:buNone/>
            </a:pPr>
            <a:r>
              <a:rPr lang="fr-FR" sz="1100" b="0" dirty="0">
                <a:solidFill>
                  <a:srgbClr val="BBBEBF"/>
                </a:solidFill>
                <a:effectLst/>
                <a:latin typeface="pplxSansMono"/>
              </a:rPr>
              <a:t>    .</a:t>
            </a:r>
            <a:r>
              <a:rPr lang="fr-FR" sz="1100" b="0" dirty="0">
                <a:solidFill>
                  <a:srgbClr val="D2A8FF"/>
                </a:solidFill>
                <a:effectLst/>
                <a:latin typeface="pplxSansMono"/>
              </a:rPr>
              <a:t>sort</a:t>
            </a:r>
            <a:r>
              <a:rPr lang="fr-FR" sz="1100" b="0" dirty="0">
                <a:solidFill>
                  <a:srgbClr val="BBBEBF"/>
                </a:solidFill>
                <a:effectLst/>
                <a:latin typeface="pplxSansMono"/>
              </a:rPr>
              <a:t>(</a:t>
            </a:r>
            <a:r>
              <a:rPr lang="fr-FR" sz="1100" b="0" dirty="0">
                <a:solidFill>
                  <a:srgbClr val="A5D6FF"/>
                </a:solidFill>
                <a:effectLst/>
                <a:latin typeface="pplxSansMono"/>
              </a:rPr>
              <a:t>"</a:t>
            </a:r>
            <a:r>
              <a:rPr lang="fr-FR" sz="1100" b="0" dirty="0" err="1">
                <a:solidFill>
                  <a:srgbClr val="A5D6FF"/>
                </a:solidFill>
                <a:effectLst/>
                <a:latin typeface="pplxSansMono"/>
              </a:rPr>
              <a:t>taux_moyen</a:t>
            </a:r>
            <a:r>
              <a:rPr lang="fr-FR" sz="1100" b="0" dirty="0">
                <a:solidFill>
                  <a:srgbClr val="A5D6FF"/>
                </a:solidFill>
                <a:effectLst/>
                <a:latin typeface="pplxSansMono"/>
              </a:rPr>
              <a:t>"</a:t>
            </a:r>
            <a:r>
              <a:rPr lang="fr-FR" sz="1100" b="0" dirty="0">
                <a:solidFill>
                  <a:srgbClr val="BBBEBF"/>
                </a:solidFill>
                <a:effectLst/>
                <a:latin typeface="pplxSansMono"/>
              </a:rPr>
              <a:t>, </a:t>
            </a:r>
            <a:r>
              <a:rPr lang="fr-FR" sz="1100" b="0" dirty="0" err="1">
                <a:solidFill>
                  <a:srgbClr val="FFA657"/>
                </a:solidFill>
                <a:effectLst/>
                <a:latin typeface="pplxSansMono"/>
              </a:rPr>
              <a:t>descending</a:t>
            </a:r>
            <a:r>
              <a:rPr lang="fr-FR" sz="1100" b="0" dirty="0">
                <a:solidFill>
                  <a:srgbClr val="D4D4D4"/>
                </a:solidFill>
                <a:effectLst/>
                <a:latin typeface="pplxSansMono"/>
              </a:rPr>
              <a:t>=</a:t>
            </a:r>
            <a:r>
              <a:rPr lang="fr-FR" sz="1100" b="0" dirty="0">
                <a:solidFill>
                  <a:srgbClr val="569CD6"/>
                </a:solidFill>
                <a:effectLst/>
                <a:latin typeface="pplxSansMono"/>
              </a:rPr>
              <a:t>True</a:t>
            </a:r>
            <a:r>
              <a:rPr lang="fr-FR" sz="1100" b="0" dirty="0">
                <a:solidFill>
                  <a:srgbClr val="BBBEBF"/>
                </a:solidFill>
                <a:effectLst/>
                <a:latin typeface="pplxSansMono"/>
              </a:rPr>
              <a:t>)</a:t>
            </a:r>
          </a:p>
          <a:p>
            <a:pPr>
              <a:buNone/>
            </a:pPr>
            <a:r>
              <a:rPr lang="fr-FR" sz="1100" b="0" dirty="0">
                <a:solidFill>
                  <a:srgbClr val="BBBEBF"/>
                </a:solidFill>
                <a:effectLst/>
                <a:latin typeface="pplxSansMono"/>
              </a:rPr>
              <a:t>)</a:t>
            </a:r>
          </a:p>
        </p:txBody>
      </p:sp>
      <p:sp>
        <p:nvSpPr>
          <p:cNvPr id="10" name="ZoneTexte 9">
            <a:extLst>
              <a:ext uri="{FF2B5EF4-FFF2-40B4-BE49-F238E27FC236}">
                <a16:creationId xmlns:a16="http://schemas.microsoft.com/office/drawing/2014/main" id="{1C76F4D1-8830-5B07-9941-73D93933918A}"/>
              </a:ext>
            </a:extLst>
          </p:cNvPr>
          <p:cNvSpPr txBox="1"/>
          <p:nvPr/>
        </p:nvSpPr>
        <p:spPr>
          <a:xfrm>
            <a:off x="216000" y="426609"/>
            <a:ext cx="678054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b="1" i="1" dirty="0">
                <a:solidFill>
                  <a:srgbClr val="FF0000"/>
                </a:solidFill>
                <a:latin typeface="Inter" panose="020B0604020202020204" charset="0"/>
              </a:rPr>
              <a:t>5</a:t>
            </a:r>
            <a:r>
              <a:rPr kumimoji="0" lang="fr-FR" sz="1400" b="1" i="1" u="none" strike="noStrike" kern="0" cap="none" spc="0" normalizeH="0" baseline="0" noProof="0" dirty="0">
                <a:ln>
                  <a:noFill/>
                </a:ln>
                <a:solidFill>
                  <a:srgbClr val="FF0000"/>
                </a:solidFill>
                <a:effectLst/>
                <a:uLnTx/>
                <a:uFillTx/>
                <a:latin typeface="Inter" panose="020B0604020202020204" charset="0"/>
                <a:cs typeface="Arial"/>
                <a:sym typeface="Arial"/>
              </a:rPr>
              <a:t>) Identifier les quartiers avec le plus fort taux de réservation par mois</a:t>
            </a:r>
          </a:p>
        </p:txBody>
      </p:sp>
      <p:sp>
        <p:nvSpPr>
          <p:cNvPr id="4" name="ZoneTexte 3">
            <a:extLst>
              <a:ext uri="{FF2B5EF4-FFF2-40B4-BE49-F238E27FC236}">
                <a16:creationId xmlns:a16="http://schemas.microsoft.com/office/drawing/2014/main" id="{3877CE42-EC5C-C9E8-D0F7-8DCA475335DB}"/>
              </a:ext>
            </a:extLst>
          </p:cNvPr>
          <p:cNvSpPr txBox="1"/>
          <p:nvPr/>
        </p:nvSpPr>
        <p:spPr>
          <a:xfrm>
            <a:off x="216000" y="2861999"/>
            <a:ext cx="5654203" cy="160043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fr-FR" b="1" i="0" dirty="0">
                <a:solidFill>
                  <a:srgbClr val="D6D5D4"/>
                </a:solidFill>
                <a:effectLst/>
                <a:latin typeface="pplxSerif"/>
              </a:rPr>
              <a:t>Ménilmontant</a:t>
            </a:r>
            <a:r>
              <a:rPr lang="fr-FR" b="0" i="0" dirty="0">
                <a:solidFill>
                  <a:srgbClr val="D6D5D4"/>
                </a:solidFill>
                <a:effectLst/>
                <a:latin typeface="pplxSerif"/>
              </a:rPr>
              <a:t> arrive en tête avec </a:t>
            </a:r>
            <a:r>
              <a:rPr lang="fr-FR" b="1" i="0" dirty="0">
                <a:solidFill>
                  <a:srgbClr val="D6D5D4"/>
                </a:solidFill>
                <a:effectLst/>
                <a:latin typeface="pplxSerif"/>
              </a:rPr>
              <a:t>71,08%</a:t>
            </a:r>
            <a:r>
              <a:rPr lang="fr-FR" b="0" i="0" dirty="0">
                <a:solidFill>
                  <a:srgbClr val="D6D5D4"/>
                </a:solidFill>
                <a:effectLst/>
                <a:latin typeface="pplxSerif"/>
              </a:rPr>
              <a:t> de taux de réservation, suivi des quartiers populaires du nord-est parisien. C'est une tendance claire : les </a:t>
            </a:r>
            <a:r>
              <a:rPr lang="fr-FR" b="1" i="0" dirty="0">
                <a:solidFill>
                  <a:srgbClr val="D6D5D4"/>
                </a:solidFill>
                <a:effectLst/>
                <a:latin typeface="pplxSerif"/>
              </a:rPr>
              <a:t>quartiers résidentiels et populaires</a:t>
            </a:r>
            <a:r>
              <a:rPr lang="fr-FR" b="0" i="0" dirty="0">
                <a:solidFill>
                  <a:srgbClr val="D6D5D4"/>
                </a:solidFill>
                <a:effectLst/>
                <a:latin typeface="pplxSerif"/>
              </a:rPr>
              <a:t> (Ménilmontant, Buttes-Chaumont, Montmartre) sont plus réservés que les quartiers </a:t>
            </a:r>
            <a:r>
              <a:rPr lang="fr-FR" b="1" i="0" dirty="0">
                <a:solidFill>
                  <a:srgbClr val="D6D5D4"/>
                </a:solidFill>
                <a:effectLst/>
                <a:latin typeface="pplxSerif"/>
              </a:rPr>
              <a:t>huppés et touristiques</a:t>
            </a:r>
            <a:r>
              <a:rPr lang="fr-FR" b="0" i="0" dirty="0">
                <a:solidFill>
                  <a:srgbClr val="D6D5D4"/>
                </a:solidFill>
                <a:effectLst/>
                <a:latin typeface="pplxSerif"/>
              </a:rPr>
              <a:t> comme l'Élysée ou Passy. Cela s'explique par des prix plus abordables qui attirent davantage de voyageurs à la recherche de bonnes affaires.</a:t>
            </a:r>
            <a:endParaRPr kumimoji="0" lang="fr-FR" sz="1400" b="0" i="0" u="none" strike="noStrike" kern="0" cap="none" spc="0" normalizeH="0" baseline="0" noProof="0" dirty="0">
              <a:ln>
                <a:noFill/>
              </a:ln>
              <a:solidFill>
                <a:srgbClr val="000000"/>
              </a:solidFill>
              <a:effectLst/>
              <a:uLnTx/>
              <a:uFillTx/>
              <a:latin typeface="Aptos Display" panose="020B0004020202020204" pitchFamily="34" charset="0"/>
              <a:cs typeface="Arial"/>
              <a:sym typeface="Arial"/>
            </a:endParaRPr>
          </a:p>
        </p:txBody>
      </p:sp>
      <p:graphicFrame>
        <p:nvGraphicFramePr>
          <p:cNvPr id="3" name="Tableau 2">
            <a:extLst>
              <a:ext uri="{FF2B5EF4-FFF2-40B4-BE49-F238E27FC236}">
                <a16:creationId xmlns:a16="http://schemas.microsoft.com/office/drawing/2014/main" id="{20D43EE7-78FB-8656-03F5-6C44E99A79DE}"/>
              </a:ext>
            </a:extLst>
          </p:cNvPr>
          <p:cNvGraphicFramePr>
            <a:graphicFrameLocks noGrp="1"/>
          </p:cNvGraphicFramePr>
          <p:nvPr>
            <p:extLst>
              <p:ext uri="{D42A27DB-BD31-4B8C-83A1-F6EECF244321}">
                <p14:modId xmlns:p14="http://schemas.microsoft.com/office/powerpoint/2010/main" val="511032164"/>
              </p:ext>
            </p:extLst>
          </p:nvPr>
        </p:nvGraphicFramePr>
        <p:xfrm>
          <a:off x="5893723" y="854178"/>
          <a:ext cx="2928915" cy="3435144"/>
        </p:xfrm>
        <a:graphic>
          <a:graphicData uri="http://schemas.openxmlformats.org/drawingml/2006/table">
            <a:tbl>
              <a:tblPr/>
              <a:tblGrid>
                <a:gridCol w="274330">
                  <a:extLst>
                    <a:ext uri="{9D8B030D-6E8A-4147-A177-3AD203B41FA5}">
                      <a16:colId xmlns:a16="http://schemas.microsoft.com/office/drawing/2014/main" val="3348508796"/>
                    </a:ext>
                  </a:extLst>
                </a:gridCol>
                <a:gridCol w="1286529">
                  <a:extLst>
                    <a:ext uri="{9D8B030D-6E8A-4147-A177-3AD203B41FA5}">
                      <a16:colId xmlns:a16="http://schemas.microsoft.com/office/drawing/2014/main" val="2247161050"/>
                    </a:ext>
                  </a:extLst>
                </a:gridCol>
                <a:gridCol w="1368056">
                  <a:extLst>
                    <a:ext uri="{9D8B030D-6E8A-4147-A177-3AD203B41FA5}">
                      <a16:colId xmlns:a16="http://schemas.microsoft.com/office/drawing/2014/main" val="1458457814"/>
                    </a:ext>
                  </a:extLst>
                </a:gridCol>
              </a:tblGrid>
              <a:tr h="284692">
                <a:tc>
                  <a:txBody>
                    <a:bodyPr/>
                    <a:lstStyle/>
                    <a:p>
                      <a:pPr algn="l">
                        <a:buNone/>
                      </a:pPr>
                      <a:r>
                        <a:rPr lang="fr-FR" sz="1100" dirty="0">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dirty="0">
                          <a:effectLst/>
                        </a:rPr>
                        <a:t>Quartier</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100">
                          <a:effectLst/>
                        </a:rPr>
                        <a:t>Taux de réservation</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647930233"/>
                  </a:ext>
                </a:extLst>
              </a:tr>
              <a:tr h="284692">
                <a:tc>
                  <a:txBody>
                    <a:bodyPr/>
                    <a:lstStyle/>
                    <a:p>
                      <a:pPr algn="l">
                        <a:buNone/>
                      </a:pPr>
                      <a:r>
                        <a:rPr lang="fr-FR" sz="1100" dirty="0">
                          <a:solidFill>
                            <a:schemeClr val="bg1"/>
                          </a:solidFill>
                          <a:effectLst/>
                        </a:rPr>
                        <a:t>1</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Ménilmontant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71,08%</a:t>
                      </a:r>
                      <a:endParaRPr lang="fr-FR" sz="110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97847823"/>
                  </a:ext>
                </a:extLst>
              </a:tr>
              <a:tr h="284692">
                <a:tc>
                  <a:txBody>
                    <a:bodyPr/>
                    <a:lstStyle/>
                    <a:p>
                      <a:pPr algn="l">
                        <a:buNone/>
                      </a:pPr>
                      <a:r>
                        <a:rPr lang="fr-FR" sz="1100" dirty="0">
                          <a:solidFill>
                            <a:schemeClr val="bg1"/>
                          </a:solidFill>
                          <a:effectLst/>
                        </a:rPr>
                        <a:t>2</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Buttes-Chaumont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69,73%</a:t>
                      </a:r>
                      <a:endParaRPr lang="fr-FR" sz="110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21191278"/>
                  </a:ext>
                </a:extLst>
              </a:tr>
              <a:tr h="284692">
                <a:tc>
                  <a:txBody>
                    <a:bodyPr/>
                    <a:lstStyle/>
                    <a:p>
                      <a:pPr algn="l">
                        <a:buNone/>
                      </a:pPr>
                      <a:r>
                        <a:rPr lang="fr-FR" sz="1100" dirty="0">
                          <a:solidFill>
                            <a:schemeClr val="bg1"/>
                          </a:solidFill>
                          <a:effectLst/>
                        </a:rPr>
                        <a:t>3</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Buttes-Montmartre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dirty="0">
                          <a:solidFill>
                            <a:schemeClr val="bg1"/>
                          </a:solidFill>
                          <a:effectLst/>
                        </a:rPr>
                        <a:t>69,25%</a:t>
                      </a:r>
                      <a:endParaRPr lang="fr-FR" sz="1100" dirty="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28454102"/>
                  </a:ext>
                </a:extLst>
              </a:tr>
              <a:tr h="284692">
                <a:tc>
                  <a:txBody>
                    <a:bodyPr/>
                    <a:lstStyle/>
                    <a:p>
                      <a:pPr algn="l">
                        <a:buNone/>
                      </a:pPr>
                      <a:r>
                        <a:rPr lang="fr-FR" sz="1100" dirty="0">
                          <a:solidFill>
                            <a:schemeClr val="bg1"/>
                          </a:solidFill>
                          <a:effectLst/>
                        </a:rPr>
                        <a:t>4</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Entrepôt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68,99%</a:t>
                      </a:r>
                      <a:endParaRPr lang="fr-FR" sz="110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23329772"/>
                  </a:ext>
                </a:extLst>
              </a:tr>
              <a:tr h="284692">
                <a:tc>
                  <a:txBody>
                    <a:bodyPr/>
                    <a:lstStyle/>
                    <a:p>
                      <a:pPr algn="l">
                        <a:buNone/>
                      </a:pPr>
                      <a:r>
                        <a:rPr lang="fr-FR" sz="1100">
                          <a:solidFill>
                            <a:schemeClr val="bg1"/>
                          </a:solidFill>
                          <a:effectLst/>
                        </a:rPr>
                        <a:t>5</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Popincourt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a:solidFill>
                            <a:schemeClr val="bg1"/>
                          </a:solidFill>
                          <a:effectLst/>
                        </a:rPr>
                        <a:t>68,87%</a:t>
                      </a:r>
                      <a:endParaRPr lang="fr-FR" sz="110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82636862"/>
                  </a:ext>
                </a:extLst>
              </a:tr>
              <a:tr h="284692">
                <a:tc>
                  <a:txBody>
                    <a:bodyPr/>
                    <a:lstStyle/>
                    <a:p>
                      <a:pPr algn="l">
                        <a:buNone/>
                      </a:pPr>
                      <a:r>
                        <a:rPr lang="fr-FR" sz="110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9564743"/>
                  </a:ext>
                </a:extLst>
              </a:tr>
              <a:tr h="284692">
                <a:tc>
                  <a:txBody>
                    <a:bodyPr/>
                    <a:lstStyle/>
                    <a:p>
                      <a:pPr algn="l">
                        <a:buNone/>
                      </a:pPr>
                      <a:r>
                        <a:rPr lang="fr-FR" sz="1100">
                          <a:solidFill>
                            <a:schemeClr val="bg1"/>
                          </a:solidFill>
                          <a:effectLst/>
                        </a:rPr>
                        <a:t>16</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Luxembourg</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60,24%</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148030593"/>
                  </a:ext>
                </a:extLst>
              </a:tr>
              <a:tr h="284692">
                <a:tc>
                  <a:txBody>
                    <a:bodyPr/>
                    <a:lstStyle/>
                    <a:p>
                      <a:pPr algn="l">
                        <a:buNone/>
                      </a:pPr>
                      <a:r>
                        <a:rPr lang="fr-FR" sz="1100">
                          <a:solidFill>
                            <a:schemeClr val="bg1"/>
                          </a:solidFill>
                          <a:effectLst/>
                        </a:rPr>
                        <a:t>17</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Louvre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57,97%</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20484298"/>
                  </a:ext>
                </a:extLst>
              </a:tr>
              <a:tr h="284692">
                <a:tc>
                  <a:txBody>
                    <a:bodyPr/>
                    <a:lstStyle/>
                    <a:p>
                      <a:pPr algn="l">
                        <a:buNone/>
                      </a:pPr>
                      <a:r>
                        <a:rPr lang="fr-FR" sz="1100">
                          <a:solidFill>
                            <a:schemeClr val="bg1"/>
                          </a:solidFill>
                          <a:effectLst/>
                        </a:rPr>
                        <a:t>18</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Bourse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57,49%</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23336496"/>
                  </a:ext>
                </a:extLst>
              </a:tr>
              <a:tr h="284692">
                <a:tc>
                  <a:txBody>
                    <a:bodyPr/>
                    <a:lstStyle/>
                    <a:p>
                      <a:pPr algn="l">
                        <a:buNone/>
                      </a:pPr>
                      <a:r>
                        <a:rPr lang="fr-FR" sz="1100">
                          <a:solidFill>
                            <a:schemeClr val="bg1"/>
                          </a:solidFill>
                          <a:effectLst/>
                        </a:rPr>
                        <a:t>19</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Passy</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dirty="0">
                          <a:solidFill>
                            <a:schemeClr val="bg1"/>
                          </a:solidFill>
                          <a:effectLst/>
                        </a:rPr>
                        <a:t>56,62%</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50878286"/>
                  </a:ext>
                </a:extLst>
              </a:tr>
              <a:tr h="284692">
                <a:tc>
                  <a:txBody>
                    <a:bodyPr/>
                    <a:lstStyle/>
                    <a:p>
                      <a:pPr algn="l">
                        <a:buNone/>
                      </a:pPr>
                      <a:r>
                        <a:rPr lang="fr-FR" sz="1100">
                          <a:solidFill>
                            <a:schemeClr val="bg1"/>
                          </a:solidFill>
                          <a:effectLst/>
                        </a:rPr>
                        <a:t>20</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a:solidFill>
                            <a:schemeClr val="bg1"/>
                          </a:solidFill>
                          <a:effectLst/>
                        </a:rPr>
                        <a:t>Élysée</a:t>
                      </a: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100" b="1" dirty="0">
                          <a:solidFill>
                            <a:schemeClr val="bg1"/>
                          </a:solidFill>
                          <a:effectLst/>
                        </a:rPr>
                        <a:t>53,68%</a:t>
                      </a:r>
                      <a:endParaRPr lang="fr-FR" sz="1100" dirty="0">
                        <a:solidFill>
                          <a:schemeClr val="bg1"/>
                        </a:solidFill>
                        <a:effectLst/>
                      </a:endParaRPr>
                    </a:p>
                  </a:txBody>
                  <a:tcPr marL="59311" marR="59311" marT="59311" marB="59311"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63741425"/>
                  </a:ext>
                </a:extLst>
              </a:tr>
            </a:tbl>
          </a:graphicData>
        </a:graphic>
      </p:graphicFrame>
    </p:spTree>
    <p:extLst>
      <p:ext uri="{BB962C8B-B14F-4D97-AF65-F5344CB8AC3E}">
        <p14:creationId xmlns:p14="http://schemas.microsoft.com/office/powerpoint/2010/main" val="1775297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1C8631D1-256A-457E-87E8-C93DC4F8F92B}"/>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D9EB1FDD-58BB-D166-69E4-5E77825C21E7}"/>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3D2E9BA8-1ED7-82A2-4DC3-13E1D0C2FE81}"/>
              </a:ext>
            </a:extLst>
          </p:cNvPr>
          <p:cNvSpPr txBox="1"/>
          <p:nvPr/>
        </p:nvSpPr>
        <p:spPr>
          <a:xfrm>
            <a:off x="436091" y="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5815A499-AE5E-A52C-8A2C-88F73B270217}"/>
              </a:ext>
            </a:extLst>
          </p:cNvPr>
          <p:cNvSpPr/>
          <p:nvPr/>
        </p:nvSpPr>
        <p:spPr>
          <a:xfrm>
            <a:off x="436091" y="44574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TextBox 76">
            <a:extLst>
              <a:ext uri="{FF2B5EF4-FFF2-40B4-BE49-F238E27FC236}">
                <a16:creationId xmlns:a16="http://schemas.microsoft.com/office/drawing/2014/main" id="{C597338B-6E3F-E919-511D-C6B40056BA96}"/>
              </a:ext>
            </a:extLst>
          </p:cNvPr>
          <p:cNvSpPr txBox="1"/>
          <p:nvPr/>
        </p:nvSpPr>
        <p:spPr>
          <a:xfrm>
            <a:off x="373745" y="470943"/>
            <a:ext cx="79200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1" u="none" strike="noStrike" kern="0" cap="none" spc="0" normalizeH="0" baseline="0" noProof="0" dirty="0">
                <a:ln>
                  <a:noFill/>
                </a:ln>
                <a:solidFill>
                  <a:srgbClr val="FFFFFF"/>
                </a:solidFill>
                <a:effectLst/>
                <a:uLnTx/>
                <a:uFillTx/>
                <a:latin typeface="Calibri"/>
                <a:cs typeface="Arial"/>
                <a:sym typeface="Arial"/>
              </a:rPr>
              <a:t>■  La démarche pour connecter MongoDB à un </a:t>
            </a:r>
            <a:r>
              <a:rPr kumimoji="0" sz="1400" b="0" i="1" u="none" strike="noStrike" kern="0" cap="none" spc="0" normalizeH="0" baseline="0" noProof="0" dirty="0" err="1">
                <a:ln>
                  <a:noFill/>
                </a:ln>
                <a:solidFill>
                  <a:srgbClr val="FFFFFF"/>
                </a:solidFill>
                <a:effectLst/>
                <a:uLnTx/>
                <a:uFillTx/>
                <a:latin typeface="Calibri"/>
                <a:cs typeface="Arial"/>
                <a:sym typeface="Arial"/>
              </a:rPr>
              <a:t>outil</a:t>
            </a:r>
            <a:r>
              <a:rPr kumimoji="0" sz="1400" b="0" i="1" u="none" strike="noStrike" kern="0" cap="none" spc="0" normalizeH="0" baseline="0" noProof="0" dirty="0">
                <a:ln>
                  <a:noFill/>
                </a:ln>
                <a:solidFill>
                  <a:srgbClr val="FFFFFF"/>
                </a:solidFill>
                <a:effectLst/>
                <a:uLnTx/>
                <a:uFillTx/>
                <a:latin typeface="Calibri"/>
                <a:cs typeface="Arial"/>
                <a:sym typeface="Arial"/>
              </a:rPr>
              <a:t> de Business Intelligence</a:t>
            </a:r>
          </a:p>
        </p:txBody>
      </p:sp>
      <p:sp>
        <p:nvSpPr>
          <p:cNvPr id="2" name="ZoneTexte 1">
            <a:extLst>
              <a:ext uri="{FF2B5EF4-FFF2-40B4-BE49-F238E27FC236}">
                <a16:creationId xmlns:a16="http://schemas.microsoft.com/office/drawing/2014/main" id="{B67CD240-94C9-9067-62F5-2FFA3B07D5F3}"/>
              </a:ext>
            </a:extLst>
          </p:cNvPr>
          <p:cNvSpPr txBox="1"/>
          <p:nvPr/>
        </p:nvSpPr>
        <p:spPr>
          <a:xfrm>
            <a:off x="216000" y="778720"/>
            <a:ext cx="2617255" cy="286873"/>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1) </a:t>
            </a:r>
            <a:r>
              <a:rPr kumimoji="0" lang="en-US" sz="11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Télécharger</a:t>
            </a: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a:t>
            </a:r>
            <a:r>
              <a:rPr kumimoji="0" lang="en-US" sz="11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mongodb</a:t>
            </a: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-connector-</a:t>
            </a:r>
            <a:r>
              <a:rPr kumimoji="0" lang="en-US" sz="11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odbc</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3" name="Image 2">
            <a:extLst>
              <a:ext uri="{FF2B5EF4-FFF2-40B4-BE49-F238E27FC236}">
                <a16:creationId xmlns:a16="http://schemas.microsoft.com/office/drawing/2014/main" id="{87B92FB8-3FBC-3B27-A8F7-A400B62B304C}"/>
              </a:ext>
            </a:extLst>
          </p:cNvPr>
          <p:cNvPicPr>
            <a:picLocks noChangeAspect="1"/>
          </p:cNvPicPr>
          <p:nvPr/>
        </p:nvPicPr>
        <p:blipFill>
          <a:blip r:embed="rId3"/>
          <a:stretch>
            <a:fillRect/>
          </a:stretch>
        </p:blipFill>
        <p:spPr>
          <a:xfrm>
            <a:off x="43976" y="1082834"/>
            <a:ext cx="2759010" cy="2027029"/>
          </a:xfrm>
          <a:prstGeom prst="rect">
            <a:avLst/>
          </a:prstGeom>
        </p:spPr>
      </p:pic>
      <p:sp>
        <p:nvSpPr>
          <p:cNvPr id="4" name="Text 12">
            <a:extLst>
              <a:ext uri="{FF2B5EF4-FFF2-40B4-BE49-F238E27FC236}">
                <a16:creationId xmlns:a16="http://schemas.microsoft.com/office/drawing/2014/main" id="{89CF3F34-5D08-233C-10DF-BB8A59D7D0DA}"/>
              </a:ext>
            </a:extLst>
          </p:cNvPr>
          <p:cNvSpPr/>
          <p:nvPr/>
        </p:nvSpPr>
        <p:spPr>
          <a:xfrm>
            <a:off x="2802986" y="1909945"/>
            <a:ext cx="363693" cy="320129"/>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pitchFamily="34" charset="0"/>
                <a:ea typeface="Calibri" pitchFamily="34" charset="-122"/>
                <a:cs typeface="Calibri" pitchFamily="34" charset="-120"/>
              </a:rPr>
              <a:t>→</a:t>
            </a:r>
            <a:endParaRPr kumimoji="0" lang="en-US" sz="168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pic>
        <p:nvPicPr>
          <p:cNvPr id="6" name="Image 5">
            <a:extLst>
              <a:ext uri="{FF2B5EF4-FFF2-40B4-BE49-F238E27FC236}">
                <a16:creationId xmlns:a16="http://schemas.microsoft.com/office/drawing/2014/main" id="{BAB21CAF-2517-F7D6-8666-98DD8CA43524}"/>
              </a:ext>
            </a:extLst>
          </p:cNvPr>
          <p:cNvPicPr>
            <a:picLocks noChangeAspect="1"/>
          </p:cNvPicPr>
          <p:nvPr/>
        </p:nvPicPr>
        <p:blipFill>
          <a:blip r:embed="rId4"/>
          <a:stretch>
            <a:fillRect/>
          </a:stretch>
        </p:blipFill>
        <p:spPr>
          <a:xfrm>
            <a:off x="3166679" y="1058919"/>
            <a:ext cx="2763024" cy="2022179"/>
          </a:xfrm>
          <a:prstGeom prst="rect">
            <a:avLst/>
          </a:prstGeom>
        </p:spPr>
      </p:pic>
      <p:sp>
        <p:nvSpPr>
          <p:cNvPr id="7" name="ZoneTexte 6">
            <a:extLst>
              <a:ext uri="{FF2B5EF4-FFF2-40B4-BE49-F238E27FC236}">
                <a16:creationId xmlns:a16="http://schemas.microsoft.com/office/drawing/2014/main" id="{0466C123-99C0-E628-F474-70BADE0A1D1A}"/>
              </a:ext>
            </a:extLst>
          </p:cNvPr>
          <p:cNvSpPr txBox="1"/>
          <p:nvPr/>
        </p:nvSpPr>
        <p:spPr>
          <a:xfrm>
            <a:off x="3479563" y="778720"/>
            <a:ext cx="2617255" cy="286873"/>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lang="en-US" sz="1100" b="1" kern="1200" dirty="0">
                <a:solidFill>
                  <a:schemeClr val="bg1"/>
                </a:solidFill>
                <a:latin typeface="Calibri" pitchFamily="34" charset="0"/>
                <a:ea typeface="Calibri" pitchFamily="34" charset="-122"/>
                <a:cs typeface="Calibri" pitchFamily="34" charset="-120"/>
              </a:rPr>
              <a:t>2</a:t>
            </a: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Clique sur </a:t>
            </a:r>
            <a:r>
              <a:rPr kumimoji="0" lang="en-US" sz="11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ajouter</a:t>
            </a: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et “Unicode”</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9" name="Image 8">
            <a:extLst>
              <a:ext uri="{FF2B5EF4-FFF2-40B4-BE49-F238E27FC236}">
                <a16:creationId xmlns:a16="http://schemas.microsoft.com/office/drawing/2014/main" id="{0AFB3CB7-5CC4-C8D9-1616-9133CA4E9313}"/>
              </a:ext>
            </a:extLst>
          </p:cNvPr>
          <p:cNvPicPr>
            <a:picLocks noChangeAspect="1"/>
          </p:cNvPicPr>
          <p:nvPr/>
        </p:nvPicPr>
        <p:blipFill>
          <a:blip r:embed="rId5"/>
          <a:stretch>
            <a:fillRect/>
          </a:stretch>
        </p:blipFill>
        <p:spPr>
          <a:xfrm>
            <a:off x="6338590" y="1033413"/>
            <a:ext cx="2795588" cy="2076450"/>
          </a:xfrm>
          <a:prstGeom prst="rect">
            <a:avLst/>
          </a:prstGeom>
        </p:spPr>
      </p:pic>
      <p:sp>
        <p:nvSpPr>
          <p:cNvPr id="12" name="Text 12">
            <a:extLst>
              <a:ext uri="{FF2B5EF4-FFF2-40B4-BE49-F238E27FC236}">
                <a16:creationId xmlns:a16="http://schemas.microsoft.com/office/drawing/2014/main" id="{87546E9F-8CA3-B6BE-FB5A-EA336F8770A9}"/>
              </a:ext>
            </a:extLst>
          </p:cNvPr>
          <p:cNvSpPr/>
          <p:nvPr/>
        </p:nvSpPr>
        <p:spPr>
          <a:xfrm>
            <a:off x="5953293" y="1986145"/>
            <a:ext cx="363693" cy="320129"/>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pitchFamily="34" charset="0"/>
                <a:ea typeface="Calibri" pitchFamily="34" charset="-122"/>
                <a:cs typeface="Calibri" pitchFamily="34" charset="-120"/>
              </a:rPr>
              <a:t>→</a:t>
            </a:r>
            <a:endParaRPr kumimoji="0" lang="en-US" sz="168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3" name="ZoneTexte 12">
            <a:extLst>
              <a:ext uri="{FF2B5EF4-FFF2-40B4-BE49-F238E27FC236}">
                <a16:creationId xmlns:a16="http://schemas.microsoft.com/office/drawing/2014/main" id="{30F14A66-2C32-4DF0-D262-53CBE648C7DB}"/>
              </a:ext>
            </a:extLst>
          </p:cNvPr>
          <p:cNvSpPr txBox="1"/>
          <p:nvPr/>
        </p:nvSpPr>
        <p:spPr>
          <a:xfrm>
            <a:off x="6516923" y="713403"/>
            <a:ext cx="2617255" cy="286873"/>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3) </a:t>
            </a:r>
            <a:r>
              <a:rPr kumimoji="0" lang="en-US" sz="11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Configurer</a:t>
            </a:r>
            <a:r>
              <a:rPr kumimoji="0" lang="en-US" sz="11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la source </a:t>
            </a:r>
            <a:endParaRPr kumimoji="0" lang="en-US" sz="11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15" name="Image 14">
            <a:extLst>
              <a:ext uri="{FF2B5EF4-FFF2-40B4-BE49-F238E27FC236}">
                <a16:creationId xmlns:a16="http://schemas.microsoft.com/office/drawing/2014/main" id="{19A80114-CFC3-4084-8EF6-8452A18EE636}"/>
              </a:ext>
            </a:extLst>
          </p:cNvPr>
          <p:cNvPicPr>
            <a:picLocks noChangeAspect="1"/>
          </p:cNvPicPr>
          <p:nvPr/>
        </p:nvPicPr>
        <p:blipFill>
          <a:blip r:embed="rId6"/>
          <a:stretch>
            <a:fillRect/>
          </a:stretch>
        </p:blipFill>
        <p:spPr>
          <a:xfrm>
            <a:off x="4492515" y="3683943"/>
            <a:ext cx="4641663" cy="1240011"/>
          </a:xfrm>
          <a:prstGeom prst="rect">
            <a:avLst/>
          </a:prstGeom>
        </p:spPr>
      </p:pic>
      <p:sp>
        <p:nvSpPr>
          <p:cNvPr id="17" name="ZoneTexte 16">
            <a:extLst>
              <a:ext uri="{FF2B5EF4-FFF2-40B4-BE49-F238E27FC236}">
                <a16:creationId xmlns:a16="http://schemas.microsoft.com/office/drawing/2014/main" id="{AC7D970E-5DE5-8A76-4664-DD79F8347688}"/>
              </a:ext>
            </a:extLst>
          </p:cNvPr>
          <p:cNvSpPr txBox="1"/>
          <p:nvPr/>
        </p:nvSpPr>
        <p:spPr>
          <a:xfrm>
            <a:off x="179807" y="3286872"/>
            <a:ext cx="5246358" cy="297517"/>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3</a:t>
            </a:r>
            <a:r>
              <a:rPr lang="en-US" b="1" kern="1200" dirty="0">
                <a:solidFill>
                  <a:schemeClr val="bg1"/>
                </a:solidFill>
                <a:latin typeface="Calibri" pitchFamily="34" charset="0"/>
                <a:ea typeface="Calibri" pitchFamily="34" charset="-122"/>
                <a:cs typeface="Calibri" pitchFamily="34" charset="-120"/>
              </a:rPr>
              <a:t>.</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1) </a:t>
            </a:r>
            <a:r>
              <a:rPr kumimoji="0" lang="en-US" sz="14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Configurer</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la source : </a:t>
            </a:r>
            <a:r>
              <a:rPr kumimoji="0" lang="en-US" sz="14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télécharger</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 MongoDB Connector for BI </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19" name="Image 18">
            <a:extLst>
              <a:ext uri="{FF2B5EF4-FFF2-40B4-BE49-F238E27FC236}">
                <a16:creationId xmlns:a16="http://schemas.microsoft.com/office/drawing/2014/main" id="{305FF1F3-067E-1C68-C6C2-5D344C330292}"/>
              </a:ext>
            </a:extLst>
          </p:cNvPr>
          <p:cNvPicPr>
            <a:picLocks noChangeAspect="1"/>
          </p:cNvPicPr>
          <p:nvPr/>
        </p:nvPicPr>
        <p:blipFill>
          <a:blip r:embed="rId7"/>
          <a:stretch>
            <a:fillRect/>
          </a:stretch>
        </p:blipFill>
        <p:spPr>
          <a:xfrm>
            <a:off x="141661" y="3601368"/>
            <a:ext cx="4074430" cy="1405163"/>
          </a:xfrm>
          <a:prstGeom prst="rect">
            <a:avLst/>
          </a:prstGeom>
        </p:spPr>
      </p:pic>
    </p:spTree>
    <p:extLst>
      <p:ext uri="{BB962C8B-B14F-4D97-AF65-F5344CB8AC3E}">
        <p14:creationId xmlns:p14="http://schemas.microsoft.com/office/powerpoint/2010/main" val="3181882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7833A455-5781-4429-C94B-1F0595C30BA1}"/>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FE14D1FD-6ECC-3FBB-7CD3-7D86D3CCBD9A}"/>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C89A30A7-9F9E-6F9F-A5D2-31BEEDE378A8}"/>
              </a:ext>
            </a:extLst>
          </p:cNvPr>
          <p:cNvSpPr txBox="1"/>
          <p:nvPr/>
        </p:nvSpPr>
        <p:spPr>
          <a:xfrm>
            <a:off x="436091" y="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A26EF2CA-B486-C2C5-0A4E-5CE297DA12AF}"/>
              </a:ext>
            </a:extLst>
          </p:cNvPr>
          <p:cNvSpPr/>
          <p:nvPr/>
        </p:nvSpPr>
        <p:spPr>
          <a:xfrm>
            <a:off x="436091" y="44574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TextBox 76">
            <a:extLst>
              <a:ext uri="{FF2B5EF4-FFF2-40B4-BE49-F238E27FC236}">
                <a16:creationId xmlns:a16="http://schemas.microsoft.com/office/drawing/2014/main" id="{C1C15276-7E69-B2A3-6A2D-CC7A9869D15F}"/>
              </a:ext>
            </a:extLst>
          </p:cNvPr>
          <p:cNvSpPr txBox="1"/>
          <p:nvPr/>
        </p:nvSpPr>
        <p:spPr>
          <a:xfrm>
            <a:off x="373745" y="470943"/>
            <a:ext cx="79200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1" u="none" strike="noStrike" kern="0" cap="none" spc="0" normalizeH="0" baseline="0" noProof="0" dirty="0">
                <a:ln>
                  <a:noFill/>
                </a:ln>
                <a:solidFill>
                  <a:srgbClr val="FFFFFF"/>
                </a:solidFill>
                <a:effectLst/>
                <a:uLnTx/>
                <a:uFillTx/>
                <a:latin typeface="Calibri"/>
                <a:cs typeface="Arial"/>
                <a:sym typeface="Arial"/>
              </a:rPr>
              <a:t>■  La démarche pour connecter MongoDB à un </a:t>
            </a:r>
            <a:r>
              <a:rPr kumimoji="0" sz="1400" b="0" i="1" u="none" strike="noStrike" kern="0" cap="none" spc="0" normalizeH="0" baseline="0" noProof="0" dirty="0" err="1">
                <a:ln>
                  <a:noFill/>
                </a:ln>
                <a:solidFill>
                  <a:srgbClr val="FFFFFF"/>
                </a:solidFill>
                <a:effectLst/>
                <a:uLnTx/>
                <a:uFillTx/>
                <a:latin typeface="Calibri"/>
                <a:cs typeface="Arial"/>
                <a:sym typeface="Arial"/>
              </a:rPr>
              <a:t>outil</a:t>
            </a:r>
            <a:r>
              <a:rPr kumimoji="0" sz="1400" b="0" i="1" u="none" strike="noStrike" kern="0" cap="none" spc="0" normalizeH="0" baseline="0" noProof="0" dirty="0">
                <a:ln>
                  <a:noFill/>
                </a:ln>
                <a:solidFill>
                  <a:srgbClr val="FFFFFF"/>
                </a:solidFill>
                <a:effectLst/>
                <a:uLnTx/>
                <a:uFillTx/>
                <a:latin typeface="Calibri"/>
                <a:cs typeface="Arial"/>
                <a:sym typeface="Arial"/>
              </a:rPr>
              <a:t> de Business Intelligence</a:t>
            </a:r>
          </a:p>
        </p:txBody>
      </p:sp>
      <p:pic>
        <p:nvPicPr>
          <p:cNvPr id="8" name="Image 7">
            <a:extLst>
              <a:ext uri="{FF2B5EF4-FFF2-40B4-BE49-F238E27FC236}">
                <a16:creationId xmlns:a16="http://schemas.microsoft.com/office/drawing/2014/main" id="{6ABD27D6-E292-9809-8B97-BED20B87FFB4}"/>
              </a:ext>
            </a:extLst>
          </p:cNvPr>
          <p:cNvPicPr>
            <a:picLocks noChangeAspect="1"/>
          </p:cNvPicPr>
          <p:nvPr/>
        </p:nvPicPr>
        <p:blipFill>
          <a:blip r:embed="rId3"/>
          <a:srcRect l="-1" r="2621" b="68403"/>
          <a:stretch>
            <a:fillRect/>
          </a:stretch>
        </p:blipFill>
        <p:spPr>
          <a:xfrm>
            <a:off x="373746" y="1010943"/>
            <a:ext cx="2783108" cy="885579"/>
          </a:xfrm>
          <a:prstGeom prst="rect">
            <a:avLst/>
          </a:prstGeom>
        </p:spPr>
      </p:pic>
      <p:sp>
        <p:nvSpPr>
          <p:cNvPr id="14" name="ZoneTexte 13">
            <a:extLst>
              <a:ext uri="{FF2B5EF4-FFF2-40B4-BE49-F238E27FC236}">
                <a16:creationId xmlns:a16="http://schemas.microsoft.com/office/drawing/2014/main" id="{135BFCD9-00AE-5FD1-10F0-8C045C369B54}"/>
              </a:ext>
            </a:extLst>
          </p:cNvPr>
          <p:cNvSpPr txBox="1"/>
          <p:nvPr/>
        </p:nvSpPr>
        <p:spPr>
          <a:xfrm>
            <a:off x="216000" y="747333"/>
            <a:ext cx="2922055" cy="286873"/>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4) Ouvre Power BI → </a:t>
            </a:r>
            <a:r>
              <a:rPr kumimoji="0" lang="en-US" sz="12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obtenir</a:t>
            </a:r>
            <a:r>
              <a:rPr kumimoji="0" lang="en-US" sz="12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des données </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0" name="Text 12">
            <a:extLst>
              <a:ext uri="{FF2B5EF4-FFF2-40B4-BE49-F238E27FC236}">
                <a16:creationId xmlns:a16="http://schemas.microsoft.com/office/drawing/2014/main" id="{A590847A-8204-4DA8-3724-40A6A69C110E}"/>
              </a:ext>
            </a:extLst>
          </p:cNvPr>
          <p:cNvSpPr/>
          <p:nvPr/>
        </p:nvSpPr>
        <p:spPr>
          <a:xfrm>
            <a:off x="3262052" y="1405457"/>
            <a:ext cx="363693" cy="320129"/>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0000"/>
                </a:solidFill>
                <a:effectLst/>
                <a:uLnTx/>
                <a:uFillTx/>
                <a:latin typeface="Calibri" pitchFamily="34" charset="0"/>
                <a:ea typeface="Calibri" pitchFamily="34" charset="-122"/>
                <a:cs typeface="Calibri" pitchFamily="34" charset="-120"/>
              </a:rPr>
              <a:t>→</a:t>
            </a:r>
            <a:endParaRPr kumimoji="0" lang="en-US" sz="168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pic>
        <p:nvPicPr>
          <p:cNvPr id="22" name="Image 21">
            <a:extLst>
              <a:ext uri="{FF2B5EF4-FFF2-40B4-BE49-F238E27FC236}">
                <a16:creationId xmlns:a16="http://schemas.microsoft.com/office/drawing/2014/main" id="{09153CC2-1C1E-4E57-2993-81094EAC3628}"/>
              </a:ext>
            </a:extLst>
          </p:cNvPr>
          <p:cNvPicPr>
            <a:picLocks noChangeAspect="1"/>
          </p:cNvPicPr>
          <p:nvPr/>
        </p:nvPicPr>
        <p:blipFill>
          <a:blip r:embed="rId4"/>
          <a:stretch>
            <a:fillRect/>
          </a:stretch>
        </p:blipFill>
        <p:spPr>
          <a:xfrm>
            <a:off x="3680553" y="941886"/>
            <a:ext cx="4376538" cy="1404505"/>
          </a:xfrm>
          <a:prstGeom prst="rect">
            <a:avLst/>
          </a:prstGeom>
        </p:spPr>
      </p:pic>
      <p:sp>
        <p:nvSpPr>
          <p:cNvPr id="24" name="ZoneTexte 23">
            <a:extLst>
              <a:ext uri="{FF2B5EF4-FFF2-40B4-BE49-F238E27FC236}">
                <a16:creationId xmlns:a16="http://schemas.microsoft.com/office/drawing/2014/main" id="{3E0394DE-FF9F-1CA2-A7D4-80377441216C}"/>
              </a:ext>
            </a:extLst>
          </p:cNvPr>
          <p:cNvSpPr txBox="1"/>
          <p:nvPr/>
        </p:nvSpPr>
        <p:spPr>
          <a:xfrm>
            <a:off x="3700963" y="675607"/>
            <a:ext cx="4592782" cy="297517"/>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lang="en-US" b="1" kern="1200" dirty="0">
                <a:solidFill>
                  <a:schemeClr val="bg1"/>
                </a:solidFill>
                <a:latin typeface="Calibri" pitchFamily="34" charset="0"/>
                <a:ea typeface="Calibri" pitchFamily="34" charset="-122"/>
                <a:cs typeface="Calibri" pitchFamily="34" charset="-120"/>
              </a:rPr>
              <a:t>5</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a:t>
            </a:r>
            <a:r>
              <a:rPr kumimoji="0" lang="en-US" sz="14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Sélectionne</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a:t>
            </a:r>
            <a:r>
              <a:rPr kumimoji="0" lang="fr-FR"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la source que l’on avait créée</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26" name="Image 25">
            <a:extLst>
              <a:ext uri="{FF2B5EF4-FFF2-40B4-BE49-F238E27FC236}">
                <a16:creationId xmlns:a16="http://schemas.microsoft.com/office/drawing/2014/main" id="{CCE62949-4F86-B983-34A2-140CB0BF7478}"/>
              </a:ext>
            </a:extLst>
          </p:cNvPr>
          <p:cNvPicPr>
            <a:picLocks noChangeAspect="1"/>
          </p:cNvPicPr>
          <p:nvPr/>
        </p:nvPicPr>
        <p:blipFill>
          <a:blip r:embed="rId5"/>
          <a:stretch>
            <a:fillRect/>
          </a:stretch>
        </p:blipFill>
        <p:spPr>
          <a:xfrm>
            <a:off x="411058" y="2447059"/>
            <a:ext cx="3214687" cy="2571750"/>
          </a:xfrm>
          <a:prstGeom prst="rect">
            <a:avLst/>
          </a:prstGeom>
        </p:spPr>
      </p:pic>
      <p:sp>
        <p:nvSpPr>
          <p:cNvPr id="28" name="ZoneTexte 27">
            <a:extLst>
              <a:ext uri="{FF2B5EF4-FFF2-40B4-BE49-F238E27FC236}">
                <a16:creationId xmlns:a16="http://schemas.microsoft.com/office/drawing/2014/main" id="{593B45FD-A221-F932-C2D4-D15D4885E348}"/>
              </a:ext>
            </a:extLst>
          </p:cNvPr>
          <p:cNvSpPr txBox="1"/>
          <p:nvPr/>
        </p:nvSpPr>
        <p:spPr>
          <a:xfrm>
            <a:off x="270808" y="2108500"/>
            <a:ext cx="3214687" cy="297517"/>
          </a:xfrm>
          <a:prstGeom prst="rect">
            <a:avLst/>
          </a:prstGeom>
          <a:noFill/>
        </p:spPr>
        <p:txBody>
          <a:bodyPr wrap="square">
            <a:sp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6) </a:t>
            </a:r>
            <a:r>
              <a:rPr kumimoji="0" lang="en-US" sz="140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Sélectionne</a:t>
            </a:r>
            <a:r>
              <a:rPr kumimoji="0" lang="en-US"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a:t>
            </a:r>
            <a:r>
              <a:rPr kumimoji="0" lang="fr-FR" sz="140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la bonne base de données</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019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59888D36-D272-1C4B-FA2E-D20D37B637E3}"/>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AAFE4D4E-1FAC-9123-E1A3-0AEF59270DA8}"/>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DAA5092E-CFC9-9F33-E0B7-D52A5F9EBABD}"/>
              </a:ext>
            </a:extLst>
          </p:cNvPr>
          <p:cNvSpPr txBox="1"/>
          <p:nvPr/>
        </p:nvSpPr>
        <p:spPr>
          <a:xfrm>
            <a:off x="436091" y="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2 — </a:t>
            </a:r>
            <a:r>
              <a:rPr kumimoji="0" sz="2400" b="1" i="0" u="none" strike="noStrike" kern="0" cap="none" spc="0" normalizeH="0" baseline="0" noProof="0" dirty="0" err="1">
                <a:ln>
                  <a:noFill/>
                </a:ln>
                <a:solidFill>
                  <a:srgbClr val="FFFFFF"/>
                </a:solidFill>
                <a:effectLst/>
                <a:uLnTx/>
                <a:uFillTx/>
                <a:latin typeface="Calibri Light"/>
                <a:cs typeface="Arial"/>
                <a:sym typeface="Arial"/>
              </a:rPr>
              <a:t>Analyser</a:t>
            </a:r>
            <a:r>
              <a:rPr kumimoji="0" sz="2400" b="1" i="0" u="none" strike="noStrike" kern="0" cap="none" spc="0" normalizeH="0" baseline="0" noProof="0" dirty="0">
                <a:ln>
                  <a:noFill/>
                </a:ln>
                <a:solidFill>
                  <a:srgbClr val="FFFFFF"/>
                </a:solidFill>
                <a:effectLst/>
                <a:uLnTx/>
                <a:uFillTx/>
                <a:latin typeface="Calibri Light"/>
                <a:cs typeface="Arial"/>
                <a:sym typeface="Arial"/>
              </a:rPr>
              <a:t> </a:t>
            </a:r>
            <a:r>
              <a:rPr kumimoji="0" sz="2400" b="1" i="0" u="none" strike="noStrike" kern="0" cap="none" spc="0" normalizeH="0" baseline="0" noProof="0" dirty="0" err="1">
                <a:ln>
                  <a:noFill/>
                </a:ln>
                <a:solidFill>
                  <a:srgbClr val="FFFFFF"/>
                </a:solidFill>
                <a:effectLst/>
                <a:uLnTx/>
                <a:uFillTx/>
                <a:latin typeface="Calibri Light"/>
                <a:cs typeface="Arial"/>
                <a:sym typeface="Arial"/>
              </a:rPr>
              <a:t>l'intégrité</a:t>
            </a:r>
            <a:r>
              <a:rPr kumimoji="0" sz="2400" b="1" i="0" u="none" strike="noStrike" kern="0" cap="none" spc="0" normalizeH="0" baseline="0" noProof="0" dirty="0">
                <a:ln>
                  <a:noFill/>
                </a:ln>
                <a:solidFill>
                  <a:srgbClr val="FFFFFF"/>
                </a:solidFill>
                <a:effectLst/>
                <a:uLnTx/>
                <a:uFillTx/>
                <a:latin typeface="Calibri Light"/>
                <a:cs typeface="Arial"/>
                <a:sym typeface="Arial"/>
              </a:rPr>
              <a:t> des données</a:t>
            </a:r>
          </a:p>
        </p:txBody>
      </p:sp>
      <p:sp>
        <p:nvSpPr>
          <p:cNvPr id="76" name="Rectangle 75">
            <a:extLst>
              <a:ext uri="{FF2B5EF4-FFF2-40B4-BE49-F238E27FC236}">
                <a16:creationId xmlns:a16="http://schemas.microsoft.com/office/drawing/2014/main" id="{D11ABDC0-EE19-087E-8276-DA7CCBC5CD99}"/>
              </a:ext>
            </a:extLst>
          </p:cNvPr>
          <p:cNvSpPr/>
          <p:nvPr/>
        </p:nvSpPr>
        <p:spPr>
          <a:xfrm>
            <a:off x="436091" y="44574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TextBox 76">
            <a:extLst>
              <a:ext uri="{FF2B5EF4-FFF2-40B4-BE49-F238E27FC236}">
                <a16:creationId xmlns:a16="http://schemas.microsoft.com/office/drawing/2014/main" id="{671793E3-F5B4-77A9-3450-24BFF1927F56}"/>
              </a:ext>
            </a:extLst>
          </p:cNvPr>
          <p:cNvSpPr txBox="1"/>
          <p:nvPr/>
        </p:nvSpPr>
        <p:spPr>
          <a:xfrm>
            <a:off x="373745" y="470943"/>
            <a:ext cx="79200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1" u="none" strike="noStrike" kern="0" cap="none" spc="0" normalizeH="0" baseline="0" noProof="0" dirty="0">
                <a:ln>
                  <a:noFill/>
                </a:ln>
                <a:solidFill>
                  <a:srgbClr val="FFFFFF"/>
                </a:solidFill>
                <a:effectLst/>
                <a:uLnTx/>
                <a:uFillTx/>
                <a:latin typeface="Calibri"/>
                <a:cs typeface="Arial"/>
                <a:sym typeface="Arial"/>
              </a:rPr>
              <a:t>■  La démarche pour connecter MongoDB à un </a:t>
            </a:r>
            <a:r>
              <a:rPr kumimoji="0" sz="1400" b="0" i="1" u="none" strike="noStrike" kern="0" cap="none" spc="0" normalizeH="0" baseline="0" noProof="0" dirty="0" err="1">
                <a:ln>
                  <a:noFill/>
                </a:ln>
                <a:solidFill>
                  <a:srgbClr val="FFFFFF"/>
                </a:solidFill>
                <a:effectLst/>
                <a:uLnTx/>
                <a:uFillTx/>
                <a:latin typeface="Calibri"/>
                <a:cs typeface="Arial"/>
                <a:sym typeface="Arial"/>
              </a:rPr>
              <a:t>outil</a:t>
            </a:r>
            <a:r>
              <a:rPr kumimoji="0" sz="1400" b="0" i="1" u="none" strike="noStrike" kern="0" cap="none" spc="0" normalizeH="0" baseline="0" noProof="0" dirty="0">
                <a:ln>
                  <a:noFill/>
                </a:ln>
                <a:solidFill>
                  <a:srgbClr val="FFFFFF"/>
                </a:solidFill>
                <a:effectLst/>
                <a:uLnTx/>
                <a:uFillTx/>
                <a:latin typeface="Calibri"/>
                <a:cs typeface="Arial"/>
                <a:sym typeface="Arial"/>
              </a:rPr>
              <a:t> de Business Intelligence</a:t>
            </a:r>
          </a:p>
        </p:txBody>
      </p:sp>
      <p:pic>
        <p:nvPicPr>
          <p:cNvPr id="3" name="Image 2">
            <a:extLst>
              <a:ext uri="{FF2B5EF4-FFF2-40B4-BE49-F238E27FC236}">
                <a16:creationId xmlns:a16="http://schemas.microsoft.com/office/drawing/2014/main" id="{8D94C0C9-B5A0-2875-31A7-E9DBE90EFBE2}"/>
              </a:ext>
            </a:extLst>
          </p:cNvPr>
          <p:cNvPicPr>
            <a:picLocks noChangeAspect="1"/>
          </p:cNvPicPr>
          <p:nvPr/>
        </p:nvPicPr>
        <p:blipFill>
          <a:blip r:embed="rId3"/>
          <a:stretch>
            <a:fillRect/>
          </a:stretch>
        </p:blipFill>
        <p:spPr>
          <a:xfrm>
            <a:off x="312463" y="916686"/>
            <a:ext cx="8167255" cy="3091463"/>
          </a:xfrm>
          <a:prstGeom prst="rect">
            <a:avLst/>
          </a:prstGeom>
        </p:spPr>
      </p:pic>
    </p:spTree>
    <p:extLst>
      <p:ext uri="{BB962C8B-B14F-4D97-AF65-F5344CB8AC3E}">
        <p14:creationId xmlns:p14="http://schemas.microsoft.com/office/powerpoint/2010/main" val="4071200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1">
          <a:extLst>
            <a:ext uri="{FF2B5EF4-FFF2-40B4-BE49-F238E27FC236}">
              <a16:creationId xmlns:a16="http://schemas.microsoft.com/office/drawing/2014/main" id="{DCB01C1F-F9F1-D638-D4C5-46337B700B08}"/>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29BB4508-9C38-1AB2-E8C2-C16ACBA4556C}"/>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5" name="TextBox 74">
            <a:extLst>
              <a:ext uri="{FF2B5EF4-FFF2-40B4-BE49-F238E27FC236}">
                <a16:creationId xmlns:a16="http://schemas.microsoft.com/office/drawing/2014/main" id="{0C059C9B-562C-367B-4B6E-E5186AA94A84}"/>
              </a:ext>
            </a:extLst>
          </p:cNvPr>
          <p:cNvSpPr txBox="1"/>
          <p:nvPr/>
        </p:nvSpPr>
        <p:spPr>
          <a:xfrm>
            <a:off x="540000" y="21600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a:ln>
                  <a:noFill/>
                </a:ln>
                <a:solidFill>
                  <a:srgbClr val="FFFFFF"/>
                </a:solidFill>
                <a:effectLst/>
                <a:uLnTx/>
                <a:uFillTx/>
                <a:latin typeface="Calibri Light"/>
                <a:cs typeface="Arial"/>
                <a:sym typeface="Arial"/>
              </a:rPr>
              <a:t>Partie 2 — Analyser l'intégrité des données</a:t>
            </a:r>
          </a:p>
        </p:txBody>
      </p:sp>
      <p:sp>
        <p:nvSpPr>
          <p:cNvPr id="76" name="Rectangle 75">
            <a:extLst>
              <a:ext uri="{FF2B5EF4-FFF2-40B4-BE49-F238E27FC236}">
                <a16:creationId xmlns:a16="http://schemas.microsoft.com/office/drawing/2014/main" id="{67733A54-8170-3B64-9806-D7029B8F035C}"/>
              </a:ext>
            </a:extLst>
          </p:cNvPr>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77" name="TextBox 76">
            <a:extLst>
              <a:ext uri="{FF2B5EF4-FFF2-40B4-BE49-F238E27FC236}">
                <a16:creationId xmlns:a16="http://schemas.microsoft.com/office/drawing/2014/main" id="{C151B7FC-37E4-007C-A4E7-03270073FCF1}"/>
              </a:ext>
            </a:extLst>
          </p:cNvPr>
          <p:cNvSpPr txBox="1"/>
          <p:nvPr/>
        </p:nvSpPr>
        <p:spPr>
          <a:xfrm>
            <a:off x="477654" y="925198"/>
            <a:ext cx="79200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1400" b="0" i="0" u="none" strike="noStrike" kern="0" cap="none" spc="0" normalizeH="0" baseline="0" noProof="0" dirty="0">
                <a:ln>
                  <a:noFill/>
                </a:ln>
                <a:solidFill>
                  <a:srgbClr val="FFFFFF"/>
                </a:solidFill>
                <a:effectLst/>
                <a:uLnTx/>
                <a:uFillTx/>
                <a:latin typeface="Calibri"/>
                <a:cs typeface="Arial"/>
                <a:sym typeface="Arial"/>
              </a:rPr>
              <a:t>■  Captures </a:t>
            </a:r>
            <a:r>
              <a:rPr kumimoji="0" sz="1400" b="0" i="0" u="none" strike="noStrike" kern="0" cap="none" spc="0" normalizeH="0" baseline="0" noProof="0" dirty="0" err="1">
                <a:ln>
                  <a:noFill/>
                </a:ln>
                <a:solidFill>
                  <a:srgbClr val="FFFFFF"/>
                </a:solidFill>
                <a:effectLst/>
                <a:uLnTx/>
                <a:uFillTx/>
                <a:latin typeface="Calibri"/>
                <a:cs typeface="Arial"/>
                <a:sym typeface="Arial"/>
              </a:rPr>
              <a:t>d'écran</a:t>
            </a:r>
            <a:r>
              <a:rPr kumimoji="0" sz="1400" b="0" i="0" u="none" strike="noStrike" kern="0" cap="none" spc="0" normalizeH="0" baseline="0" noProof="0" dirty="0">
                <a:ln>
                  <a:noFill/>
                </a:ln>
                <a:solidFill>
                  <a:srgbClr val="FFFFFF"/>
                </a:solidFill>
                <a:effectLst/>
                <a:uLnTx/>
                <a:uFillTx/>
                <a:latin typeface="Calibri"/>
                <a:cs typeface="Arial"/>
                <a:sym typeface="Arial"/>
              </a:rPr>
              <a:t> du tableau de bord</a:t>
            </a:r>
          </a:p>
        </p:txBody>
      </p:sp>
      <p:pic>
        <p:nvPicPr>
          <p:cNvPr id="3" name="Image 2">
            <a:extLst>
              <a:ext uri="{FF2B5EF4-FFF2-40B4-BE49-F238E27FC236}">
                <a16:creationId xmlns:a16="http://schemas.microsoft.com/office/drawing/2014/main" id="{42D42D18-FBC0-23B6-492E-1EA3BF233420}"/>
              </a:ext>
            </a:extLst>
          </p:cNvPr>
          <p:cNvPicPr>
            <a:picLocks noChangeAspect="1"/>
          </p:cNvPicPr>
          <p:nvPr/>
        </p:nvPicPr>
        <p:blipFill>
          <a:blip r:embed="rId3"/>
          <a:stretch>
            <a:fillRect/>
          </a:stretch>
        </p:blipFill>
        <p:spPr>
          <a:xfrm>
            <a:off x="1008654" y="1232975"/>
            <a:ext cx="6858000" cy="3643896"/>
          </a:xfrm>
          <a:prstGeom prst="rect">
            <a:avLst/>
          </a:prstGeom>
        </p:spPr>
      </p:pic>
    </p:spTree>
    <p:extLst>
      <p:ext uri="{BB962C8B-B14F-4D97-AF65-F5344CB8AC3E}">
        <p14:creationId xmlns:p14="http://schemas.microsoft.com/office/powerpoint/2010/main" val="997354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B9C89362-25FB-7932-D644-20F5D7B846C4}"/>
            </a:ext>
          </a:extLst>
        </p:cNvPr>
        <p:cNvGrpSpPr/>
        <p:nvPr/>
      </p:nvGrpSpPr>
      <p:grpSpPr>
        <a:xfrm>
          <a:off x="0" y="0"/>
          <a:ext cx="0" cy="0"/>
          <a:chOff x="0" y="0"/>
          <a:chExt cx="0" cy="0"/>
        </a:xfrm>
      </p:grpSpPr>
      <p:sp>
        <p:nvSpPr>
          <p:cNvPr id="79" name="Google Shape;79;p17">
            <a:extLst>
              <a:ext uri="{FF2B5EF4-FFF2-40B4-BE49-F238E27FC236}">
                <a16:creationId xmlns:a16="http://schemas.microsoft.com/office/drawing/2014/main" id="{4DA21CD8-E8AE-82D3-AB98-2D0B1D6F8972}"/>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152400" lvl="0" indent="0" algn="l" rtl="0">
              <a:spcBef>
                <a:spcPts val="0"/>
              </a:spcBef>
              <a:spcAft>
                <a:spcPts val="0"/>
              </a:spcAft>
              <a:buClr>
                <a:schemeClr val="dk1"/>
              </a:buClr>
              <a:buSzPts val="1100"/>
              <a:buFont typeface="Arial"/>
              <a:buNone/>
            </a:pPr>
            <a:r>
              <a:rPr lang="fr-FR" sz="1200" b="0" i="1" dirty="0">
                <a:solidFill>
                  <a:srgbClr val="D6D5D4"/>
                </a:solidFill>
                <a:effectLst/>
                <a:latin typeface="pplxSerif"/>
              </a:rPr>
              <a:t>Les données Lyon ont été téléchargées puis taguées avec un champ </a:t>
            </a:r>
            <a:r>
              <a:rPr lang="fr-FR" sz="1200" b="0" i="1" dirty="0">
                <a:solidFill>
                  <a:srgbClr val="D6D5D4"/>
                </a:solidFill>
                <a:effectLst/>
                <a:latin typeface="pplxSansMono"/>
              </a:rPr>
              <a:t>city: Lyon</a:t>
            </a:r>
            <a:r>
              <a:rPr lang="fr-FR" sz="1200" b="0" i="1" dirty="0">
                <a:solidFill>
                  <a:srgbClr val="D6D5D4"/>
                </a:solidFill>
                <a:effectLst/>
                <a:latin typeface="pplxSerif"/>
              </a:rPr>
              <a:t> via un script Python avant l'import. Les données Paris existantes ont été taguées </a:t>
            </a:r>
            <a:r>
              <a:rPr lang="fr-FR" sz="1200" b="0" i="1" dirty="0">
                <a:solidFill>
                  <a:srgbClr val="D6D5D4"/>
                </a:solidFill>
                <a:effectLst/>
                <a:latin typeface="pplxSansMono"/>
              </a:rPr>
              <a:t>city: Paris</a:t>
            </a:r>
            <a:r>
              <a:rPr lang="fr-FR" sz="1200" b="0" i="1" dirty="0">
                <a:solidFill>
                  <a:srgbClr val="D6D5D4"/>
                </a:solidFill>
                <a:effectLst/>
                <a:latin typeface="pplxSerif"/>
              </a:rPr>
              <a:t> via un </a:t>
            </a:r>
            <a:r>
              <a:rPr lang="fr-FR" sz="1200" b="0" i="1" dirty="0" err="1">
                <a:solidFill>
                  <a:srgbClr val="D6D5D4"/>
                </a:solidFill>
                <a:effectLst/>
                <a:latin typeface="pplxSansMono"/>
              </a:rPr>
              <a:t>updateMany</a:t>
            </a:r>
            <a:r>
              <a:rPr lang="fr-FR" sz="1200" b="0" i="1" dirty="0">
                <a:solidFill>
                  <a:srgbClr val="D6D5D4"/>
                </a:solidFill>
                <a:effectLst/>
                <a:latin typeface="pplxSerif"/>
              </a:rPr>
              <a:t>. Les deux villes cohabitent dans la même collection </a:t>
            </a:r>
            <a:r>
              <a:rPr lang="fr-FR" sz="1200" b="0" i="1" dirty="0" err="1">
                <a:solidFill>
                  <a:srgbClr val="D6D5D4"/>
                </a:solidFill>
                <a:effectLst/>
                <a:latin typeface="pplxSansMono"/>
              </a:rPr>
              <a:t>listings_paris</a:t>
            </a:r>
            <a:r>
              <a:rPr lang="fr-FR" sz="1200" b="0" i="1" dirty="0">
                <a:solidFill>
                  <a:srgbClr val="D6D5D4"/>
                </a:solidFill>
                <a:effectLst/>
                <a:latin typeface="pplxSerif"/>
              </a:rPr>
              <a:t>.</a:t>
            </a:r>
            <a:endParaRPr sz="1200" dirty="0">
              <a:solidFill>
                <a:srgbClr val="271A38"/>
              </a:solidFill>
              <a:latin typeface="Inter"/>
              <a:ea typeface="Inter"/>
              <a:cs typeface="Inter"/>
              <a:sym typeface="Inter"/>
            </a:endParaRPr>
          </a:p>
        </p:txBody>
      </p:sp>
      <p:sp>
        <p:nvSpPr>
          <p:cNvPr id="80" name="Rectangle 79">
            <a:extLst>
              <a:ext uri="{FF2B5EF4-FFF2-40B4-BE49-F238E27FC236}">
                <a16:creationId xmlns:a16="http://schemas.microsoft.com/office/drawing/2014/main" id="{486BEE30-0777-9776-54A9-531155DCF704}"/>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9FFD2537-0FC5-911B-8F29-7F1BFCD40C4C}"/>
              </a:ext>
            </a:extLst>
          </p:cNvPr>
          <p:cNvSpPr txBox="1"/>
          <p:nvPr/>
        </p:nvSpPr>
        <p:spPr>
          <a:xfrm>
            <a:off x="540000" y="21600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a:ln>
                  <a:noFill/>
                </a:ln>
                <a:solidFill>
                  <a:srgbClr val="FFFFFF"/>
                </a:solidFill>
                <a:effectLst/>
                <a:uLnTx/>
                <a:uFillTx/>
                <a:latin typeface="Calibri Light"/>
                <a:cs typeface="Arial"/>
                <a:sym typeface="Arial"/>
              </a:rPr>
              <a:t>Partie 3 — Pérenniser la base de données</a:t>
            </a:r>
          </a:p>
        </p:txBody>
      </p:sp>
      <p:sp>
        <p:nvSpPr>
          <p:cNvPr id="82" name="Rectangle 81">
            <a:extLst>
              <a:ext uri="{FF2B5EF4-FFF2-40B4-BE49-F238E27FC236}">
                <a16:creationId xmlns:a16="http://schemas.microsoft.com/office/drawing/2014/main" id="{F1D4D0B3-2B60-6289-27D5-34F0C075243C}"/>
              </a:ext>
            </a:extLst>
          </p:cNvPr>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TextBox 82">
            <a:extLst>
              <a:ext uri="{FF2B5EF4-FFF2-40B4-BE49-F238E27FC236}">
                <a16:creationId xmlns:a16="http://schemas.microsoft.com/office/drawing/2014/main" id="{94A7DE89-D36E-2D1C-06BD-70DCAB81AEC9}"/>
              </a:ext>
            </a:extLst>
          </p:cNvPr>
          <p:cNvSpPr txBox="1"/>
          <p:nvPr/>
        </p:nvSpPr>
        <p:spPr>
          <a:xfrm>
            <a:off x="463800" y="827999"/>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Étape 1 : Import des données Paris + Lyon</a:t>
            </a:r>
            <a:endParaRPr kumimoji="0" sz="1600" b="1" i="0" u="none" strike="noStrike" kern="0" cap="none" spc="0" normalizeH="0" baseline="0" noProof="0" dirty="0">
              <a:ln>
                <a:noFill/>
              </a:ln>
              <a:solidFill>
                <a:srgbClr val="F5A623"/>
              </a:solidFill>
              <a:effectLst/>
              <a:uLnTx/>
              <a:uFillTx/>
              <a:latin typeface="Calibri"/>
              <a:cs typeface="Arial"/>
              <a:sym typeface="Arial"/>
            </a:endParaRPr>
          </a:p>
        </p:txBody>
      </p:sp>
      <p:pic>
        <p:nvPicPr>
          <p:cNvPr id="3" name="Image 2">
            <a:extLst>
              <a:ext uri="{FF2B5EF4-FFF2-40B4-BE49-F238E27FC236}">
                <a16:creationId xmlns:a16="http://schemas.microsoft.com/office/drawing/2014/main" id="{791885DB-4248-3112-8705-171414240D59}"/>
              </a:ext>
            </a:extLst>
          </p:cNvPr>
          <p:cNvPicPr>
            <a:picLocks noChangeAspect="1"/>
          </p:cNvPicPr>
          <p:nvPr/>
        </p:nvPicPr>
        <p:blipFill>
          <a:blip r:embed="rId3"/>
          <a:stretch>
            <a:fillRect/>
          </a:stretch>
        </p:blipFill>
        <p:spPr>
          <a:xfrm>
            <a:off x="1421388" y="1770278"/>
            <a:ext cx="4943475" cy="1000125"/>
          </a:xfrm>
          <a:prstGeom prst="rect">
            <a:avLst/>
          </a:prstGeom>
        </p:spPr>
      </p:pic>
      <p:sp>
        <p:nvSpPr>
          <p:cNvPr id="7" name="ZoneTexte 6">
            <a:extLst>
              <a:ext uri="{FF2B5EF4-FFF2-40B4-BE49-F238E27FC236}">
                <a16:creationId xmlns:a16="http://schemas.microsoft.com/office/drawing/2014/main" id="{CA9D9747-99AD-D37D-61A8-E7760361C700}"/>
              </a:ext>
            </a:extLst>
          </p:cNvPr>
          <p:cNvSpPr txBox="1"/>
          <p:nvPr/>
        </p:nvSpPr>
        <p:spPr>
          <a:xfrm>
            <a:off x="216000" y="3247118"/>
            <a:ext cx="2500773" cy="954107"/>
          </a:xfrm>
          <a:prstGeom prst="rect">
            <a:avLst/>
          </a:prstGeom>
          <a:noFill/>
        </p:spPr>
        <p:txBody>
          <a:bodyPr wrap="square">
            <a:spAutoFit/>
          </a:bodyPr>
          <a:lstStyle/>
          <a:p>
            <a:r>
              <a:rPr lang="fr-FR" dirty="0">
                <a:solidFill>
                  <a:srgbClr val="D6D0C8"/>
                </a:solidFill>
                <a:latin typeface="pplxSansMono"/>
              </a:rPr>
              <a:t>db.listings_paris.</a:t>
            </a:r>
            <a:r>
              <a:rPr lang="fr-FR" dirty="0">
                <a:solidFill>
                  <a:srgbClr val="F7A7E6"/>
                </a:solidFill>
                <a:latin typeface="pplxSansMono"/>
              </a:rPr>
              <a:t>updateMany</a:t>
            </a:r>
            <a:r>
              <a:rPr lang="fr-FR" dirty="0">
                <a:solidFill>
                  <a:srgbClr val="D6D0C8"/>
                </a:solidFill>
                <a:latin typeface="pplxSansMono"/>
              </a:rPr>
              <a:t>(</a:t>
            </a:r>
          </a:p>
          <a:p>
            <a:r>
              <a:rPr lang="fr-FR" dirty="0">
                <a:solidFill>
                  <a:srgbClr val="D6D0C8"/>
                </a:solidFill>
                <a:latin typeface="pplxSansMono"/>
              </a:rPr>
              <a:t>  { city: { $</a:t>
            </a:r>
            <a:r>
              <a:rPr lang="fr-FR" dirty="0" err="1">
                <a:solidFill>
                  <a:srgbClr val="D6D0C8"/>
                </a:solidFill>
                <a:latin typeface="pplxSansMono"/>
              </a:rPr>
              <a:t>exists</a:t>
            </a:r>
            <a:r>
              <a:rPr lang="fr-FR" dirty="0">
                <a:solidFill>
                  <a:srgbClr val="D6D0C8"/>
                </a:solidFill>
                <a:latin typeface="pplxSansMono"/>
              </a:rPr>
              <a:t>: false } },</a:t>
            </a:r>
          </a:p>
          <a:p>
            <a:r>
              <a:rPr lang="fr-FR" dirty="0">
                <a:solidFill>
                  <a:srgbClr val="D6D0C8"/>
                </a:solidFill>
                <a:latin typeface="pplxSansMono"/>
              </a:rPr>
              <a:t>  { $set: { city: "</a:t>
            </a:r>
            <a:r>
              <a:rPr lang="fr-FR" dirty="0">
                <a:solidFill>
                  <a:schemeClr val="accent1">
                    <a:lumMod val="60000"/>
                    <a:lumOff val="40000"/>
                  </a:schemeClr>
                </a:solidFill>
                <a:latin typeface="pplxSansMono"/>
              </a:rPr>
              <a:t>Paris</a:t>
            </a:r>
            <a:r>
              <a:rPr lang="fr-FR" dirty="0">
                <a:solidFill>
                  <a:srgbClr val="D6D0C8"/>
                </a:solidFill>
                <a:latin typeface="pplxSansMono"/>
              </a:rPr>
              <a:t>" } }</a:t>
            </a:r>
          </a:p>
          <a:p>
            <a:r>
              <a:rPr lang="fr-FR" dirty="0">
                <a:solidFill>
                  <a:srgbClr val="D6D0C8"/>
                </a:solidFill>
                <a:latin typeface="pplxSansMono"/>
              </a:rPr>
              <a:t>)</a:t>
            </a:r>
            <a:endParaRPr lang="fr-FR" dirty="0"/>
          </a:p>
        </p:txBody>
      </p:sp>
      <p:sp>
        <p:nvSpPr>
          <p:cNvPr id="9" name="ZoneTexte 8">
            <a:extLst>
              <a:ext uri="{FF2B5EF4-FFF2-40B4-BE49-F238E27FC236}">
                <a16:creationId xmlns:a16="http://schemas.microsoft.com/office/drawing/2014/main" id="{26C17533-9D5E-3F70-8022-C82D744D6DDE}"/>
              </a:ext>
            </a:extLst>
          </p:cNvPr>
          <p:cNvSpPr txBox="1"/>
          <p:nvPr/>
        </p:nvSpPr>
        <p:spPr>
          <a:xfrm>
            <a:off x="4103108" y="3247118"/>
            <a:ext cx="5380328" cy="845040"/>
          </a:xfrm>
          <a:prstGeom prst="rect">
            <a:avLst/>
          </a:prstGeom>
          <a:noFill/>
        </p:spPr>
        <p:txBody>
          <a:bodyPr wrap="square">
            <a:spAutoFit/>
          </a:bodyPr>
          <a:lstStyle/>
          <a:p>
            <a:pPr>
              <a:lnSpc>
                <a:spcPts val="2025"/>
              </a:lnSpc>
              <a:buNone/>
            </a:pPr>
            <a:r>
              <a:rPr lang="fr-FR" b="0" dirty="0" err="1">
                <a:solidFill>
                  <a:srgbClr val="C9D1D9"/>
                </a:solidFill>
                <a:effectLst/>
                <a:latin typeface="pplxSansMono"/>
              </a:rPr>
              <a:t>df</a:t>
            </a:r>
            <a:r>
              <a:rPr lang="fr-FR" b="0" dirty="0">
                <a:solidFill>
                  <a:srgbClr val="BBBEBF"/>
                </a:solidFill>
                <a:effectLst/>
                <a:latin typeface="pplxSansMono"/>
              </a:rPr>
              <a:t> </a:t>
            </a:r>
            <a:r>
              <a:rPr lang="fr-FR" b="0" dirty="0">
                <a:solidFill>
                  <a:srgbClr val="D4D4D4"/>
                </a:solidFill>
                <a:effectLst/>
                <a:latin typeface="pplxSansMono"/>
              </a:rPr>
              <a:t>=</a:t>
            </a:r>
            <a:r>
              <a:rPr lang="fr-FR" b="0" dirty="0">
                <a:solidFill>
                  <a:srgbClr val="BBBEBF"/>
                </a:solidFill>
                <a:effectLst/>
                <a:latin typeface="pplxSansMono"/>
              </a:rPr>
              <a:t> </a:t>
            </a:r>
            <a:r>
              <a:rPr lang="fr-FR" b="0" dirty="0" err="1">
                <a:solidFill>
                  <a:srgbClr val="4EC9B0"/>
                </a:solidFill>
                <a:effectLst/>
                <a:latin typeface="pplxSansMono"/>
              </a:rPr>
              <a:t>pd</a:t>
            </a:r>
            <a:r>
              <a:rPr lang="fr-FR" b="0" dirty="0" err="1">
                <a:solidFill>
                  <a:srgbClr val="BBBEBF"/>
                </a:solidFill>
                <a:effectLst/>
                <a:latin typeface="pplxSansMono"/>
              </a:rPr>
              <a:t>.</a:t>
            </a:r>
            <a:r>
              <a:rPr lang="fr-FR" b="0" dirty="0" err="1">
                <a:solidFill>
                  <a:srgbClr val="D2A8FF"/>
                </a:solidFill>
                <a:effectLst/>
                <a:latin typeface="pplxSansMono"/>
              </a:rPr>
              <a:t>read_csv</a:t>
            </a:r>
            <a:r>
              <a:rPr lang="fr-FR" b="0" dirty="0">
                <a:solidFill>
                  <a:srgbClr val="BBBEBF"/>
                </a:solidFill>
                <a:effectLst/>
                <a:latin typeface="pplxSansMono"/>
              </a:rPr>
              <a:t>(</a:t>
            </a:r>
            <a:r>
              <a:rPr lang="fr-FR" b="0" dirty="0">
                <a:solidFill>
                  <a:srgbClr val="A5D6FF"/>
                </a:solidFill>
                <a:effectLst/>
                <a:latin typeface="pplxSansMono"/>
              </a:rPr>
              <a:t>"listings_Lyon+.csv"</a:t>
            </a:r>
            <a:r>
              <a:rPr lang="fr-FR" b="0" dirty="0">
                <a:solidFill>
                  <a:srgbClr val="BBBEBF"/>
                </a:solidFill>
                <a:effectLst/>
                <a:latin typeface="pplxSansMono"/>
              </a:rPr>
              <a:t>, </a:t>
            </a:r>
            <a:r>
              <a:rPr lang="fr-FR" b="0" dirty="0" err="1">
                <a:solidFill>
                  <a:srgbClr val="FFA657"/>
                </a:solidFill>
                <a:effectLst/>
                <a:latin typeface="pplxSansMono"/>
              </a:rPr>
              <a:t>low_memory</a:t>
            </a:r>
            <a:r>
              <a:rPr lang="fr-FR" b="0" dirty="0">
                <a:solidFill>
                  <a:srgbClr val="D4D4D4"/>
                </a:solidFill>
                <a:effectLst/>
                <a:latin typeface="pplxSansMono"/>
              </a:rPr>
              <a:t>=</a:t>
            </a:r>
            <a:r>
              <a:rPr lang="fr-FR" b="0" dirty="0">
                <a:solidFill>
                  <a:srgbClr val="569CD6"/>
                </a:solidFill>
                <a:effectLst/>
                <a:latin typeface="pplxSansMono"/>
              </a:rPr>
              <a:t>False</a:t>
            </a:r>
            <a:r>
              <a:rPr lang="fr-FR" b="0" dirty="0">
                <a:solidFill>
                  <a:srgbClr val="BBBEBF"/>
                </a:solidFill>
                <a:effectLst/>
                <a:latin typeface="pplxSansMono"/>
              </a:rPr>
              <a:t>)</a:t>
            </a:r>
          </a:p>
          <a:p>
            <a:pPr>
              <a:lnSpc>
                <a:spcPts val="2025"/>
              </a:lnSpc>
              <a:buNone/>
            </a:pPr>
            <a:r>
              <a:rPr lang="fr-FR" b="0" dirty="0" err="1">
                <a:solidFill>
                  <a:srgbClr val="C9D1D9"/>
                </a:solidFill>
                <a:effectLst/>
                <a:latin typeface="pplxSansMono"/>
              </a:rPr>
              <a:t>df</a:t>
            </a:r>
            <a:r>
              <a:rPr lang="fr-FR" b="0" dirty="0">
                <a:solidFill>
                  <a:srgbClr val="BBBEBF"/>
                </a:solidFill>
                <a:effectLst/>
                <a:latin typeface="pplxSansMono"/>
              </a:rPr>
              <a:t>[</a:t>
            </a:r>
            <a:r>
              <a:rPr lang="fr-FR" b="0" dirty="0">
                <a:solidFill>
                  <a:srgbClr val="A5D6FF"/>
                </a:solidFill>
                <a:effectLst/>
                <a:latin typeface="pplxSansMono"/>
              </a:rPr>
              <a:t>"city"</a:t>
            </a:r>
            <a:r>
              <a:rPr lang="fr-FR" b="0" dirty="0">
                <a:solidFill>
                  <a:srgbClr val="BBBEBF"/>
                </a:solidFill>
                <a:effectLst/>
                <a:latin typeface="pplxSansMono"/>
              </a:rPr>
              <a:t>] </a:t>
            </a:r>
            <a:r>
              <a:rPr lang="fr-FR" b="0" dirty="0">
                <a:solidFill>
                  <a:srgbClr val="D4D4D4"/>
                </a:solidFill>
                <a:effectLst/>
                <a:latin typeface="pplxSansMono"/>
              </a:rPr>
              <a:t>=</a:t>
            </a:r>
            <a:r>
              <a:rPr lang="fr-FR" b="0" dirty="0">
                <a:solidFill>
                  <a:srgbClr val="BBBEBF"/>
                </a:solidFill>
                <a:effectLst/>
                <a:latin typeface="pplxSansMono"/>
              </a:rPr>
              <a:t> </a:t>
            </a:r>
            <a:r>
              <a:rPr lang="fr-FR" b="0" dirty="0">
                <a:solidFill>
                  <a:srgbClr val="A5D6FF"/>
                </a:solidFill>
                <a:effectLst/>
                <a:latin typeface="pplxSansMono"/>
              </a:rPr>
              <a:t>"Lyon"</a:t>
            </a:r>
            <a:endParaRPr lang="fr-FR" b="0" dirty="0">
              <a:solidFill>
                <a:srgbClr val="BBBEBF"/>
              </a:solidFill>
              <a:effectLst/>
              <a:latin typeface="pplxSansMono"/>
            </a:endParaRPr>
          </a:p>
          <a:p>
            <a:pPr>
              <a:lnSpc>
                <a:spcPts val="2025"/>
              </a:lnSpc>
              <a:buNone/>
            </a:pPr>
            <a:r>
              <a:rPr lang="fr-FR" b="0" dirty="0" err="1">
                <a:solidFill>
                  <a:srgbClr val="C9D1D9"/>
                </a:solidFill>
                <a:effectLst/>
                <a:latin typeface="pplxSansMono"/>
              </a:rPr>
              <a:t>df</a:t>
            </a:r>
            <a:r>
              <a:rPr lang="fr-FR" b="0" dirty="0" err="1">
                <a:solidFill>
                  <a:srgbClr val="BBBEBF"/>
                </a:solidFill>
                <a:effectLst/>
                <a:latin typeface="pplxSansMono"/>
              </a:rPr>
              <a:t>.</a:t>
            </a:r>
            <a:r>
              <a:rPr lang="fr-FR" b="0" dirty="0" err="1">
                <a:solidFill>
                  <a:srgbClr val="D2A8FF"/>
                </a:solidFill>
                <a:effectLst/>
                <a:latin typeface="pplxSansMono"/>
              </a:rPr>
              <a:t>to_csv</a:t>
            </a:r>
            <a:r>
              <a:rPr lang="fr-FR" b="0" dirty="0">
                <a:solidFill>
                  <a:srgbClr val="BBBEBF"/>
                </a:solidFill>
                <a:effectLst/>
                <a:latin typeface="pplxSansMono"/>
              </a:rPr>
              <a:t>(</a:t>
            </a:r>
            <a:r>
              <a:rPr lang="fr-FR" b="0" dirty="0">
                <a:solidFill>
                  <a:srgbClr val="A5D6FF"/>
                </a:solidFill>
                <a:effectLst/>
                <a:latin typeface="pplxSansMono"/>
              </a:rPr>
              <a:t>"listings_lyon_tagged.csv"</a:t>
            </a:r>
            <a:r>
              <a:rPr lang="fr-FR" b="0" dirty="0">
                <a:solidFill>
                  <a:srgbClr val="BBBEBF"/>
                </a:solidFill>
                <a:effectLst/>
                <a:latin typeface="pplxSansMono"/>
              </a:rPr>
              <a:t>, </a:t>
            </a:r>
            <a:r>
              <a:rPr lang="fr-FR" b="0" dirty="0">
                <a:solidFill>
                  <a:srgbClr val="FFA657"/>
                </a:solidFill>
                <a:effectLst/>
                <a:latin typeface="pplxSansMono"/>
              </a:rPr>
              <a:t>index</a:t>
            </a:r>
            <a:r>
              <a:rPr lang="fr-FR" b="0" dirty="0">
                <a:solidFill>
                  <a:srgbClr val="D4D4D4"/>
                </a:solidFill>
                <a:effectLst/>
                <a:latin typeface="pplxSansMono"/>
              </a:rPr>
              <a:t>=</a:t>
            </a:r>
            <a:r>
              <a:rPr lang="fr-FR" b="0" dirty="0">
                <a:solidFill>
                  <a:srgbClr val="569CD6"/>
                </a:solidFill>
                <a:effectLst/>
                <a:latin typeface="pplxSansMono"/>
              </a:rPr>
              <a:t>False</a:t>
            </a:r>
            <a:r>
              <a:rPr lang="fr-FR" b="0" dirty="0">
                <a:solidFill>
                  <a:srgbClr val="BBBEBF"/>
                </a:solidFill>
                <a:effectLst/>
                <a:latin typeface="pplxSansMono"/>
              </a:rPr>
              <a:t>, </a:t>
            </a:r>
            <a:r>
              <a:rPr lang="fr-FR" b="0" dirty="0" err="1">
                <a:solidFill>
                  <a:srgbClr val="FFA657"/>
                </a:solidFill>
                <a:effectLst/>
                <a:latin typeface="pplxSansMono"/>
              </a:rPr>
              <a:t>encoding</a:t>
            </a:r>
            <a:r>
              <a:rPr lang="fr-FR" b="0" dirty="0">
                <a:solidFill>
                  <a:srgbClr val="D4D4D4"/>
                </a:solidFill>
                <a:effectLst/>
                <a:latin typeface="pplxSansMono"/>
              </a:rPr>
              <a:t>=</a:t>
            </a:r>
            <a:r>
              <a:rPr lang="fr-FR" b="0" dirty="0">
                <a:solidFill>
                  <a:srgbClr val="A5D6FF"/>
                </a:solidFill>
                <a:effectLst/>
                <a:latin typeface="pplxSansMono"/>
              </a:rPr>
              <a:t>"utf-8"</a:t>
            </a:r>
            <a:r>
              <a:rPr lang="fr-FR" b="0" dirty="0">
                <a:solidFill>
                  <a:srgbClr val="BBBEBF"/>
                </a:solidFill>
                <a:effectLst/>
                <a:latin typeface="pplxSansMono"/>
              </a:rPr>
              <a:t>)</a:t>
            </a:r>
          </a:p>
        </p:txBody>
      </p:sp>
    </p:spTree>
    <p:extLst>
      <p:ext uri="{BB962C8B-B14F-4D97-AF65-F5344CB8AC3E}">
        <p14:creationId xmlns:p14="http://schemas.microsoft.com/office/powerpoint/2010/main" val="2253872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56040191-BC5A-819E-4C03-7CEBE7CF448B}"/>
            </a:ext>
          </a:extLst>
        </p:cNvPr>
        <p:cNvGrpSpPr/>
        <p:nvPr/>
      </p:nvGrpSpPr>
      <p:grpSpPr>
        <a:xfrm>
          <a:off x="0" y="0"/>
          <a:ext cx="0" cy="0"/>
          <a:chOff x="0" y="0"/>
          <a:chExt cx="0" cy="0"/>
        </a:xfrm>
      </p:grpSpPr>
      <p:sp>
        <p:nvSpPr>
          <p:cNvPr id="79" name="Google Shape;79;p17">
            <a:extLst>
              <a:ext uri="{FF2B5EF4-FFF2-40B4-BE49-F238E27FC236}">
                <a16:creationId xmlns:a16="http://schemas.microsoft.com/office/drawing/2014/main" id="{5EE396E2-B945-D171-92E3-22621739A6A1}"/>
              </a:ext>
            </a:extLst>
          </p:cNvPr>
          <p:cNvSpPr txBox="1">
            <a:spLocks noGrp="1"/>
          </p:cNvSpPr>
          <p:nvPr>
            <p:ph type="body" idx="1"/>
          </p:nvPr>
        </p:nvSpPr>
        <p:spPr>
          <a:xfrm>
            <a:off x="311699" y="4605870"/>
            <a:ext cx="8520600" cy="578176"/>
          </a:xfrm>
          <a:prstGeom prst="rect">
            <a:avLst/>
          </a:prstGeom>
        </p:spPr>
        <p:txBody>
          <a:bodyPr spcFirstLastPara="1" wrap="square" lIns="91425" tIns="91425" rIns="91425" bIns="91425" anchor="t" anchorCtr="0">
            <a:normAutofit lnSpcReduction="10000"/>
          </a:bodyPr>
          <a:lstStyle/>
          <a:p>
            <a:pPr marL="0" marR="152400" lvl="0" indent="0" algn="l" rtl="0">
              <a:spcBef>
                <a:spcPts val="0"/>
              </a:spcBef>
              <a:spcAft>
                <a:spcPts val="0"/>
              </a:spcAft>
              <a:buClr>
                <a:schemeClr val="dk1"/>
              </a:buClr>
              <a:buSzPts val="1100"/>
              <a:buFont typeface="Arial"/>
              <a:buNone/>
            </a:pPr>
            <a:r>
              <a:rPr lang="fr-FR" sz="1200" b="0" i="1" dirty="0">
                <a:solidFill>
                  <a:srgbClr val="D6D5D4"/>
                </a:solidFill>
                <a:effectLst/>
                <a:latin typeface="pplxSerif"/>
              </a:rPr>
              <a:t>Un </a:t>
            </a:r>
            <a:r>
              <a:rPr lang="fr-FR" sz="1200" b="0" i="1" dirty="0" err="1">
                <a:solidFill>
                  <a:srgbClr val="D6D5D4"/>
                </a:solidFill>
                <a:effectLst/>
                <a:latin typeface="pplxSerif"/>
              </a:rPr>
              <a:t>ReplicaSet</a:t>
            </a:r>
            <a:r>
              <a:rPr lang="fr-FR" sz="1200" b="0" i="1" dirty="0">
                <a:solidFill>
                  <a:srgbClr val="D6D5D4"/>
                </a:solidFill>
                <a:effectLst/>
                <a:latin typeface="pplxSerif"/>
              </a:rPr>
              <a:t> de 3 nœuds a été crée en local sur 3 ports différents pour simuler plusieurs serveurs physiques. Le </a:t>
            </a:r>
            <a:r>
              <a:rPr lang="fr-FR" sz="1200" b="0" i="1" dirty="0" err="1">
                <a:solidFill>
                  <a:srgbClr val="D6D5D4"/>
                </a:solidFill>
                <a:effectLst/>
                <a:latin typeface="pplxSerif"/>
              </a:rPr>
              <a:t>Primary</a:t>
            </a:r>
            <a:r>
              <a:rPr lang="fr-FR" sz="1200" b="0" i="1" dirty="0">
                <a:solidFill>
                  <a:srgbClr val="D6D5D4"/>
                </a:solidFill>
                <a:effectLst/>
                <a:latin typeface="pplxSerif"/>
              </a:rPr>
              <a:t> reçoit toutes les écritures, le </a:t>
            </a:r>
            <a:r>
              <a:rPr lang="fr-FR" sz="1200" b="0" i="1" dirty="0" err="1">
                <a:solidFill>
                  <a:srgbClr val="D6D5D4"/>
                </a:solidFill>
                <a:effectLst/>
                <a:latin typeface="pplxSerif"/>
              </a:rPr>
              <a:t>Secondary</a:t>
            </a:r>
            <a:r>
              <a:rPr lang="fr-FR" sz="1200" b="0" i="1" dirty="0">
                <a:solidFill>
                  <a:srgbClr val="D6D5D4"/>
                </a:solidFill>
                <a:effectLst/>
                <a:latin typeface="pplxSerif"/>
              </a:rPr>
              <a:t> réplique les données en temps réel, l'Arbitre gère les votes d'élection en cas de panne</a:t>
            </a:r>
            <a:endParaRPr sz="1200" dirty="0">
              <a:solidFill>
                <a:srgbClr val="271A38"/>
              </a:solidFill>
              <a:latin typeface="Inter"/>
              <a:ea typeface="Inter"/>
              <a:cs typeface="Inter"/>
              <a:sym typeface="Inter"/>
            </a:endParaRPr>
          </a:p>
        </p:txBody>
      </p:sp>
      <p:sp>
        <p:nvSpPr>
          <p:cNvPr id="80" name="Rectangle 79">
            <a:extLst>
              <a:ext uri="{FF2B5EF4-FFF2-40B4-BE49-F238E27FC236}">
                <a16:creationId xmlns:a16="http://schemas.microsoft.com/office/drawing/2014/main" id="{D5D07964-E099-388C-F7E1-04700393B19D}"/>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57B99D6F-F07F-99A6-31D8-91BDA3F64087}"/>
              </a:ext>
            </a:extLst>
          </p:cNvPr>
          <p:cNvSpPr txBox="1"/>
          <p:nvPr/>
        </p:nvSpPr>
        <p:spPr>
          <a:xfrm>
            <a:off x="540000" y="216000"/>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a:ln>
                  <a:noFill/>
                </a:ln>
                <a:solidFill>
                  <a:srgbClr val="FFFFFF"/>
                </a:solidFill>
                <a:effectLst/>
                <a:uLnTx/>
                <a:uFillTx/>
                <a:latin typeface="Calibri Light"/>
                <a:cs typeface="Arial"/>
                <a:sym typeface="Arial"/>
              </a:rPr>
              <a:t>Partie 3 — Pérenniser la base de données</a:t>
            </a:r>
          </a:p>
        </p:txBody>
      </p:sp>
      <p:sp>
        <p:nvSpPr>
          <p:cNvPr id="82" name="Rectangle 81">
            <a:extLst>
              <a:ext uri="{FF2B5EF4-FFF2-40B4-BE49-F238E27FC236}">
                <a16:creationId xmlns:a16="http://schemas.microsoft.com/office/drawing/2014/main" id="{5847E3C1-70F1-5247-03C2-4DD7A092F87E}"/>
              </a:ext>
            </a:extLst>
          </p:cNvPr>
          <p:cNvSpPr/>
          <p:nvPr/>
        </p:nvSpPr>
        <p:spPr>
          <a:xfrm>
            <a:off x="540000" y="827999"/>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TextBox 82">
            <a:extLst>
              <a:ext uri="{FF2B5EF4-FFF2-40B4-BE49-F238E27FC236}">
                <a16:creationId xmlns:a16="http://schemas.microsoft.com/office/drawing/2014/main" id="{AC75DDA1-1F92-E406-375D-D75E804517E9}"/>
              </a:ext>
            </a:extLst>
          </p:cNvPr>
          <p:cNvSpPr txBox="1"/>
          <p:nvPr/>
        </p:nvSpPr>
        <p:spPr>
          <a:xfrm>
            <a:off x="463800" y="827999"/>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Étape 2 : Réplication des données avec </a:t>
            </a:r>
            <a:r>
              <a:rPr kumimoji="0" lang="fr-FR" sz="1600" b="1" i="0" u="none" strike="noStrike" kern="0" cap="none" spc="0" normalizeH="0" baseline="0" noProof="0" dirty="0" err="1">
                <a:ln>
                  <a:noFill/>
                </a:ln>
                <a:solidFill>
                  <a:srgbClr val="F5A623"/>
                </a:solidFill>
                <a:effectLst/>
                <a:uLnTx/>
                <a:uFillTx/>
                <a:latin typeface="Calibri"/>
                <a:cs typeface="Arial"/>
                <a:sym typeface="Arial"/>
              </a:rPr>
              <a:t>ReplicaSet</a:t>
            </a:r>
            <a:endParaRPr kumimoji="0" sz="1600" b="1" i="0" u="none" strike="noStrike" kern="0" cap="none" spc="0" normalizeH="0" baseline="0" noProof="0" dirty="0">
              <a:ln>
                <a:noFill/>
              </a:ln>
              <a:solidFill>
                <a:srgbClr val="F5A623"/>
              </a:solidFill>
              <a:effectLst/>
              <a:uLnTx/>
              <a:uFillTx/>
              <a:latin typeface="Calibri"/>
              <a:cs typeface="Arial"/>
              <a:sym typeface="Arial"/>
            </a:endParaRPr>
          </a:p>
        </p:txBody>
      </p:sp>
      <p:sp>
        <p:nvSpPr>
          <p:cNvPr id="5" name="Google Shape;79;p17">
            <a:extLst>
              <a:ext uri="{FF2B5EF4-FFF2-40B4-BE49-F238E27FC236}">
                <a16:creationId xmlns:a16="http://schemas.microsoft.com/office/drawing/2014/main" id="{5AEB6F7C-AEBD-F689-D9B9-DB044242FFF9}"/>
              </a:ext>
            </a:extLst>
          </p:cNvPr>
          <p:cNvSpPr txBox="1">
            <a:spLocks/>
          </p:cNvSpPr>
          <p:nvPr/>
        </p:nvSpPr>
        <p:spPr>
          <a:xfrm>
            <a:off x="311699" y="997277"/>
            <a:ext cx="8763027" cy="578176"/>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indent="0">
              <a:buClr>
                <a:schemeClr val="dk1"/>
              </a:buClr>
              <a:buSzPts val="1100"/>
              <a:buFont typeface="Arial"/>
              <a:buNone/>
            </a:pPr>
            <a:r>
              <a:rPr lang="fr-FR" sz="1200" i="1" dirty="0">
                <a:solidFill>
                  <a:srgbClr val="D6D5D4"/>
                </a:solidFill>
                <a:latin typeface="pplxSerif"/>
              </a:rPr>
              <a:t>La  stratégie de réplication vise à protéger les données contre les pannes matérielles. Si le </a:t>
            </a:r>
            <a:r>
              <a:rPr lang="fr-FR" sz="1200" i="1" dirty="0" err="1">
                <a:solidFill>
                  <a:srgbClr val="D6D5D4"/>
                </a:solidFill>
                <a:latin typeface="pplxSerif"/>
              </a:rPr>
              <a:t>Primary</a:t>
            </a:r>
            <a:r>
              <a:rPr lang="fr-FR" sz="1200" i="1" dirty="0">
                <a:solidFill>
                  <a:srgbClr val="D6D5D4"/>
                </a:solidFill>
                <a:latin typeface="pplxSerif"/>
              </a:rPr>
              <a:t> tombe, le </a:t>
            </a:r>
            <a:r>
              <a:rPr lang="fr-FR" sz="1200" i="1" dirty="0" err="1">
                <a:solidFill>
                  <a:srgbClr val="D6D5D4"/>
                </a:solidFill>
                <a:latin typeface="pplxSerif"/>
              </a:rPr>
              <a:t>Secondary</a:t>
            </a:r>
            <a:r>
              <a:rPr lang="fr-FR" sz="1200" i="1" dirty="0">
                <a:solidFill>
                  <a:srgbClr val="D6D5D4"/>
                </a:solidFill>
                <a:latin typeface="pplxSerif"/>
              </a:rPr>
              <a:t> prend automatiquement le relais grâce au vote de l'Arbitre. Aucune donnée n'est perdue et le service reste disponible.</a:t>
            </a:r>
            <a:endParaRPr lang="fr-FR" sz="1200" dirty="0">
              <a:solidFill>
                <a:srgbClr val="271A38"/>
              </a:solidFill>
              <a:latin typeface="Inter"/>
              <a:ea typeface="Inter"/>
              <a:cs typeface="Inter"/>
              <a:sym typeface="Inter"/>
            </a:endParaRPr>
          </a:p>
        </p:txBody>
      </p:sp>
      <p:pic>
        <p:nvPicPr>
          <p:cNvPr id="7" name="Image 6">
            <a:extLst>
              <a:ext uri="{FF2B5EF4-FFF2-40B4-BE49-F238E27FC236}">
                <a16:creationId xmlns:a16="http://schemas.microsoft.com/office/drawing/2014/main" id="{E533F830-53EF-2017-F1A8-43BD0FB5AED2}"/>
              </a:ext>
            </a:extLst>
          </p:cNvPr>
          <p:cNvPicPr>
            <a:picLocks noChangeAspect="1"/>
          </p:cNvPicPr>
          <p:nvPr/>
        </p:nvPicPr>
        <p:blipFill>
          <a:blip r:embed="rId3"/>
          <a:stretch>
            <a:fillRect/>
          </a:stretch>
        </p:blipFill>
        <p:spPr>
          <a:xfrm>
            <a:off x="371347" y="1702821"/>
            <a:ext cx="2805656" cy="1075118"/>
          </a:xfrm>
          <a:prstGeom prst="rect">
            <a:avLst/>
          </a:prstGeom>
        </p:spPr>
      </p:pic>
      <p:pic>
        <p:nvPicPr>
          <p:cNvPr id="9" name="Image 8">
            <a:extLst>
              <a:ext uri="{FF2B5EF4-FFF2-40B4-BE49-F238E27FC236}">
                <a16:creationId xmlns:a16="http://schemas.microsoft.com/office/drawing/2014/main" id="{9D33F80C-7760-0506-778D-746EBF0417CF}"/>
              </a:ext>
            </a:extLst>
          </p:cNvPr>
          <p:cNvPicPr>
            <a:picLocks noChangeAspect="1"/>
          </p:cNvPicPr>
          <p:nvPr/>
        </p:nvPicPr>
        <p:blipFill>
          <a:blip r:embed="rId4"/>
          <a:stretch>
            <a:fillRect/>
          </a:stretch>
        </p:blipFill>
        <p:spPr>
          <a:xfrm>
            <a:off x="3367546" y="1702330"/>
            <a:ext cx="2914626" cy="1075118"/>
          </a:xfrm>
          <a:prstGeom prst="rect">
            <a:avLst/>
          </a:prstGeom>
        </p:spPr>
      </p:pic>
      <p:pic>
        <p:nvPicPr>
          <p:cNvPr id="11" name="Image 10">
            <a:extLst>
              <a:ext uri="{FF2B5EF4-FFF2-40B4-BE49-F238E27FC236}">
                <a16:creationId xmlns:a16="http://schemas.microsoft.com/office/drawing/2014/main" id="{18453516-09FA-46F3-9EE1-ED155284D413}"/>
              </a:ext>
            </a:extLst>
          </p:cNvPr>
          <p:cNvPicPr>
            <a:picLocks noChangeAspect="1"/>
          </p:cNvPicPr>
          <p:nvPr/>
        </p:nvPicPr>
        <p:blipFill>
          <a:blip r:embed="rId5"/>
          <a:stretch>
            <a:fillRect/>
          </a:stretch>
        </p:blipFill>
        <p:spPr>
          <a:xfrm>
            <a:off x="6598794" y="1702330"/>
            <a:ext cx="2240435" cy="1074627"/>
          </a:xfrm>
          <a:prstGeom prst="rect">
            <a:avLst/>
          </a:prstGeom>
        </p:spPr>
      </p:pic>
      <p:sp>
        <p:nvSpPr>
          <p:cNvPr id="13" name="TextBox 82">
            <a:extLst>
              <a:ext uri="{FF2B5EF4-FFF2-40B4-BE49-F238E27FC236}">
                <a16:creationId xmlns:a16="http://schemas.microsoft.com/office/drawing/2014/main" id="{3C68095F-852E-804F-D80C-6D255FB8EFFD}"/>
              </a:ext>
            </a:extLst>
          </p:cNvPr>
          <p:cNvSpPr txBox="1"/>
          <p:nvPr/>
        </p:nvSpPr>
        <p:spPr>
          <a:xfrm>
            <a:off x="1163455" y="1444414"/>
            <a:ext cx="102556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00B050"/>
                </a:solidFill>
                <a:effectLst/>
                <a:uLnTx/>
                <a:uFillTx/>
                <a:latin typeface="Calibri"/>
                <a:cs typeface="Arial"/>
                <a:sym typeface="Arial"/>
              </a:rPr>
              <a:t>PRIMARY</a:t>
            </a:r>
            <a:endParaRPr kumimoji="0" sz="1600" b="1" i="0" u="none" strike="noStrike" kern="0" cap="none" spc="0" normalizeH="0" baseline="0" noProof="0" dirty="0">
              <a:ln>
                <a:noFill/>
              </a:ln>
              <a:solidFill>
                <a:srgbClr val="00B050"/>
              </a:solidFill>
              <a:effectLst/>
              <a:uLnTx/>
              <a:uFillTx/>
              <a:latin typeface="Calibri"/>
              <a:cs typeface="Arial"/>
              <a:sym typeface="Arial"/>
            </a:endParaRPr>
          </a:p>
        </p:txBody>
      </p:sp>
      <p:sp>
        <p:nvSpPr>
          <p:cNvPr id="15" name="TextBox 82">
            <a:extLst>
              <a:ext uri="{FF2B5EF4-FFF2-40B4-BE49-F238E27FC236}">
                <a16:creationId xmlns:a16="http://schemas.microsoft.com/office/drawing/2014/main" id="{730F7149-7EDA-FDD9-1509-47A931E0C149}"/>
              </a:ext>
            </a:extLst>
          </p:cNvPr>
          <p:cNvSpPr txBox="1"/>
          <p:nvPr/>
        </p:nvSpPr>
        <p:spPr>
          <a:xfrm>
            <a:off x="4163141" y="1433522"/>
            <a:ext cx="132343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00B050"/>
                </a:solidFill>
                <a:effectLst/>
                <a:uLnTx/>
                <a:uFillTx/>
                <a:latin typeface="Calibri"/>
                <a:cs typeface="Arial"/>
                <a:sym typeface="Arial"/>
              </a:rPr>
              <a:t>SECONDARY</a:t>
            </a:r>
            <a:endParaRPr kumimoji="0" sz="1600" b="1" i="0" u="none" strike="noStrike" kern="0" cap="none" spc="0" normalizeH="0" baseline="0" noProof="0" dirty="0">
              <a:ln>
                <a:noFill/>
              </a:ln>
              <a:solidFill>
                <a:srgbClr val="00B050"/>
              </a:solidFill>
              <a:effectLst/>
              <a:uLnTx/>
              <a:uFillTx/>
              <a:latin typeface="Calibri"/>
              <a:cs typeface="Arial"/>
              <a:sym typeface="Arial"/>
            </a:endParaRPr>
          </a:p>
        </p:txBody>
      </p:sp>
      <p:sp>
        <p:nvSpPr>
          <p:cNvPr id="17" name="TextBox 82">
            <a:extLst>
              <a:ext uri="{FF2B5EF4-FFF2-40B4-BE49-F238E27FC236}">
                <a16:creationId xmlns:a16="http://schemas.microsoft.com/office/drawing/2014/main" id="{DF04AE03-A0C0-526F-03E8-9496FDDCF71F}"/>
              </a:ext>
            </a:extLst>
          </p:cNvPr>
          <p:cNvSpPr txBox="1"/>
          <p:nvPr/>
        </p:nvSpPr>
        <p:spPr>
          <a:xfrm>
            <a:off x="7111395" y="1433522"/>
            <a:ext cx="102556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00B050"/>
                </a:solidFill>
                <a:effectLst/>
                <a:uLnTx/>
                <a:uFillTx/>
                <a:latin typeface="Calibri"/>
                <a:cs typeface="Arial"/>
                <a:sym typeface="Arial"/>
              </a:rPr>
              <a:t>ARBITER</a:t>
            </a:r>
            <a:endParaRPr kumimoji="0" sz="1600" b="1" i="0" u="none" strike="noStrike" kern="0" cap="none" spc="0" normalizeH="0" baseline="0" noProof="0" dirty="0">
              <a:ln>
                <a:noFill/>
              </a:ln>
              <a:solidFill>
                <a:srgbClr val="00B050"/>
              </a:solidFill>
              <a:effectLst/>
              <a:uLnTx/>
              <a:uFillTx/>
              <a:latin typeface="Calibri"/>
              <a:cs typeface="Arial"/>
              <a:sym typeface="Arial"/>
            </a:endParaRPr>
          </a:p>
        </p:txBody>
      </p:sp>
      <p:pic>
        <p:nvPicPr>
          <p:cNvPr id="19" name="Image 18">
            <a:extLst>
              <a:ext uri="{FF2B5EF4-FFF2-40B4-BE49-F238E27FC236}">
                <a16:creationId xmlns:a16="http://schemas.microsoft.com/office/drawing/2014/main" id="{2811D113-2D22-729E-6CA8-877A0928D9EB}"/>
              </a:ext>
            </a:extLst>
          </p:cNvPr>
          <p:cNvPicPr>
            <a:picLocks noChangeAspect="1"/>
          </p:cNvPicPr>
          <p:nvPr/>
        </p:nvPicPr>
        <p:blipFill>
          <a:blip r:embed="rId6"/>
          <a:stretch>
            <a:fillRect/>
          </a:stretch>
        </p:blipFill>
        <p:spPr>
          <a:xfrm>
            <a:off x="1953488" y="3813722"/>
            <a:ext cx="2739724" cy="792148"/>
          </a:xfrm>
          <a:prstGeom prst="rect">
            <a:avLst/>
          </a:prstGeom>
        </p:spPr>
      </p:pic>
      <p:sp>
        <p:nvSpPr>
          <p:cNvPr id="23" name="ZoneTexte 22">
            <a:extLst>
              <a:ext uri="{FF2B5EF4-FFF2-40B4-BE49-F238E27FC236}">
                <a16:creationId xmlns:a16="http://schemas.microsoft.com/office/drawing/2014/main" id="{DA969610-0FED-3ADC-0441-80DC26665B6E}"/>
              </a:ext>
            </a:extLst>
          </p:cNvPr>
          <p:cNvSpPr txBox="1"/>
          <p:nvPr/>
        </p:nvSpPr>
        <p:spPr>
          <a:xfrm>
            <a:off x="216327" y="3023551"/>
            <a:ext cx="5721624" cy="461665"/>
          </a:xfrm>
          <a:prstGeom prst="rect">
            <a:avLst/>
          </a:prstGeom>
          <a:noFill/>
        </p:spPr>
        <p:txBody>
          <a:bodyPr wrap="square">
            <a:spAutoFit/>
          </a:bodyPr>
          <a:lstStyle/>
          <a:p>
            <a:r>
              <a:rPr lang="fr-FR" sz="1200" b="0" i="1" dirty="0">
                <a:solidFill>
                  <a:schemeClr val="bg1"/>
                </a:solidFill>
                <a:effectLst/>
                <a:latin typeface="pplxSansMono"/>
              </a:rPr>
              <a:t>Connection PRIMARY (port 27020) : </a:t>
            </a:r>
          </a:p>
          <a:p>
            <a:r>
              <a:rPr lang="fr-FR" sz="1200" b="0" i="0" dirty="0" err="1">
                <a:solidFill>
                  <a:srgbClr val="D6D0C8"/>
                </a:solidFill>
                <a:effectLst/>
                <a:latin typeface="pplxSansMono"/>
              </a:rPr>
              <a:t>db.test_replication.</a:t>
            </a:r>
            <a:r>
              <a:rPr lang="fr-FR" sz="1200" b="0" i="0" dirty="0" err="1">
                <a:solidFill>
                  <a:srgbClr val="D2A8FF"/>
                </a:solidFill>
                <a:effectLst/>
                <a:latin typeface="pplxSansMono"/>
              </a:rPr>
              <a:t>insertOne</a:t>
            </a:r>
            <a:r>
              <a:rPr lang="fr-FR" sz="1200" b="0" i="0" dirty="0">
                <a:solidFill>
                  <a:srgbClr val="D6D0C8"/>
                </a:solidFill>
                <a:effectLst/>
                <a:latin typeface="pplxSansMono"/>
              </a:rPr>
              <a:t>({ message: </a:t>
            </a:r>
            <a:r>
              <a:rPr lang="fr-FR" sz="1200" b="0" i="0" dirty="0">
                <a:solidFill>
                  <a:srgbClr val="A5D6FF"/>
                </a:solidFill>
                <a:effectLst/>
                <a:latin typeface="pplxSansMono"/>
              </a:rPr>
              <a:t>"test </a:t>
            </a:r>
            <a:r>
              <a:rPr lang="fr-FR" sz="1200" b="0" i="0" dirty="0" err="1">
                <a:solidFill>
                  <a:srgbClr val="A5D6FF"/>
                </a:solidFill>
                <a:effectLst/>
                <a:latin typeface="pplxSansMono"/>
              </a:rPr>
              <a:t>replication</a:t>
            </a:r>
            <a:r>
              <a:rPr lang="fr-FR" sz="1200" b="0" i="0" dirty="0">
                <a:solidFill>
                  <a:srgbClr val="A5D6FF"/>
                </a:solidFill>
                <a:effectLst/>
                <a:latin typeface="pplxSansMono"/>
              </a:rPr>
              <a:t>"</a:t>
            </a:r>
            <a:r>
              <a:rPr lang="fr-FR" sz="1200" b="0" i="0" dirty="0">
                <a:solidFill>
                  <a:srgbClr val="D6D0C8"/>
                </a:solidFill>
                <a:effectLst/>
                <a:latin typeface="pplxSansMono"/>
              </a:rPr>
              <a:t>, city: </a:t>
            </a:r>
            <a:r>
              <a:rPr lang="fr-FR" sz="1200" b="0" i="0" dirty="0">
                <a:solidFill>
                  <a:srgbClr val="A5D6FF"/>
                </a:solidFill>
                <a:effectLst/>
                <a:latin typeface="pplxSansMono"/>
              </a:rPr>
              <a:t>"Paris"</a:t>
            </a:r>
            <a:r>
              <a:rPr lang="fr-FR" sz="1200" b="0" i="0" dirty="0">
                <a:solidFill>
                  <a:srgbClr val="D6D0C8"/>
                </a:solidFill>
                <a:effectLst/>
                <a:latin typeface="pplxSansMono"/>
              </a:rPr>
              <a:t> })</a:t>
            </a:r>
            <a:endParaRPr lang="fr-FR" sz="1200" dirty="0"/>
          </a:p>
        </p:txBody>
      </p:sp>
      <p:sp>
        <p:nvSpPr>
          <p:cNvPr id="25" name="TextBox 82">
            <a:extLst>
              <a:ext uri="{FF2B5EF4-FFF2-40B4-BE49-F238E27FC236}">
                <a16:creationId xmlns:a16="http://schemas.microsoft.com/office/drawing/2014/main" id="{26B93BAC-C76A-6A90-E102-9CF8B7E044BF}"/>
              </a:ext>
            </a:extLst>
          </p:cNvPr>
          <p:cNvSpPr txBox="1"/>
          <p:nvPr/>
        </p:nvSpPr>
        <p:spPr>
          <a:xfrm>
            <a:off x="239700" y="2776957"/>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F0000"/>
                </a:solidFill>
                <a:effectLst/>
                <a:uLnTx/>
                <a:uFillTx/>
                <a:latin typeface="Calibri"/>
                <a:cs typeface="Arial"/>
                <a:sym typeface="Arial"/>
              </a:rPr>
              <a:t>Vérification fonctionnement :  </a:t>
            </a:r>
            <a:endParaRPr kumimoji="0" sz="1600" b="1" i="0" u="none" strike="noStrike" kern="0" cap="none" spc="0" normalizeH="0" baseline="0" noProof="0" dirty="0">
              <a:ln>
                <a:noFill/>
              </a:ln>
              <a:solidFill>
                <a:srgbClr val="FF0000"/>
              </a:solidFill>
              <a:effectLst/>
              <a:uLnTx/>
              <a:uFillTx/>
              <a:latin typeface="Calibri"/>
              <a:cs typeface="Arial"/>
              <a:sym typeface="Arial"/>
            </a:endParaRPr>
          </a:p>
        </p:txBody>
      </p:sp>
      <p:sp>
        <p:nvSpPr>
          <p:cNvPr id="27" name="ZoneTexte 26">
            <a:extLst>
              <a:ext uri="{FF2B5EF4-FFF2-40B4-BE49-F238E27FC236}">
                <a16:creationId xmlns:a16="http://schemas.microsoft.com/office/drawing/2014/main" id="{1A8F4A3D-1D3C-D562-A911-CC2050400987}"/>
              </a:ext>
            </a:extLst>
          </p:cNvPr>
          <p:cNvSpPr txBox="1"/>
          <p:nvPr/>
        </p:nvSpPr>
        <p:spPr>
          <a:xfrm>
            <a:off x="216000" y="3548718"/>
            <a:ext cx="2631109" cy="461665"/>
          </a:xfrm>
          <a:prstGeom prst="rect">
            <a:avLst/>
          </a:prstGeom>
          <a:noFill/>
        </p:spPr>
        <p:txBody>
          <a:bodyPr wrap="square">
            <a:spAutoFit/>
          </a:bodyPr>
          <a:lstStyle/>
          <a:p>
            <a:r>
              <a:rPr lang="fr-FR" sz="1200" b="0" i="1" dirty="0">
                <a:solidFill>
                  <a:schemeClr val="bg1"/>
                </a:solidFill>
                <a:effectLst/>
                <a:latin typeface="pplxSansMono"/>
              </a:rPr>
              <a:t>Connection SECONDARY (port 27021) : </a:t>
            </a:r>
          </a:p>
          <a:p>
            <a:r>
              <a:rPr lang="fr-FR" sz="1200" b="0" i="0" dirty="0" err="1">
                <a:solidFill>
                  <a:srgbClr val="D6D0C8"/>
                </a:solidFill>
                <a:effectLst/>
                <a:latin typeface="pplxSansMono"/>
              </a:rPr>
              <a:t>db.test_replication.</a:t>
            </a:r>
            <a:r>
              <a:rPr lang="fr-FR" sz="1200" b="0" i="0" dirty="0" err="1">
                <a:solidFill>
                  <a:srgbClr val="D2A8FF"/>
                </a:solidFill>
                <a:effectLst/>
                <a:latin typeface="pplxSansMono"/>
              </a:rPr>
              <a:t>find</a:t>
            </a:r>
            <a:r>
              <a:rPr lang="fr-FR" sz="1200" b="0" i="0" dirty="0">
                <a:solidFill>
                  <a:srgbClr val="D6D0C8"/>
                </a:solidFill>
                <a:effectLst/>
                <a:latin typeface="pplxSansMono"/>
              </a:rPr>
              <a:t>()</a:t>
            </a:r>
            <a:endParaRPr lang="fr-FR" sz="1050" dirty="0"/>
          </a:p>
        </p:txBody>
      </p:sp>
    </p:spTree>
    <p:extLst>
      <p:ext uri="{BB962C8B-B14F-4D97-AF65-F5344CB8AC3E}">
        <p14:creationId xmlns:p14="http://schemas.microsoft.com/office/powerpoint/2010/main" val="3005971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8CE4548D-8131-BF4B-0732-E76488D50819}"/>
            </a:ext>
          </a:extLst>
        </p:cNvPr>
        <p:cNvGrpSpPr/>
        <p:nvPr/>
      </p:nvGrpSpPr>
      <p:grpSpPr>
        <a:xfrm>
          <a:off x="0" y="0"/>
          <a:ext cx="0" cy="0"/>
          <a:chOff x="0" y="0"/>
          <a:chExt cx="0" cy="0"/>
        </a:xfrm>
      </p:grpSpPr>
      <p:sp>
        <p:nvSpPr>
          <p:cNvPr id="80" name="Rectangle 79">
            <a:extLst>
              <a:ext uri="{FF2B5EF4-FFF2-40B4-BE49-F238E27FC236}">
                <a16:creationId xmlns:a16="http://schemas.microsoft.com/office/drawing/2014/main" id="{FD97A6E6-C037-7101-1CD9-1EF579974E5D}"/>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59DD7594-C83C-51FE-7CB6-DFF58B3A58FF}"/>
              </a:ext>
            </a:extLst>
          </p:cNvPr>
          <p:cNvSpPr txBox="1"/>
          <p:nvPr/>
        </p:nvSpPr>
        <p:spPr>
          <a:xfrm>
            <a:off x="539972" y="-71021"/>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3 — </a:t>
            </a:r>
            <a:r>
              <a:rPr kumimoji="0" sz="2400" b="1" i="0" u="none" strike="noStrike" kern="0" cap="none" spc="0" normalizeH="0" baseline="0" noProof="0" dirty="0" err="1">
                <a:ln>
                  <a:noFill/>
                </a:ln>
                <a:solidFill>
                  <a:srgbClr val="FFFFFF"/>
                </a:solidFill>
                <a:effectLst/>
                <a:uLnTx/>
                <a:uFillTx/>
                <a:latin typeface="Calibri Light"/>
                <a:cs typeface="Arial"/>
                <a:sym typeface="Arial"/>
              </a:rPr>
              <a:t>Pérenniser</a:t>
            </a:r>
            <a:r>
              <a:rPr kumimoji="0" sz="2400" b="1" i="0" u="none" strike="noStrike" kern="0" cap="none" spc="0" normalizeH="0" baseline="0" noProof="0" dirty="0">
                <a:ln>
                  <a:noFill/>
                </a:ln>
                <a:solidFill>
                  <a:srgbClr val="FFFFFF"/>
                </a:solidFill>
                <a:effectLst/>
                <a:uLnTx/>
                <a:uFillTx/>
                <a:latin typeface="Calibri Light"/>
                <a:cs typeface="Arial"/>
                <a:sym typeface="Arial"/>
              </a:rPr>
              <a:t> la base de données</a:t>
            </a:r>
          </a:p>
        </p:txBody>
      </p:sp>
      <p:sp>
        <p:nvSpPr>
          <p:cNvPr id="82" name="Rectangle 81">
            <a:extLst>
              <a:ext uri="{FF2B5EF4-FFF2-40B4-BE49-F238E27FC236}">
                <a16:creationId xmlns:a16="http://schemas.microsoft.com/office/drawing/2014/main" id="{380C865C-63C8-945B-2186-A76007A7DD9E}"/>
              </a:ext>
            </a:extLst>
          </p:cNvPr>
          <p:cNvSpPr/>
          <p:nvPr/>
        </p:nvSpPr>
        <p:spPr>
          <a:xfrm>
            <a:off x="539972" y="39122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TextBox 82">
            <a:extLst>
              <a:ext uri="{FF2B5EF4-FFF2-40B4-BE49-F238E27FC236}">
                <a16:creationId xmlns:a16="http://schemas.microsoft.com/office/drawing/2014/main" id="{2D4BE6D4-5540-2946-4EA3-49BFAA141C0B}"/>
              </a:ext>
            </a:extLst>
          </p:cNvPr>
          <p:cNvSpPr txBox="1"/>
          <p:nvPr/>
        </p:nvSpPr>
        <p:spPr>
          <a:xfrm>
            <a:off x="438899" y="378300"/>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Étape 3 : Distribution des données avec le </a:t>
            </a:r>
            <a:r>
              <a:rPr kumimoji="0" lang="fr-FR" sz="1600" b="1" i="0" u="none" strike="noStrike" kern="0" cap="none" spc="0" normalizeH="0" baseline="0" noProof="0" dirty="0" err="1">
                <a:ln>
                  <a:noFill/>
                </a:ln>
                <a:solidFill>
                  <a:srgbClr val="F5A623"/>
                </a:solidFill>
                <a:effectLst/>
                <a:uLnTx/>
                <a:uFillTx/>
                <a:latin typeface="Calibri"/>
                <a:cs typeface="Arial"/>
                <a:sym typeface="Arial"/>
              </a:rPr>
              <a:t>Sharding</a:t>
            </a:r>
            <a:endParaRPr kumimoji="0" lang="fr-FR" sz="1600" b="1" i="0" u="none" strike="noStrike" kern="0" cap="none" spc="0" normalizeH="0" baseline="0" noProof="0" dirty="0">
              <a:ln>
                <a:noFill/>
              </a:ln>
              <a:solidFill>
                <a:srgbClr val="F5A623"/>
              </a:solidFill>
              <a:effectLst/>
              <a:uLnTx/>
              <a:uFillTx/>
              <a:latin typeface="Calibri"/>
              <a:cs typeface="Arial"/>
              <a:sym typeface="Arial"/>
            </a:endParaRPr>
          </a:p>
        </p:txBody>
      </p:sp>
      <p:sp>
        <p:nvSpPr>
          <p:cNvPr id="5" name="Google Shape;79;p17">
            <a:extLst>
              <a:ext uri="{FF2B5EF4-FFF2-40B4-BE49-F238E27FC236}">
                <a16:creationId xmlns:a16="http://schemas.microsoft.com/office/drawing/2014/main" id="{00C468CC-B576-42AE-B095-8EAB179EFA0D}"/>
              </a:ext>
            </a:extLst>
          </p:cNvPr>
          <p:cNvSpPr txBox="1">
            <a:spLocks/>
          </p:cNvSpPr>
          <p:nvPr/>
        </p:nvSpPr>
        <p:spPr>
          <a:xfrm>
            <a:off x="216000" y="612923"/>
            <a:ext cx="9053974" cy="63749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fr-FR" sz="1200" b="0" i="1" u="none" strike="noStrike" kern="0" cap="none" spc="0" normalizeH="0" baseline="0" noProof="0" dirty="0">
                <a:ln>
                  <a:noFill/>
                </a:ln>
                <a:solidFill>
                  <a:srgbClr val="D6D5D4"/>
                </a:solidFill>
                <a:effectLst/>
                <a:uLnTx/>
                <a:uFillTx/>
                <a:latin typeface="pplxSerif"/>
                <a:cs typeface="Arial"/>
                <a:sym typeface="Arial"/>
              </a:rPr>
              <a:t>Un cluster de </a:t>
            </a:r>
            <a:r>
              <a:rPr kumimoji="0" lang="fr-FR" sz="1200" b="0" i="1" u="none" strike="noStrike" kern="0" cap="none" spc="0" normalizeH="0" baseline="0" noProof="0" dirty="0" err="1">
                <a:ln>
                  <a:noFill/>
                </a:ln>
                <a:solidFill>
                  <a:srgbClr val="D6D5D4"/>
                </a:solidFill>
                <a:effectLst/>
                <a:uLnTx/>
                <a:uFillTx/>
                <a:latin typeface="pplxSerif"/>
                <a:cs typeface="Arial"/>
                <a:sym typeface="Arial"/>
              </a:rPr>
              <a:t>sharding</a:t>
            </a:r>
            <a:r>
              <a:rPr kumimoji="0" lang="fr-FR" sz="1200" b="0" i="1" u="none" strike="noStrike" kern="0" cap="none" spc="0" normalizeH="0" baseline="0" noProof="0" dirty="0">
                <a:ln>
                  <a:noFill/>
                </a:ln>
                <a:solidFill>
                  <a:srgbClr val="D6D5D4"/>
                </a:solidFill>
                <a:effectLst/>
                <a:uLnTx/>
                <a:uFillTx/>
                <a:latin typeface="pplxSerif"/>
                <a:cs typeface="Arial"/>
                <a:sym typeface="Arial"/>
              </a:rPr>
              <a:t> a été mis en place en local avec 2 shards simulant les serveurs Paris et Lyon. Le Mongos joue le rôle de routeur unique : chaque requête est automatiquement dirigée vers le bon </a:t>
            </a:r>
            <a:r>
              <a:rPr kumimoji="0" lang="fr-FR" sz="1200" b="0" i="1" u="none" strike="noStrike" kern="0" cap="none" spc="0" normalizeH="0" baseline="0" noProof="0" dirty="0" err="1">
                <a:ln>
                  <a:noFill/>
                </a:ln>
                <a:solidFill>
                  <a:srgbClr val="D6D5D4"/>
                </a:solidFill>
                <a:effectLst/>
                <a:uLnTx/>
                <a:uFillTx/>
                <a:latin typeface="pplxSerif"/>
                <a:cs typeface="Arial"/>
                <a:sym typeface="Arial"/>
              </a:rPr>
              <a:t>shard</a:t>
            </a:r>
            <a:r>
              <a:rPr kumimoji="0" lang="fr-FR" sz="1200" b="0" i="1" u="none" strike="noStrike" kern="0" cap="none" spc="0" normalizeH="0" baseline="0" noProof="0" dirty="0">
                <a:ln>
                  <a:noFill/>
                </a:ln>
                <a:solidFill>
                  <a:srgbClr val="D6D5D4"/>
                </a:solidFill>
                <a:effectLst/>
                <a:uLnTx/>
                <a:uFillTx/>
                <a:latin typeface="pplxSerif"/>
                <a:cs typeface="Arial"/>
                <a:sym typeface="Arial"/>
              </a:rPr>
              <a:t> selon la ville, ce qui optimise les performances des requêtes locales.</a:t>
            </a:r>
            <a:endParaRPr kumimoji="0" lang="fr-FR" sz="1200" b="0" i="0" u="none" strike="noStrike" kern="0" cap="none" spc="0" normalizeH="0" baseline="0" noProof="0" dirty="0">
              <a:ln>
                <a:noFill/>
              </a:ln>
              <a:solidFill>
                <a:srgbClr val="271A38"/>
              </a:solidFill>
              <a:effectLst/>
              <a:uLnTx/>
              <a:uFillTx/>
              <a:latin typeface="Inter"/>
              <a:ea typeface="Inter"/>
              <a:cs typeface="Inter"/>
              <a:sym typeface="Inter"/>
            </a:endParaRPr>
          </a:p>
        </p:txBody>
      </p:sp>
      <p:graphicFrame>
        <p:nvGraphicFramePr>
          <p:cNvPr id="2" name="Tableau 1">
            <a:extLst>
              <a:ext uri="{FF2B5EF4-FFF2-40B4-BE49-F238E27FC236}">
                <a16:creationId xmlns:a16="http://schemas.microsoft.com/office/drawing/2014/main" id="{E2D351F1-A51C-FF83-01B9-A0797AB90BCB}"/>
              </a:ext>
            </a:extLst>
          </p:cNvPr>
          <p:cNvGraphicFramePr>
            <a:graphicFrameLocks noGrp="1"/>
          </p:cNvGraphicFramePr>
          <p:nvPr>
            <p:extLst>
              <p:ext uri="{D42A27DB-BD31-4B8C-83A1-F6EECF244321}">
                <p14:modId xmlns:p14="http://schemas.microsoft.com/office/powerpoint/2010/main" val="81896769"/>
              </p:ext>
            </p:extLst>
          </p:nvPr>
        </p:nvGraphicFramePr>
        <p:xfrm>
          <a:off x="432000" y="1206929"/>
          <a:ext cx="3401645" cy="1672895"/>
        </p:xfrm>
        <a:graphic>
          <a:graphicData uri="http://schemas.openxmlformats.org/drawingml/2006/table">
            <a:tbl>
              <a:tblPr/>
              <a:tblGrid>
                <a:gridCol w="1048109">
                  <a:extLst>
                    <a:ext uri="{9D8B030D-6E8A-4147-A177-3AD203B41FA5}">
                      <a16:colId xmlns:a16="http://schemas.microsoft.com/office/drawing/2014/main" val="3411296867"/>
                    </a:ext>
                  </a:extLst>
                </a:gridCol>
                <a:gridCol w="1741299">
                  <a:extLst>
                    <a:ext uri="{9D8B030D-6E8A-4147-A177-3AD203B41FA5}">
                      <a16:colId xmlns:a16="http://schemas.microsoft.com/office/drawing/2014/main" val="1329122655"/>
                    </a:ext>
                  </a:extLst>
                </a:gridCol>
                <a:gridCol w="612237">
                  <a:extLst>
                    <a:ext uri="{9D8B030D-6E8A-4147-A177-3AD203B41FA5}">
                      <a16:colId xmlns:a16="http://schemas.microsoft.com/office/drawing/2014/main" val="3528311714"/>
                    </a:ext>
                  </a:extLst>
                </a:gridCol>
              </a:tblGrid>
              <a:tr h="334579">
                <a:tc>
                  <a:txBody>
                    <a:bodyPr/>
                    <a:lstStyle/>
                    <a:p>
                      <a:pPr algn="l">
                        <a:buNone/>
                      </a:pPr>
                      <a:r>
                        <a:rPr lang="fr-FR" sz="1050" dirty="0">
                          <a:effectLst/>
                          <a:latin typeface="pplxSerif"/>
                        </a:rPr>
                        <a:t>Composant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50" dirty="0">
                          <a:effectLst/>
                          <a:latin typeface="pplxSerif"/>
                        </a:rPr>
                        <a:t>Rôle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1050">
                          <a:effectLst/>
                          <a:latin typeface="pplxSerif"/>
                        </a:rPr>
                        <a:t>Port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52962754"/>
                  </a:ext>
                </a:extLst>
              </a:tr>
              <a:tr h="334579">
                <a:tc>
                  <a:txBody>
                    <a:bodyPr/>
                    <a:lstStyle/>
                    <a:p>
                      <a:pPr algn="l">
                        <a:buNone/>
                      </a:pPr>
                      <a:r>
                        <a:rPr lang="fr-FR" sz="1050" dirty="0">
                          <a:solidFill>
                            <a:schemeClr val="bg1"/>
                          </a:solidFill>
                          <a:effectLst/>
                          <a:latin typeface="pplxSerif"/>
                        </a:rPr>
                        <a:t>Config Server</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Stocke la carte du cluster</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27030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38007408"/>
                  </a:ext>
                </a:extLst>
              </a:tr>
              <a:tr h="334579">
                <a:tc>
                  <a:txBody>
                    <a:bodyPr/>
                    <a:lstStyle/>
                    <a:p>
                      <a:pPr algn="l">
                        <a:buNone/>
                      </a:pPr>
                      <a:r>
                        <a:rPr lang="fr-FR" sz="1050" dirty="0">
                          <a:solidFill>
                            <a:schemeClr val="bg1"/>
                          </a:solidFill>
                          <a:effectLst/>
                          <a:latin typeface="pplxSerif"/>
                        </a:rPr>
                        <a:t>Mongos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Routeur des requêtes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latin typeface="pplxSerif"/>
                        </a:rPr>
                        <a:t>27050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12616359"/>
                  </a:ext>
                </a:extLst>
              </a:tr>
              <a:tr h="334579">
                <a:tc>
                  <a:txBody>
                    <a:bodyPr/>
                    <a:lstStyle/>
                    <a:p>
                      <a:pPr algn="l">
                        <a:buNone/>
                      </a:pPr>
                      <a:r>
                        <a:rPr lang="fr-FR" sz="1050" dirty="0">
                          <a:solidFill>
                            <a:schemeClr val="bg1"/>
                          </a:solidFill>
                          <a:effectLst/>
                          <a:latin typeface="pplxSerif"/>
                        </a:rPr>
                        <a:t>shardRS1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Données Paris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27040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310536480"/>
                  </a:ext>
                </a:extLst>
              </a:tr>
              <a:tr h="334579">
                <a:tc>
                  <a:txBody>
                    <a:bodyPr/>
                    <a:lstStyle/>
                    <a:p>
                      <a:pPr algn="l">
                        <a:buNone/>
                      </a:pPr>
                      <a:r>
                        <a:rPr lang="fr-FR" sz="1050">
                          <a:solidFill>
                            <a:schemeClr val="bg1"/>
                          </a:solidFill>
                          <a:effectLst/>
                          <a:latin typeface="pplxSerif"/>
                        </a:rPr>
                        <a:t>shardRS2</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a:solidFill>
                            <a:schemeClr val="bg1"/>
                          </a:solidFill>
                          <a:effectLst/>
                          <a:latin typeface="pplxSerif"/>
                        </a:rPr>
                        <a:t>Données Lyon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1050" dirty="0">
                          <a:solidFill>
                            <a:schemeClr val="bg1"/>
                          </a:solidFill>
                          <a:effectLst/>
                          <a:latin typeface="pplxSerif"/>
                        </a:rPr>
                        <a:t>27041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57763500"/>
                  </a:ext>
                </a:extLst>
              </a:tr>
            </a:tbl>
          </a:graphicData>
        </a:graphic>
      </p:graphicFrame>
      <p:pic>
        <p:nvPicPr>
          <p:cNvPr id="4" name="Image 3">
            <a:extLst>
              <a:ext uri="{FF2B5EF4-FFF2-40B4-BE49-F238E27FC236}">
                <a16:creationId xmlns:a16="http://schemas.microsoft.com/office/drawing/2014/main" id="{D0831783-C62A-3B89-82BB-42C8436B874C}"/>
              </a:ext>
            </a:extLst>
          </p:cNvPr>
          <p:cNvPicPr>
            <a:picLocks noChangeAspect="1"/>
          </p:cNvPicPr>
          <p:nvPr/>
        </p:nvPicPr>
        <p:blipFill>
          <a:blip r:embed="rId3"/>
          <a:stretch>
            <a:fillRect/>
          </a:stretch>
        </p:blipFill>
        <p:spPr>
          <a:xfrm>
            <a:off x="289964" y="2944535"/>
            <a:ext cx="3293672" cy="2134665"/>
          </a:xfrm>
          <a:prstGeom prst="rect">
            <a:avLst/>
          </a:prstGeom>
        </p:spPr>
      </p:pic>
      <p:sp>
        <p:nvSpPr>
          <p:cNvPr id="3" name="Google Shape;79;p17">
            <a:extLst>
              <a:ext uri="{FF2B5EF4-FFF2-40B4-BE49-F238E27FC236}">
                <a16:creationId xmlns:a16="http://schemas.microsoft.com/office/drawing/2014/main" id="{E6A15454-F016-BD33-0E37-F2A958E8ECE4}"/>
              </a:ext>
            </a:extLst>
          </p:cNvPr>
          <p:cNvSpPr txBox="1">
            <a:spLocks/>
          </p:cNvSpPr>
          <p:nvPr/>
        </p:nvSpPr>
        <p:spPr>
          <a:xfrm>
            <a:off x="3583636" y="3791746"/>
            <a:ext cx="2693675" cy="57817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indent="0">
              <a:buClr>
                <a:schemeClr val="dk1"/>
              </a:buClr>
              <a:buSzPts val="1100"/>
              <a:buFont typeface="Arial"/>
              <a:buNone/>
            </a:pPr>
            <a:r>
              <a:rPr lang="fr-FR" sz="1200" b="0" i="1" dirty="0">
                <a:solidFill>
                  <a:srgbClr val="00B0F0"/>
                </a:solidFill>
                <a:effectLst/>
                <a:latin typeface="Arial Narrow" panose="020B0606020202030204" pitchFamily="34" charset="0"/>
              </a:rPr>
              <a:t>Les 2 shards sont bien actifs (state: 1)</a:t>
            </a:r>
            <a:endParaRPr lang="fr-FR" sz="1200" dirty="0">
              <a:solidFill>
                <a:srgbClr val="00B0F0"/>
              </a:solidFill>
              <a:latin typeface="Arial Narrow" panose="020B0606020202030204" pitchFamily="34" charset="0"/>
              <a:ea typeface="Inter"/>
              <a:cs typeface="Inter"/>
              <a:sym typeface="Inter"/>
            </a:endParaRPr>
          </a:p>
        </p:txBody>
      </p:sp>
    </p:spTree>
    <p:extLst>
      <p:ext uri="{BB962C8B-B14F-4D97-AF65-F5344CB8AC3E}">
        <p14:creationId xmlns:p14="http://schemas.microsoft.com/office/powerpoint/2010/main" val="75272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C5A16629-4405-2ACF-9690-9BDC984912F9}"/>
            </a:ext>
          </a:extLst>
        </p:cNvPr>
        <p:cNvGrpSpPr/>
        <p:nvPr/>
      </p:nvGrpSpPr>
      <p:grpSpPr>
        <a:xfrm>
          <a:off x="0" y="0"/>
          <a:ext cx="0" cy="0"/>
          <a:chOff x="0" y="0"/>
          <a:chExt cx="0" cy="0"/>
        </a:xfrm>
      </p:grpSpPr>
      <p:sp>
        <p:nvSpPr>
          <p:cNvPr id="80" name="Rectangle 79">
            <a:extLst>
              <a:ext uri="{FF2B5EF4-FFF2-40B4-BE49-F238E27FC236}">
                <a16:creationId xmlns:a16="http://schemas.microsoft.com/office/drawing/2014/main" id="{B2B945C7-12FC-A598-3D84-57BC5B35AF24}"/>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6D4FB615-E7C1-238F-B297-5439B69E9B71}"/>
              </a:ext>
            </a:extLst>
          </p:cNvPr>
          <p:cNvSpPr txBox="1"/>
          <p:nvPr/>
        </p:nvSpPr>
        <p:spPr>
          <a:xfrm>
            <a:off x="539972" y="-71021"/>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3 — </a:t>
            </a:r>
            <a:r>
              <a:rPr kumimoji="0" sz="2400" b="1" i="0" u="none" strike="noStrike" kern="0" cap="none" spc="0" normalizeH="0" baseline="0" noProof="0" dirty="0" err="1">
                <a:ln>
                  <a:noFill/>
                </a:ln>
                <a:solidFill>
                  <a:srgbClr val="FFFFFF"/>
                </a:solidFill>
                <a:effectLst/>
                <a:uLnTx/>
                <a:uFillTx/>
                <a:latin typeface="Calibri Light"/>
                <a:cs typeface="Arial"/>
                <a:sym typeface="Arial"/>
              </a:rPr>
              <a:t>Pérenniser</a:t>
            </a:r>
            <a:r>
              <a:rPr kumimoji="0" sz="2400" b="1" i="0" u="none" strike="noStrike" kern="0" cap="none" spc="0" normalizeH="0" baseline="0" noProof="0" dirty="0">
                <a:ln>
                  <a:noFill/>
                </a:ln>
                <a:solidFill>
                  <a:srgbClr val="FFFFFF"/>
                </a:solidFill>
                <a:effectLst/>
                <a:uLnTx/>
                <a:uFillTx/>
                <a:latin typeface="Calibri Light"/>
                <a:cs typeface="Arial"/>
                <a:sym typeface="Arial"/>
              </a:rPr>
              <a:t> la base de données</a:t>
            </a:r>
          </a:p>
        </p:txBody>
      </p:sp>
      <p:sp>
        <p:nvSpPr>
          <p:cNvPr id="82" name="Rectangle 81">
            <a:extLst>
              <a:ext uri="{FF2B5EF4-FFF2-40B4-BE49-F238E27FC236}">
                <a16:creationId xmlns:a16="http://schemas.microsoft.com/office/drawing/2014/main" id="{B88277CF-9CE9-2AA1-047B-CB6EE9ECEF97}"/>
              </a:ext>
            </a:extLst>
          </p:cNvPr>
          <p:cNvSpPr/>
          <p:nvPr/>
        </p:nvSpPr>
        <p:spPr>
          <a:xfrm>
            <a:off x="539972" y="39122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TextBox 82">
            <a:extLst>
              <a:ext uri="{FF2B5EF4-FFF2-40B4-BE49-F238E27FC236}">
                <a16:creationId xmlns:a16="http://schemas.microsoft.com/office/drawing/2014/main" id="{3F627F88-EEBA-3A81-DE4D-D058B608AD89}"/>
              </a:ext>
            </a:extLst>
          </p:cNvPr>
          <p:cNvSpPr txBox="1"/>
          <p:nvPr/>
        </p:nvSpPr>
        <p:spPr>
          <a:xfrm>
            <a:off x="438899" y="378300"/>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Étape 3 : Vérification de la collection </a:t>
            </a:r>
            <a:r>
              <a:rPr kumimoji="0" lang="fr-FR" sz="1600" b="1" i="0" u="none" strike="noStrike" kern="0" cap="none" spc="0" normalizeH="0" baseline="0" noProof="0" dirty="0" err="1">
                <a:ln>
                  <a:noFill/>
                </a:ln>
                <a:solidFill>
                  <a:srgbClr val="F5A623"/>
                </a:solidFill>
                <a:effectLst/>
                <a:uLnTx/>
                <a:uFillTx/>
                <a:latin typeface="Calibri"/>
                <a:cs typeface="Arial"/>
                <a:sym typeface="Arial"/>
              </a:rPr>
              <a:t>shardée</a:t>
            </a:r>
            <a:endParaRPr kumimoji="0" lang="fr-FR" sz="1600" b="1" i="0" u="none" strike="noStrike" kern="0" cap="none" spc="0" normalizeH="0" baseline="0" noProof="0" dirty="0">
              <a:ln>
                <a:noFill/>
              </a:ln>
              <a:solidFill>
                <a:srgbClr val="F5A623"/>
              </a:solidFill>
              <a:effectLst/>
              <a:uLnTx/>
              <a:uFillTx/>
              <a:latin typeface="Calibri"/>
              <a:cs typeface="Arial"/>
              <a:sym typeface="Arial"/>
            </a:endParaRPr>
          </a:p>
        </p:txBody>
      </p:sp>
      <p:sp>
        <p:nvSpPr>
          <p:cNvPr id="5" name="Google Shape;79;p17">
            <a:extLst>
              <a:ext uri="{FF2B5EF4-FFF2-40B4-BE49-F238E27FC236}">
                <a16:creationId xmlns:a16="http://schemas.microsoft.com/office/drawing/2014/main" id="{66EF35B5-62C1-4E4F-68E9-CF9D6E61ACD2}"/>
              </a:ext>
            </a:extLst>
          </p:cNvPr>
          <p:cNvSpPr txBox="1">
            <a:spLocks/>
          </p:cNvSpPr>
          <p:nvPr/>
        </p:nvSpPr>
        <p:spPr>
          <a:xfrm>
            <a:off x="311699" y="578032"/>
            <a:ext cx="8763027" cy="388454"/>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fr-FR" sz="1200" b="0" i="1" u="none" strike="noStrike" kern="0" cap="none" spc="0" normalizeH="0" baseline="0" noProof="0" dirty="0">
                <a:ln>
                  <a:noFill/>
                </a:ln>
                <a:solidFill>
                  <a:srgbClr val="D6D5D4"/>
                </a:solidFill>
                <a:effectLst/>
                <a:uLnTx/>
                <a:uFillTx/>
                <a:latin typeface="pplxSerif"/>
                <a:cs typeface="Arial"/>
                <a:sym typeface="Arial"/>
              </a:rPr>
              <a:t>Vérification que la collection </a:t>
            </a:r>
            <a:r>
              <a:rPr kumimoji="0" lang="fr-FR" sz="1200" b="0" i="1" u="none" strike="noStrike" kern="0" cap="none" spc="0" normalizeH="0" baseline="0" noProof="0" dirty="0" err="1">
                <a:ln>
                  <a:noFill/>
                </a:ln>
                <a:solidFill>
                  <a:srgbClr val="D6D5D4"/>
                </a:solidFill>
                <a:effectLst/>
                <a:uLnTx/>
                <a:uFillTx/>
                <a:latin typeface="pplxSerif"/>
                <a:cs typeface="Arial"/>
                <a:sym typeface="Arial"/>
              </a:rPr>
              <a:t>listings_paris</a:t>
            </a:r>
            <a:r>
              <a:rPr kumimoji="0" lang="fr-FR" sz="1200" b="0" i="1" u="none" strike="noStrike" kern="0" cap="none" spc="0" normalizeH="0" baseline="0" noProof="0" dirty="0">
                <a:ln>
                  <a:noFill/>
                </a:ln>
                <a:solidFill>
                  <a:srgbClr val="D6D5D4"/>
                </a:solidFill>
                <a:effectLst/>
                <a:uLnTx/>
                <a:uFillTx/>
                <a:latin typeface="pplxSerif"/>
                <a:cs typeface="Arial"/>
                <a:sym typeface="Arial"/>
              </a:rPr>
              <a:t> est bien distribuée sur le cluster de </a:t>
            </a:r>
            <a:r>
              <a:rPr kumimoji="0" lang="fr-FR" sz="1200" b="0" i="1" u="none" strike="noStrike" kern="0" cap="none" spc="0" normalizeH="0" baseline="0" noProof="0" dirty="0" err="1">
                <a:ln>
                  <a:noFill/>
                </a:ln>
                <a:solidFill>
                  <a:srgbClr val="D6D5D4"/>
                </a:solidFill>
                <a:effectLst/>
                <a:uLnTx/>
                <a:uFillTx/>
                <a:latin typeface="pplxSerif"/>
                <a:cs typeface="Arial"/>
                <a:sym typeface="Arial"/>
              </a:rPr>
              <a:t>sharding</a:t>
            </a:r>
            <a:endParaRPr kumimoji="0" lang="fr-FR" sz="1200" b="0" i="0" u="none" strike="noStrike" kern="0" cap="none" spc="0" normalizeH="0" baseline="0" noProof="0" dirty="0">
              <a:ln>
                <a:noFill/>
              </a:ln>
              <a:solidFill>
                <a:srgbClr val="271A38"/>
              </a:solidFill>
              <a:effectLst/>
              <a:uLnTx/>
              <a:uFillTx/>
              <a:latin typeface="Inter"/>
              <a:ea typeface="Inter"/>
              <a:cs typeface="Inter"/>
              <a:sym typeface="Inter"/>
            </a:endParaRPr>
          </a:p>
        </p:txBody>
      </p:sp>
      <p:pic>
        <p:nvPicPr>
          <p:cNvPr id="8" name="Image 7">
            <a:extLst>
              <a:ext uri="{FF2B5EF4-FFF2-40B4-BE49-F238E27FC236}">
                <a16:creationId xmlns:a16="http://schemas.microsoft.com/office/drawing/2014/main" id="{65513E59-9D0F-6128-86AA-91D7D7DAA61E}"/>
              </a:ext>
            </a:extLst>
          </p:cNvPr>
          <p:cNvPicPr>
            <a:picLocks noChangeAspect="1"/>
          </p:cNvPicPr>
          <p:nvPr/>
        </p:nvPicPr>
        <p:blipFill>
          <a:blip r:embed="rId3"/>
          <a:stretch>
            <a:fillRect/>
          </a:stretch>
        </p:blipFill>
        <p:spPr>
          <a:xfrm>
            <a:off x="275617" y="2899467"/>
            <a:ext cx="6747660" cy="1207774"/>
          </a:xfrm>
          <a:prstGeom prst="rect">
            <a:avLst/>
          </a:prstGeom>
        </p:spPr>
      </p:pic>
      <p:pic>
        <p:nvPicPr>
          <p:cNvPr id="12" name="Image 11">
            <a:extLst>
              <a:ext uri="{FF2B5EF4-FFF2-40B4-BE49-F238E27FC236}">
                <a16:creationId xmlns:a16="http://schemas.microsoft.com/office/drawing/2014/main" id="{77399A23-7885-F36D-E52F-8B78658FD479}"/>
              </a:ext>
            </a:extLst>
          </p:cNvPr>
          <p:cNvPicPr>
            <a:picLocks noChangeAspect="1"/>
          </p:cNvPicPr>
          <p:nvPr/>
        </p:nvPicPr>
        <p:blipFill>
          <a:blip r:embed="rId4"/>
          <a:stretch>
            <a:fillRect/>
          </a:stretch>
        </p:blipFill>
        <p:spPr>
          <a:xfrm>
            <a:off x="216000" y="916586"/>
            <a:ext cx="3670200" cy="1660661"/>
          </a:xfrm>
          <a:prstGeom prst="rect">
            <a:avLst/>
          </a:prstGeom>
        </p:spPr>
      </p:pic>
      <p:sp>
        <p:nvSpPr>
          <p:cNvPr id="20" name="Google Shape;79;p17">
            <a:extLst>
              <a:ext uri="{FF2B5EF4-FFF2-40B4-BE49-F238E27FC236}">
                <a16:creationId xmlns:a16="http://schemas.microsoft.com/office/drawing/2014/main" id="{014AFDD9-8374-FEB9-727E-D0FC67F36E78}"/>
              </a:ext>
            </a:extLst>
          </p:cNvPr>
          <p:cNvSpPr txBox="1">
            <a:spLocks/>
          </p:cNvSpPr>
          <p:nvPr/>
        </p:nvSpPr>
        <p:spPr>
          <a:xfrm>
            <a:off x="3886200" y="912482"/>
            <a:ext cx="2240470" cy="83962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indent="0">
              <a:lnSpc>
                <a:spcPct val="100000"/>
              </a:lnSpc>
              <a:buClr>
                <a:schemeClr val="dk1"/>
              </a:buClr>
              <a:buSzPts val="1100"/>
              <a:buFont typeface="Arial"/>
              <a:buNone/>
            </a:pPr>
            <a:r>
              <a:rPr lang="fr-FR" sz="1200" b="0" i="1" dirty="0">
                <a:solidFill>
                  <a:srgbClr val="00B0F0"/>
                </a:solidFill>
                <a:effectLst/>
                <a:latin typeface="Arial Narrow" panose="020B0606020202030204" pitchFamily="34" charset="0"/>
              </a:rPr>
              <a:t>La collection </a:t>
            </a:r>
            <a:r>
              <a:rPr lang="fr-FR" sz="1200" b="0" i="1" dirty="0" err="1">
                <a:solidFill>
                  <a:srgbClr val="00B0F0"/>
                </a:solidFill>
                <a:effectLst/>
                <a:latin typeface="Arial Narrow" panose="020B0606020202030204" pitchFamily="34" charset="0"/>
              </a:rPr>
              <a:t>listings_paris</a:t>
            </a:r>
            <a:r>
              <a:rPr lang="fr-FR" sz="1200" b="0" i="1" dirty="0">
                <a:solidFill>
                  <a:srgbClr val="00B0F0"/>
                </a:solidFill>
                <a:effectLst/>
                <a:latin typeface="Arial Narrow" panose="020B0606020202030204" pitchFamily="34" charset="0"/>
              </a:rPr>
              <a:t> est </a:t>
            </a:r>
            <a:r>
              <a:rPr lang="fr-FR" sz="1200" b="0" i="1" dirty="0" err="1">
                <a:solidFill>
                  <a:srgbClr val="00B0F0"/>
                </a:solidFill>
                <a:effectLst/>
                <a:latin typeface="Arial Narrow" panose="020B0606020202030204" pitchFamily="34" charset="0"/>
              </a:rPr>
              <a:t>shardée</a:t>
            </a:r>
            <a:r>
              <a:rPr lang="fr-FR" sz="1200" b="0" i="1" dirty="0">
                <a:solidFill>
                  <a:srgbClr val="00B0F0"/>
                </a:solidFill>
                <a:effectLst/>
                <a:latin typeface="Arial Narrow" panose="020B0606020202030204" pitchFamily="34" charset="0"/>
              </a:rPr>
              <a:t> avec la clé { city: 1 } </a:t>
            </a:r>
          </a:p>
          <a:p>
            <a:pPr marL="0" marR="152400" indent="0">
              <a:lnSpc>
                <a:spcPct val="100000"/>
              </a:lnSpc>
              <a:buClr>
                <a:schemeClr val="dk1"/>
              </a:buClr>
              <a:buSzPts val="1100"/>
              <a:buFont typeface="Arial"/>
              <a:buNone/>
            </a:pPr>
            <a:r>
              <a:rPr lang="fr-FR" sz="1200" b="0" i="1" dirty="0">
                <a:solidFill>
                  <a:srgbClr val="00B0F0"/>
                </a:solidFill>
                <a:effectLst/>
                <a:latin typeface="Arial Narrow" panose="020B0606020202030204" pitchFamily="34" charset="0"/>
              </a:rPr>
              <a:t>et le balancing est activé</a:t>
            </a:r>
            <a:endParaRPr lang="fr-FR" sz="1200" dirty="0">
              <a:solidFill>
                <a:srgbClr val="00B0F0"/>
              </a:solidFill>
              <a:latin typeface="Arial Narrow" panose="020B0606020202030204" pitchFamily="34" charset="0"/>
              <a:ea typeface="Inter"/>
              <a:cs typeface="Inter"/>
              <a:sym typeface="Inter"/>
            </a:endParaRPr>
          </a:p>
        </p:txBody>
      </p:sp>
      <p:sp>
        <p:nvSpPr>
          <p:cNvPr id="26" name="Google Shape;79;p17">
            <a:extLst>
              <a:ext uri="{FF2B5EF4-FFF2-40B4-BE49-F238E27FC236}">
                <a16:creationId xmlns:a16="http://schemas.microsoft.com/office/drawing/2014/main" id="{748E3A29-AD7A-41B3-7506-EFFE9DD29FE2}"/>
              </a:ext>
            </a:extLst>
          </p:cNvPr>
          <p:cNvSpPr txBox="1">
            <a:spLocks/>
          </p:cNvSpPr>
          <p:nvPr/>
        </p:nvSpPr>
        <p:spPr>
          <a:xfrm>
            <a:off x="6979737" y="2899467"/>
            <a:ext cx="2240470" cy="57817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indent="0">
              <a:lnSpc>
                <a:spcPct val="100000"/>
              </a:lnSpc>
              <a:buClr>
                <a:schemeClr val="dk1"/>
              </a:buClr>
              <a:buSzPts val="1100"/>
              <a:buFont typeface="Arial"/>
              <a:buNone/>
            </a:pPr>
            <a:r>
              <a:rPr lang="fr-FR" sz="1200" b="0" i="1" dirty="0">
                <a:solidFill>
                  <a:srgbClr val="00B0F0"/>
                </a:solidFill>
                <a:effectLst/>
                <a:latin typeface="Arial Narrow" panose="020B0606020202030204" pitchFamily="34" charset="0"/>
              </a:rPr>
              <a:t>Confirmation que la collection est bien distribuée sur le cluster</a:t>
            </a:r>
            <a:endParaRPr lang="fr-FR" sz="1200" dirty="0">
              <a:solidFill>
                <a:srgbClr val="00B0F0"/>
              </a:solidFill>
              <a:latin typeface="Arial Narrow" panose="020B0606020202030204" pitchFamily="34" charset="0"/>
              <a:ea typeface="Inter"/>
              <a:cs typeface="Inter"/>
              <a:sym typeface="Inter"/>
            </a:endParaRPr>
          </a:p>
        </p:txBody>
      </p:sp>
      <p:sp>
        <p:nvSpPr>
          <p:cNvPr id="29" name="Google Shape;79;p17">
            <a:extLst>
              <a:ext uri="{FF2B5EF4-FFF2-40B4-BE49-F238E27FC236}">
                <a16:creationId xmlns:a16="http://schemas.microsoft.com/office/drawing/2014/main" id="{2834E775-E81C-24FF-9861-EE6B3A74B761}"/>
              </a:ext>
            </a:extLst>
          </p:cNvPr>
          <p:cNvSpPr txBox="1">
            <a:spLocks/>
          </p:cNvSpPr>
          <p:nvPr/>
        </p:nvSpPr>
        <p:spPr>
          <a:xfrm>
            <a:off x="311698" y="4453004"/>
            <a:ext cx="8763027" cy="578176"/>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marR="15240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fr-FR" sz="1400" b="0" i="1" u="none" strike="noStrike" kern="0" cap="none" spc="0" normalizeH="0" baseline="0" noProof="0" dirty="0">
                <a:ln>
                  <a:noFill/>
                </a:ln>
                <a:solidFill>
                  <a:srgbClr val="D6D5D4"/>
                </a:solidFill>
                <a:effectLst/>
                <a:uLnTx/>
                <a:uFillTx/>
                <a:latin typeface="pplxSerif"/>
                <a:cs typeface="Arial"/>
                <a:sym typeface="Arial"/>
              </a:rPr>
              <a:t>La clé de </a:t>
            </a:r>
            <a:r>
              <a:rPr kumimoji="0" lang="fr-FR" sz="1400" b="0" i="1" u="none" strike="noStrike" kern="0" cap="none" spc="0" normalizeH="0" baseline="0" noProof="0" dirty="0" err="1">
                <a:ln>
                  <a:noFill/>
                </a:ln>
                <a:solidFill>
                  <a:srgbClr val="D6D5D4"/>
                </a:solidFill>
                <a:effectLst/>
                <a:uLnTx/>
                <a:uFillTx/>
                <a:latin typeface="pplxSerif"/>
                <a:cs typeface="Arial"/>
                <a:sym typeface="Arial"/>
              </a:rPr>
              <a:t>sharding</a:t>
            </a:r>
            <a:r>
              <a:rPr kumimoji="0" lang="fr-FR" sz="1400" b="0" i="1" u="none" strike="noStrike" kern="0" cap="none" spc="0" normalizeH="0" baseline="0" noProof="0" dirty="0">
                <a:ln>
                  <a:noFill/>
                </a:ln>
                <a:solidFill>
                  <a:srgbClr val="D6D5D4"/>
                </a:solidFill>
                <a:effectLst/>
                <a:uLnTx/>
                <a:uFillTx/>
                <a:latin typeface="pplxSerif"/>
                <a:cs typeface="Arial"/>
                <a:sym typeface="Arial"/>
              </a:rPr>
              <a:t> choisie est le champ city. Ce choix est logique car les données sont naturellement partitionnées par ville : une requête Lyon va directement sur shardRS2 sans scanner les données Paris, et inversement</a:t>
            </a:r>
            <a:endParaRPr kumimoji="0" lang="fr-FR" sz="1400" b="0" i="0" u="none" strike="noStrike" kern="0" cap="none" spc="0" normalizeH="0" baseline="0" noProof="0" dirty="0">
              <a:ln>
                <a:noFill/>
              </a:ln>
              <a:solidFill>
                <a:srgbClr val="271A38"/>
              </a:solidFill>
              <a:effectLst/>
              <a:uLnTx/>
              <a:uFillTx/>
              <a:latin typeface="Inter"/>
              <a:ea typeface="Inter"/>
              <a:cs typeface="Inter"/>
              <a:sym typeface="Inter"/>
            </a:endParaRPr>
          </a:p>
        </p:txBody>
      </p:sp>
    </p:spTree>
    <p:extLst>
      <p:ext uri="{BB962C8B-B14F-4D97-AF65-F5344CB8AC3E}">
        <p14:creationId xmlns:p14="http://schemas.microsoft.com/office/powerpoint/2010/main" val="3048078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910AB0EA-97BD-D56D-B546-3E6647F81DE7}"/>
            </a:ext>
          </a:extLst>
        </p:cNvPr>
        <p:cNvGrpSpPr/>
        <p:nvPr/>
      </p:nvGrpSpPr>
      <p:grpSpPr>
        <a:xfrm>
          <a:off x="0" y="0"/>
          <a:ext cx="0" cy="0"/>
          <a:chOff x="0" y="0"/>
          <a:chExt cx="0" cy="0"/>
        </a:xfrm>
      </p:grpSpPr>
      <p:sp>
        <p:nvSpPr>
          <p:cNvPr id="80" name="Rectangle 79">
            <a:extLst>
              <a:ext uri="{FF2B5EF4-FFF2-40B4-BE49-F238E27FC236}">
                <a16:creationId xmlns:a16="http://schemas.microsoft.com/office/drawing/2014/main" id="{7A6486E0-3FA9-DF47-0B2F-A2500936C817}"/>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ABCF3E2B-34D5-0357-20EF-F05DB5F716C4}"/>
              </a:ext>
            </a:extLst>
          </p:cNvPr>
          <p:cNvSpPr txBox="1"/>
          <p:nvPr/>
        </p:nvSpPr>
        <p:spPr>
          <a:xfrm>
            <a:off x="539972" y="-71021"/>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3 — </a:t>
            </a:r>
            <a:r>
              <a:rPr kumimoji="0" sz="2400" b="1" i="0" u="none" strike="noStrike" kern="0" cap="none" spc="0" normalizeH="0" baseline="0" noProof="0" dirty="0" err="1">
                <a:ln>
                  <a:noFill/>
                </a:ln>
                <a:solidFill>
                  <a:srgbClr val="FFFFFF"/>
                </a:solidFill>
                <a:effectLst/>
                <a:uLnTx/>
                <a:uFillTx/>
                <a:latin typeface="Calibri Light"/>
                <a:cs typeface="Arial"/>
                <a:sym typeface="Arial"/>
              </a:rPr>
              <a:t>Pérenniser</a:t>
            </a:r>
            <a:r>
              <a:rPr kumimoji="0" sz="2400" b="1" i="0" u="none" strike="noStrike" kern="0" cap="none" spc="0" normalizeH="0" baseline="0" noProof="0" dirty="0">
                <a:ln>
                  <a:noFill/>
                </a:ln>
                <a:solidFill>
                  <a:srgbClr val="FFFFFF"/>
                </a:solidFill>
                <a:effectLst/>
                <a:uLnTx/>
                <a:uFillTx/>
                <a:latin typeface="Calibri Light"/>
                <a:cs typeface="Arial"/>
                <a:sym typeface="Arial"/>
              </a:rPr>
              <a:t> la base de données</a:t>
            </a:r>
          </a:p>
        </p:txBody>
      </p:sp>
      <p:sp>
        <p:nvSpPr>
          <p:cNvPr id="82" name="Rectangle 81">
            <a:extLst>
              <a:ext uri="{FF2B5EF4-FFF2-40B4-BE49-F238E27FC236}">
                <a16:creationId xmlns:a16="http://schemas.microsoft.com/office/drawing/2014/main" id="{6AA882A5-8500-F429-B087-C7F502C96569}"/>
              </a:ext>
            </a:extLst>
          </p:cNvPr>
          <p:cNvSpPr/>
          <p:nvPr/>
        </p:nvSpPr>
        <p:spPr>
          <a:xfrm>
            <a:off x="539972" y="391223"/>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3" name="TextBox 82">
            <a:extLst>
              <a:ext uri="{FF2B5EF4-FFF2-40B4-BE49-F238E27FC236}">
                <a16:creationId xmlns:a16="http://schemas.microsoft.com/office/drawing/2014/main" id="{D09987D1-258E-91F2-12CE-2E20B02B6BBB}"/>
              </a:ext>
            </a:extLst>
          </p:cNvPr>
          <p:cNvSpPr txBox="1"/>
          <p:nvPr/>
        </p:nvSpPr>
        <p:spPr>
          <a:xfrm>
            <a:off x="438899" y="378300"/>
            <a:ext cx="7920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Étape 1, 2 et 3 : Processus de réplication et distribution des données </a:t>
            </a:r>
            <a:r>
              <a:rPr kumimoji="0" lang="fr-FR" sz="1600" b="1" i="0" u="none" strike="noStrike" kern="0" cap="none" spc="0" normalizeH="0" baseline="0" noProof="0" dirty="0">
                <a:ln>
                  <a:noFill/>
                </a:ln>
                <a:solidFill>
                  <a:srgbClr val="C00000"/>
                </a:solidFill>
                <a:effectLst/>
                <a:uLnTx/>
                <a:uFillTx/>
                <a:latin typeface="Calibri"/>
                <a:cs typeface="Arial"/>
                <a:sym typeface="Arial"/>
              </a:rPr>
              <a:t>sous forme de tableau</a:t>
            </a:r>
          </a:p>
        </p:txBody>
      </p:sp>
      <p:graphicFrame>
        <p:nvGraphicFramePr>
          <p:cNvPr id="2" name="Tableau 1">
            <a:extLst>
              <a:ext uri="{FF2B5EF4-FFF2-40B4-BE49-F238E27FC236}">
                <a16:creationId xmlns:a16="http://schemas.microsoft.com/office/drawing/2014/main" id="{B53FE71B-7DF4-0F6C-E0C4-1125C4C4BEA5}"/>
              </a:ext>
            </a:extLst>
          </p:cNvPr>
          <p:cNvGraphicFramePr>
            <a:graphicFrameLocks noGrp="1"/>
          </p:cNvGraphicFramePr>
          <p:nvPr>
            <p:extLst>
              <p:ext uri="{D42A27DB-BD31-4B8C-83A1-F6EECF244321}">
                <p14:modId xmlns:p14="http://schemas.microsoft.com/office/powerpoint/2010/main" val="1474253227"/>
              </p:ext>
            </p:extLst>
          </p:nvPr>
        </p:nvGraphicFramePr>
        <p:xfrm>
          <a:off x="340063" y="662510"/>
          <a:ext cx="8665392" cy="4356449"/>
        </p:xfrm>
        <a:graphic>
          <a:graphicData uri="http://schemas.openxmlformats.org/drawingml/2006/table">
            <a:tbl>
              <a:tblPr/>
              <a:tblGrid>
                <a:gridCol w="185783">
                  <a:extLst>
                    <a:ext uri="{9D8B030D-6E8A-4147-A177-3AD203B41FA5}">
                      <a16:colId xmlns:a16="http://schemas.microsoft.com/office/drawing/2014/main" val="2269488451"/>
                    </a:ext>
                  </a:extLst>
                </a:gridCol>
                <a:gridCol w="1205345">
                  <a:extLst>
                    <a:ext uri="{9D8B030D-6E8A-4147-A177-3AD203B41FA5}">
                      <a16:colId xmlns:a16="http://schemas.microsoft.com/office/drawing/2014/main" val="375296378"/>
                    </a:ext>
                  </a:extLst>
                </a:gridCol>
                <a:gridCol w="1600200">
                  <a:extLst>
                    <a:ext uri="{9D8B030D-6E8A-4147-A177-3AD203B41FA5}">
                      <a16:colId xmlns:a16="http://schemas.microsoft.com/office/drawing/2014/main" val="4231680725"/>
                    </a:ext>
                  </a:extLst>
                </a:gridCol>
                <a:gridCol w="2792318">
                  <a:extLst>
                    <a:ext uri="{9D8B030D-6E8A-4147-A177-3AD203B41FA5}">
                      <a16:colId xmlns:a16="http://schemas.microsoft.com/office/drawing/2014/main" val="752186802"/>
                    </a:ext>
                  </a:extLst>
                </a:gridCol>
                <a:gridCol w="734291">
                  <a:extLst>
                    <a:ext uri="{9D8B030D-6E8A-4147-A177-3AD203B41FA5}">
                      <a16:colId xmlns:a16="http://schemas.microsoft.com/office/drawing/2014/main" val="111114060"/>
                    </a:ext>
                  </a:extLst>
                </a:gridCol>
                <a:gridCol w="2147455">
                  <a:extLst>
                    <a:ext uri="{9D8B030D-6E8A-4147-A177-3AD203B41FA5}">
                      <a16:colId xmlns:a16="http://schemas.microsoft.com/office/drawing/2014/main" val="2205776932"/>
                    </a:ext>
                  </a:extLst>
                </a:gridCol>
              </a:tblGrid>
              <a:tr h="84880">
                <a:tc>
                  <a:txBody>
                    <a:bodyPr/>
                    <a:lstStyle/>
                    <a:p>
                      <a:pPr algn="l">
                        <a:buNone/>
                      </a:pPr>
                      <a:r>
                        <a:rPr lang="fr-FR" sz="800" dirty="0">
                          <a:solidFill>
                            <a:schemeClr val="tx1"/>
                          </a:solidFill>
                          <a:effectLst/>
                          <a:latin typeface="Agency FB" panose="020B0503020202020204" pitchFamily="34" charset="0"/>
                        </a:rPr>
                        <a:t>#</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800" dirty="0">
                          <a:solidFill>
                            <a:schemeClr val="tx1"/>
                          </a:solidFill>
                          <a:effectLst/>
                          <a:latin typeface="Agency FB" panose="020B0503020202020204" pitchFamily="34" charset="0"/>
                        </a:rPr>
                        <a:t>Étape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800" dirty="0">
                          <a:solidFill>
                            <a:schemeClr val="tx1"/>
                          </a:solidFill>
                          <a:effectLst/>
                          <a:latin typeface="Agency FB" panose="020B0503020202020204" pitchFamily="34" charset="0"/>
                        </a:rPr>
                        <a:t>Objectif</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800" dirty="0">
                          <a:solidFill>
                            <a:schemeClr val="tx1"/>
                          </a:solidFill>
                          <a:effectLst/>
                          <a:latin typeface="Agency FB" panose="020B0503020202020204" pitchFamily="34" charset="0"/>
                        </a:rPr>
                        <a:t>Commandes exécutées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800" dirty="0">
                          <a:solidFill>
                            <a:schemeClr val="tx1"/>
                          </a:solidFill>
                          <a:effectLst/>
                          <a:latin typeface="Agency FB" panose="020B0503020202020204" pitchFamily="34" charset="0"/>
                        </a:rPr>
                        <a:t>Outils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fr-FR" sz="800" dirty="0">
                          <a:solidFill>
                            <a:schemeClr val="tx1"/>
                          </a:solidFill>
                          <a:effectLst/>
                          <a:latin typeface="Agency FB" panose="020B0503020202020204" pitchFamily="34" charset="0"/>
                        </a:rPr>
                        <a:t>Résultat</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77006308"/>
                  </a:ext>
                </a:extLst>
              </a:tr>
              <a:tr h="340742">
                <a:tc>
                  <a:txBody>
                    <a:bodyPr/>
                    <a:lstStyle/>
                    <a:p>
                      <a:pPr algn="l">
                        <a:buNone/>
                      </a:pPr>
                      <a:r>
                        <a:rPr lang="fr-FR" sz="800" b="1" dirty="0">
                          <a:solidFill>
                            <a:schemeClr val="bg1"/>
                          </a:solidFill>
                          <a:effectLst/>
                          <a:latin typeface="Agency FB" panose="020B0503020202020204" pitchFamily="34" charset="0"/>
                        </a:rPr>
                        <a:t>1</a:t>
                      </a:r>
                      <a:endParaRPr lang="fr-FR" sz="800" dirty="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Import des données Paris + Lyon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Centraliser toutes les données dans une seule collection avec distinction par ville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Script Python pour tagger city: "Lyon" + mongoimport pour Lyon ; updateMany pour tagger city: "Paris"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Python, mongoimport, MongoDB CLI</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95 885 docs Paris + 9 973 docs Lyon dans la collection listings_paris distingués par le champ city</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42140104"/>
                  </a:ext>
                </a:extLst>
              </a:tr>
              <a:tr h="244794">
                <a:tc>
                  <a:txBody>
                    <a:bodyPr/>
                    <a:lstStyle/>
                    <a:p>
                      <a:pPr algn="l">
                        <a:buNone/>
                      </a:pPr>
                      <a:r>
                        <a:rPr lang="fr-FR" sz="800" b="1">
                          <a:solidFill>
                            <a:schemeClr val="bg1"/>
                          </a:solidFill>
                          <a:effectLst/>
                          <a:latin typeface="Agency FB" panose="020B0503020202020204" pitchFamily="34" charset="0"/>
                        </a:rPr>
                        <a:t>2</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Création des dossiers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Préparer l'espace de stockage pour chaque instance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mkdir C:\data\rs0 mkdir C:\data\rs1 mkdir C:\data\rs2</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Windows CMD</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3 dossiers créés pour le ReplicaSet</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51293706"/>
                  </a:ext>
                </a:extLst>
              </a:tr>
              <a:tr h="628587">
                <a:tc>
                  <a:txBody>
                    <a:bodyPr/>
                    <a:lstStyle/>
                    <a:p>
                      <a:pPr algn="l">
                        <a:buNone/>
                      </a:pPr>
                      <a:r>
                        <a:rPr lang="fr-FR" sz="800" b="1">
                          <a:solidFill>
                            <a:schemeClr val="bg1"/>
                          </a:solidFill>
                          <a:effectLst/>
                          <a:latin typeface="Agency FB" panose="020B0503020202020204" pitchFamily="34" charset="0"/>
                        </a:rPr>
                        <a:t>3</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Lancement du </a:t>
                      </a:r>
                      <a:r>
                        <a:rPr lang="fr-FR" sz="800" dirty="0" err="1">
                          <a:solidFill>
                            <a:schemeClr val="bg1"/>
                          </a:solidFill>
                          <a:effectLst/>
                          <a:latin typeface="Agency FB" panose="020B0503020202020204" pitchFamily="34" charset="0"/>
                        </a:rPr>
                        <a:t>ReplicaSet</a:t>
                      </a:r>
                      <a:r>
                        <a:rPr lang="fr-FR" sz="800" dirty="0">
                          <a:solidFill>
                            <a:schemeClr val="bg1"/>
                          </a:solidFill>
                          <a:effectLst/>
                          <a:latin typeface="Agency FB" panose="020B0503020202020204" pitchFamily="34" charset="0"/>
                        </a:rPr>
                        <a:t> (3 instances)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Simuler 3 serveurs en local pour la réplication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err="1">
                          <a:solidFill>
                            <a:schemeClr val="bg1"/>
                          </a:solidFill>
                          <a:effectLst/>
                          <a:latin typeface="Agency FB" panose="020B0503020202020204" pitchFamily="34" charset="0"/>
                        </a:rPr>
                        <a:t>mongod</a:t>
                      </a:r>
                      <a:r>
                        <a:rPr lang="fr-FR" sz="800" dirty="0">
                          <a:solidFill>
                            <a:schemeClr val="bg1"/>
                          </a:solidFill>
                          <a:effectLst/>
                          <a:latin typeface="Agency FB" panose="020B0503020202020204" pitchFamily="34" charset="0"/>
                        </a:rPr>
                        <a:t> --</a:t>
                      </a:r>
                      <a:r>
                        <a:rPr lang="fr-FR" sz="800" dirty="0" err="1">
                          <a:solidFill>
                            <a:schemeClr val="bg1"/>
                          </a:solidFill>
                          <a:effectLst/>
                          <a:latin typeface="Agency FB" panose="020B0503020202020204" pitchFamily="34" charset="0"/>
                        </a:rPr>
                        <a:t>replSet</a:t>
                      </a:r>
                      <a:r>
                        <a:rPr lang="fr-FR" sz="800" dirty="0">
                          <a:solidFill>
                            <a:schemeClr val="bg1"/>
                          </a:solidFill>
                          <a:effectLst/>
                          <a:latin typeface="Agency FB" panose="020B0503020202020204" pitchFamily="34" charset="0"/>
                        </a:rPr>
                        <a:t> rs0 --port 27020 --</a:t>
                      </a:r>
                      <a:r>
                        <a:rPr lang="fr-FR" sz="800" dirty="0" err="1">
                          <a:solidFill>
                            <a:schemeClr val="bg1"/>
                          </a:solidFill>
                          <a:effectLst/>
                          <a:latin typeface="Agency FB" panose="020B0503020202020204" pitchFamily="34" charset="0"/>
                        </a:rPr>
                        <a:t>dbpath</a:t>
                      </a:r>
                      <a:r>
                        <a:rPr lang="fr-FR" sz="800" dirty="0">
                          <a:solidFill>
                            <a:schemeClr val="bg1"/>
                          </a:solidFill>
                          <a:effectLst/>
                          <a:latin typeface="Agency FB" panose="020B0503020202020204" pitchFamily="34" charset="0"/>
                        </a:rPr>
                        <a:t> C:\data\rs0 </a:t>
                      </a:r>
                      <a:r>
                        <a:rPr lang="fr-FR" sz="800" dirty="0" err="1">
                          <a:solidFill>
                            <a:schemeClr val="bg1"/>
                          </a:solidFill>
                          <a:effectLst/>
                          <a:latin typeface="Agency FB" panose="020B0503020202020204" pitchFamily="34" charset="0"/>
                        </a:rPr>
                        <a:t>mongod</a:t>
                      </a:r>
                      <a:r>
                        <a:rPr lang="fr-FR" sz="800" dirty="0">
                          <a:solidFill>
                            <a:schemeClr val="bg1"/>
                          </a:solidFill>
                          <a:effectLst/>
                          <a:latin typeface="Agency FB" panose="020B0503020202020204" pitchFamily="34" charset="0"/>
                        </a:rPr>
                        <a:t> --</a:t>
                      </a:r>
                      <a:r>
                        <a:rPr lang="fr-FR" sz="800" dirty="0" err="1">
                          <a:solidFill>
                            <a:schemeClr val="bg1"/>
                          </a:solidFill>
                          <a:effectLst/>
                          <a:latin typeface="Agency FB" panose="020B0503020202020204" pitchFamily="34" charset="0"/>
                        </a:rPr>
                        <a:t>replSet</a:t>
                      </a:r>
                      <a:r>
                        <a:rPr lang="fr-FR" sz="800" dirty="0">
                          <a:solidFill>
                            <a:schemeClr val="bg1"/>
                          </a:solidFill>
                          <a:effectLst/>
                          <a:latin typeface="Agency FB" panose="020B0503020202020204" pitchFamily="34" charset="0"/>
                        </a:rPr>
                        <a:t> rs0 --port 27021 --</a:t>
                      </a:r>
                      <a:r>
                        <a:rPr lang="fr-FR" sz="800" dirty="0" err="1">
                          <a:solidFill>
                            <a:schemeClr val="bg1"/>
                          </a:solidFill>
                          <a:effectLst/>
                          <a:latin typeface="Agency FB" panose="020B0503020202020204" pitchFamily="34" charset="0"/>
                        </a:rPr>
                        <a:t>dbpath</a:t>
                      </a:r>
                      <a:r>
                        <a:rPr lang="fr-FR" sz="800" dirty="0">
                          <a:solidFill>
                            <a:schemeClr val="bg1"/>
                          </a:solidFill>
                          <a:effectLst/>
                          <a:latin typeface="Agency FB" panose="020B0503020202020204" pitchFamily="34" charset="0"/>
                        </a:rPr>
                        <a:t> C:\data\rs1 </a:t>
                      </a:r>
                      <a:r>
                        <a:rPr lang="fr-FR" sz="800" dirty="0" err="1">
                          <a:solidFill>
                            <a:schemeClr val="bg1"/>
                          </a:solidFill>
                          <a:effectLst/>
                          <a:latin typeface="Agency FB" panose="020B0503020202020204" pitchFamily="34" charset="0"/>
                        </a:rPr>
                        <a:t>mongod</a:t>
                      </a:r>
                      <a:r>
                        <a:rPr lang="fr-FR" sz="800" dirty="0">
                          <a:solidFill>
                            <a:schemeClr val="bg1"/>
                          </a:solidFill>
                          <a:effectLst/>
                          <a:latin typeface="Agency FB" panose="020B0503020202020204" pitchFamily="34" charset="0"/>
                        </a:rPr>
                        <a:t> --</a:t>
                      </a:r>
                      <a:r>
                        <a:rPr lang="fr-FR" sz="800" dirty="0" err="1">
                          <a:solidFill>
                            <a:schemeClr val="bg1"/>
                          </a:solidFill>
                          <a:effectLst/>
                          <a:latin typeface="Agency FB" panose="020B0503020202020204" pitchFamily="34" charset="0"/>
                        </a:rPr>
                        <a:t>replSet</a:t>
                      </a:r>
                      <a:r>
                        <a:rPr lang="fr-FR" sz="800" dirty="0">
                          <a:solidFill>
                            <a:schemeClr val="bg1"/>
                          </a:solidFill>
                          <a:effectLst/>
                          <a:latin typeface="Agency FB" panose="020B0503020202020204" pitchFamily="34" charset="0"/>
                        </a:rPr>
                        <a:t> rs0 --port 27022 --</a:t>
                      </a:r>
                      <a:r>
                        <a:rPr lang="fr-FR" sz="800" dirty="0" err="1">
                          <a:solidFill>
                            <a:schemeClr val="bg1"/>
                          </a:solidFill>
                          <a:effectLst/>
                          <a:latin typeface="Agency FB" panose="020B0503020202020204" pitchFamily="34" charset="0"/>
                        </a:rPr>
                        <a:t>dbpath</a:t>
                      </a:r>
                      <a:r>
                        <a:rPr lang="fr-FR" sz="800" dirty="0">
                          <a:solidFill>
                            <a:schemeClr val="bg1"/>
                          </a:solidFill>
                          <a:effectLst/>
                          <a:latin typeface="Agency FB" panose="020B0503020202020204" pitchFamily="34" charset="0"/>
                        </a:rPr>
                        <a:t> C:\data\rs2</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MongoDB CLI</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3 instances actives sur ports 27020, 27021, 27022</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36922531"/>
                  </a:ext>
                </a:extLst>
              </a:tr>
              <a:tr h="180828">
                <a:tc>
                  <a:txBody>
                    <a:bodyPr/>
                    <a:lstStyle/>
                    <a:p>
                      <a:pPr algn="l">
                        <a:buNone/>
                      </a:pPr>
                      <a:r>
                        <a:rPr lang="fr-FR" sz="800" b="1">
                          <a:solidFill>
                            <a:schemeClr val="bg1"/>
                          </a:solidFill>
                          <a:effectLst/>
                          <a:latin typeface="Agency FB" panose="020B0503020202020204" pitchFamily="34" charset="0"/>
                        </a:rPr>
                        <a:t>4</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Initialisation du ReplicaSet</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Définir les rôles PRIMARY / SECONDARY / ARBITRE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rs.initiate({ _id: "rs0", members: [...]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ok: 1 — ReplicaSet rs0 opérationnel</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06841659"/>
                  </a:ext>
                </a:extLst>
              </a:tr>
              <a:tr h="308759">
                <a:tc>
                  <a:txBody>
                    <a:bodyPr/>
                    <a:lstStyle/>
                    <a:p>
                      <a:pPr algn="l">
                        <a:buNone/>
                      </a:pPr>
                      <a:r>
                        <a:rPr lang="fr-FR" sz="800" b="1" dirty="0">
                          <a:solidFill>
                            <a:schemeClr val="bg1"/>
                          </a:solidFill>
                          <a:effectLst/>
                          <a:latin typeface="Agency FB" panose="020B0503020202020204" pitchFamily="34" charset="0"/>
                        </a:rPr>
                        <a:t>5</a:t>
                      </a:r>
                      <a:endParaRPr lang="fr-FR" sz="800" dirty="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Vérification de la réplication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Confirmer que les données se répliquent bien entre les nœuds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db.test_replication.insertOne(...) sur Primary puis db.test_replication.find() sur Secondary</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Document visible sur le </a:t>
                      </a:r>
                      <a:r>
                        <a:rPr lang="fr-FR" sz="800" dirty="0" err="1">
                          <a:solidFill>
                            <a:schemeClr val="bg1"/>
                          </a:solidFill>
                          <a:effectLst/>
                          <a:latin typeface="Agency FB" panose="020B0503020202020204" pitchFamily="34" charset="0"/>
                        </a:rPr>
                        <a:t>Secondary</a:t>
                      </a:r>
                      <a:r>
                        <a:rPr lang="fr-FR" sz="800" dirty="0">
                          <a:solidFill>
                            <a:schemeClr val="bg1"/>
                          </a:solidFill>
                          <a:effectLst/>
                          <a:latin typeface="Agency FB" panose="020B0503020202020204" pitchFamily="34" charset="0"/>
                        </a:rPr>
                        <a:t> → réplication fonctionnelle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04770840"/>
                  </a:ext>
                </a:extLst>
              </a:tr>
              <a:tr h="276777">
                <a:tc>
                  <a:txBody>
                    <a:bodyPr/>
                    <a:lstStyle/>
                    <a:p>
                      <a:pPr algn="l">
                        <a:buNone/>
                      </a:pPr>
                      <a:r>
                        <a:rPr lang="fr-FR" sz="800" b="1">
                          <a:solidFill>
                            <a:schemeClr val="bg1"/>
                          </a:solidFill>
                          <a:effectLst/>
                          <a:latin typeface="Agency FB" panose="020B0503020202020204" pitchFamily="34" charset="0"/>
                        </a:rPr>
                        <a:t>6</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Création des dossiers Sharding</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Préparer l'espace de stockage pour le cluster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mkdir C:\data\configdb mkdir C:\data\shard1 mkdir C:\data\shard2</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Windows CMD</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3 dossiers créés pour le cluster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52894320"/>
                  </a:ext>
                </a:extLst>
              </a:tr>
              <a:tr h="308759">
                <a:tc>
                  <a:txBody>
                    <a:bodyPr/>
                    <a:lstStyle/>
                    <a:p>
                      <a:pPr algn="l">
                        <a:buNone/>
                      </a:pPr>
                      <a:r>
                        <a:rPr lang="fr-FR" sz="800" b="1">
                          <a:solidFill>
                            <a:schemeClr val="bg1"/>
                          </a:solidFill>
                          <a:effectLst/>
                          <a:latin typeface="Agency FB" panose="020B0503020202020204" pitchFamily="34" charset="0"/>
                        </a:rPr>
                        <a:t>7</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Lancement du Config Server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Stocker la carte du cluster (métadonnées)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mongod --configsvr --replSet configRS --port 27030 --dbpath C:\data\configdb</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MongoDB CLI</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Config Server actif sur port 27030</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19404804"/>
                  </a:ext>
                </a:extLst>
              </a:tr>
              <a:tr h="116863">
                <a:tc>
                  <a:txBody>
                    <a:bodyPr/>
                    <a:lstStyle/>
                    <a:p>
                      <a:pPr algn="l">
                        <a:buNone/>
                      </a:pPr>
                      <a:r>
                        <a:rPr lang="fr-FR" sz="800" b="1">
                          <a:solidFill>
                            <a:schemeClr val="bg1"/>
                          </a:solidFill>
                          <a:effectLst/>
                          <a:latin typeface="Agency FB" panose="020B0503020202020204" pitchFamily="34" charset="0"/>
                        </a:rPr>
                        <a:t>8</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Initialisation du Config Server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Rendre le Config Server opérationnel</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rs.initiate() sur port 27030</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ok: 1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09520130"/>
                  </a:ext>
                </a:extLst>
              </a:tr>
              <a:tr h="404708">
                <a:tc>
                  <a:txBody>
                    <a:bodyPr/>
                    <a:lstStyle/>
                    <a:p>
                      <a:pPr algn="l">
                        <a:buNone/>
                      </a:pPr>
                      <a:r>
                        <a:rPr lang="fr-FR" sz="800" b="1">
                          <a:solidFill>
                            <a:schemeClr val="bg1"/>
                          </a:solidFill>
                          <a:effectLst/>
                          <a:latin typeface="Agency FB" panose="020B0503020202020204" pitchFamily="34" charset="0"/>
                        </a:rPr>
                        <a:t>9</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Lancement des 2 Shards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Simuler 2 serveurs de stockage (Paris + Lyon)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mongod --shardsvr --replSet shardRS1 --port 27040 mongod --shardsvr --replSet shardRS2 --port 27041</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MongoDB CLI</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2 shards actifs sur ports 27040 et 27041</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02410017"/>
                  </a:ext>
                </a:extLst>
              </a:tr>
              <a:tr h="148846">
                <a:tc>
                  <a:txBody>
                    <a:bodyPr/>
                    <a:lstStyle/>
                    <a:p>
                      <a:pPr algn="l">
                        <a:buNone/>
                      </a:pPr>
                      <a:r>
                        <a:rPr lang="fr-FR" sz="800" b="1">
                          <a:solidFill>
                            <a:schemeClr val="bg1"/>
                          </a:solidFill>
                          <a:effectLst/>
                          <a:latin typeface="Agency FB" panose="020B0503020202020204" pitchFamily="34" charset="0"/>
                        </a:rPr>
                        <a:t>10</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Initialisation des 2 Shards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Rendre les shards opérationnels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rs.initiate() sur port 27040 et 27041</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ok: 1 pour les 2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99917007"/>
                  </a:ext>
                </a:extLst>
              </a:tr>
              <a:tr h="212812">
                <a:tc>
                  <a:txBody>
                    <a:bodyPr/>
                    <a:lstStyle/>
                    <a:p>
                      <a:pPr algn="l">
                        <a:buNone/>
                      </a:pPr>
                      <a:r>
                        <a:rPr lang="fr-FR" sz="800" b="1">
                          <a:solidFill>
                            <a:schemeClr val="bg1"/>
                          </a:solidFill>
                          <a:effectLst/>
                          <a:latin typeface="Agency FB" panose="020B0503020202020204" pitchFamily="34" charset="0"/>
                        </a:rPr>
                        <a:t>11</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Lancement du Mongos (routeur)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Créer le point d'entrée unique du cluster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 --configdb configRS/localhost:27030 --port 27050</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MongoDB CLI</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Routeur actif sur port 27050</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38713098"/>
                  </a:ext>
                </a:extLst>
              </a:tr>
              <a:tr h="276777">
                <a:tc>
                  <a:txBody>
                    <a:bodyPr/>
                    <a:lstStyle/>
                    <a:p>
                      <a:pPr algn="l">
                        <a:buNone/>
                      </a:pPr>
                      <a:r>
                        <a:rPr lang="fr-FR" sz="800" b="1">
                          <a:solidFill>
                            <a:schemeClr val="bg1"/>
                          </a:solidFill>
                          <a:effectLst/>
                          <a:latin typeface="Agency FB" panose="020B0503020202020204" pitchFamily="34" charset="0"/>
                        </a:rPr>
                        <a:t>12</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Ajout des Shards au cluster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Enregistrer les 2 shards dans le cluster</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sh.addShard("shardRS1/localhost:27040") sh.addShard("shardRS2/localhost:27041")</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 (port 27050)</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shardAdded: shardRS1 et shardAdded: shardRS2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73327382"/>
                  </a:ext>
                </a:extLst>
              </a:tr>
              <a:tr h="148846">
                <a:tc>
                  <a:txBody>
                    <a:bodyPr/>
                    <a:lstStyle/>
                    <a:p>
                      <a:pPr algn="l">
                        <a:buNone/>
                      </a:pPr>
                      <a:r>
                        <a:rPr lang="fr-FR" sz="800" b="1">
                          <a:solidFill>
                            <a:schemeClr val="bg1"/>
                          </a:solidFill>
                          <a:effectLst/>
                          <a:latin typeface="Agency FB" panose="020B0503020202020204" pitchFamily="34" charset="0"/>
                        </a:rPr>
                        <a:t>13</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Activation du Sharding sur la BDD</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Autoriser la distribution de la base noscites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sh.enableSharding("noscites")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ok: 1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38579584"/>
                  </a:ext>
                </a:extLst>
              </a:tr>
              <a:tr h="244794">
                <a:tc>
                  <a:txBody>
                    <a:bodyPr/>
                    <a:lstStyle/>
                    <a:p>
                      <a:pPr algn="l">
                        <a:buNone/>
                      </a:pPr>
                      <a:r>
                        <a:rPr lang="fr-FR" sz="800" b="1">
                          <a:solidFill>
                            <a:schemeClr val="bg1"/>
                          </a:solidFill>
                          <a:effectLst/>
                          <a:latin typeface="Agency FB" panose="020B0503020202020204" pitchFamily="34" charset="0"/>
                        </a:rPr>
                        <a:t>14</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Sharding de la collection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Distribuer listings_paris par ville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sh.shardCollection("noscites.listings_paris", { "city": 1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collectionsharded: noscites.listings_paris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5977448"/>
                  </a:ext>
                </a:extLst>
              </a:tr>
              <a:tr h="244794">
                <a:tc>
                  <a:txBody>
                    <a:bodyPr/>
                    <a:lstStyle/>
                    <a:p>
                      <a:pPr algn="l">
                        <a:buNone/>
                      </a:pPr>
                      <a:r>
                        <a:rPr lang="fr-FR" sz="800" b="1">
                          <a:solidFill>
                            <a:schemeClr val="bg1"/>
                          </a:solidFill>
                          <a:effectLst/>
                          <a:latin typeface="Agency FB" panose="020B0503020202020204" pitchFamily="34" charset="0"/>
                        </a:rPr>
                        <a:t>15</a:t>
                      </a:r>
                      <a:endParaRPr lang="fr-FR" sz="800">
                        <a:solidFill>
                          <a:schemeClr val="bg1"/>
                        </a:solidFill>
                        <a:effectLst/>
                        <a:latin typeface="Agency FB" panose="020B0503020202020204" pitchFamily="34" charset="0"/>
                      </a:endParaRP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Vérification finale</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Confirmer la distribution sur les shards</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sh.status() + db.listings_paris.getShardDistribution()</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a:solidFill>
                            <a:schemeClr val="bg1"/>
                          </a:solidFill>
                          <a:effectLst/>
                          <a:latin typeface="Agency FB" panose="020B0503020202020204" pitchFamily="34" charset="0"/>
                        </a:rPr>
                        <a:t>mongosh</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fr-FR" sz="800" dirty="0">
                          <a:solidFill>
                            <a:schemeClr val="bg1"/>
                          </a:solidFill>
                          <a:effectLst/>
                          <a:latin typeface="Agency FB" panose="020B0503020202020204" pitchFamily="34" charset="0"/>
                        </a:rPr>
                        <a:t>2 shards actifs, collection </a:t>
                      </a:r>
                      <a:r>
                        <a:rPr lang="fr-FR" sz="800" dirty="0" err="1">
                          <a:solidFill>
                            <a:schemeClr val="bg1"/>
                          </a:solidFill>
                          <a:effectLst/>
                          <a:latin typeface="Agency FB" panose="020B0503020202020204" pitchFamily="34" charset="0"/>
                        </a:rPr>
                        <a:t>shardée</a:t>
                      </a:r>
                      <a:r>
                        <a:rPr lang="fr-FR" sz="800" dirty="0">
                          <a:solidFill>
                            <a:schemeClr val="bg1"/>
                          </a:solidFill>
                          <a:effectLst/>
                          <a:latin typeface="Agency FB" panose="020B0503020202020204" pitchFamily="34" charset="0"/>
                        </a:rPr>
                        <a:t> par city, balancer activé ✅</a:t>
                      </a:r>
                    </a:p>
                  </a:txBody>
                  <a:tcPr marL="9966" marR="9966" marT="9966" marB="9966"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191151702"/>
                  </a:ext>
                </a:extLst>
              </a:tr>
            </a:tbl>
          </a:graphicData>
        </a:graphic>
      </p:graphicFrame>
    </p:spTree>
    <p:extLst>
      <p:ext uri="{BB962C8B-B14F-4D97-AF65-F5344CB8AC3E}">
        <p14:creationId xmlns:p14="http://schemas.microsoft.com/office/powerpoint/2010/main" val="3457490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Shape 77">
          <a:extLst>
            <a:ext uri="{FF2B5EF4-FFF2-40B4-BE49-F238E27FC236}">
              <a16:creationId xmlns:a16="http://schemas.microsoft.com/office/drawing/2014/main" id="{5E9B9463-597B-A7FD-8AA3-30DA81BC931A}"/>
            </a:ext>
          </a:extLst>
        </p:cNvPr>
        <p:cNvGrpSpPr/>
        <p:nvPr/>
      </p:nvGrpSpPr>
      <p:grpSpPr>
        <a:xfrm>
          <a:off x="0" y="0"/>
          <a:ext cx="0" cy="0"/>
          <a:chOff x="0" y="0"/>
          <a:chExt cx="0" cy="0"/>
        </a:xfrm>
      </p:grpSpPr>
      <p:sp>
        <p:nvSpPr>
          <p:cNvPr id="80" name="Rectangle 79">
            <a:extLst>
              <a:ext uri="{FF2B5EF4-FFF2-40B4-BE49-F238E27FC236}">
                <a16:creationId xmlns:a16="http://schemas.microsoft.com/office/drawing/2014/main" id="{97730C41-EA29-02AC-433E-735FCC1D835B}"/>
              </a:ext>
            </a:extLst>
          </p:cNvPr>
          <p:cNvSpPr/>
          <p:nvPr/>
        </p:nvSpPr>
        <p:spPr>
          <a:xfrm>
            <a:off x="0" y="0"/>
            <a:ext cx="216000" cy="51435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1" name="TextBox 80">
            <a:extLst>
              <a:ext uri="{FF2B5EF4-FFF2-40B4-BE49-F238E27FC236}">
                <a16:creationId xmlns:a16="http://schemas.microsoft.com/office/drawing/2014/main" id="{F9B41183-696C-EEBF-595A-7759722CC428}"/>
              </a:ext>
            </a:extLst>
          </p:cNvPr>
          <p:cNvSpPr txBox="1"/>
          <p:nvPr/>
        </p:nvSpPr>
        <p:spPr>
          <a:xfrm>
            <a:off x="540000" y="129245"/>
            <a:ext cx="7920000" cy="54000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sz="2400" b="1" i="0" u="none" strike="noStrike" kern="0" cap="none" spc="0" normalizeH="0" baseline="0" noProof="0" dirty="0" err="1">
                <a:ln>
                  <a:noFill/>
                </a:ln>
                <a:solidFill>
                  <a:srgbClr val="FFFFFF"/>
                </a:solidFill>
                <a:effectLst/>
                <a:uLnTx/>
                <a:uFillTx/>
                <a:latin typeface="Calibri Light"/>
                <a:cs typeface="Arial"/>
                <a:sym typeface="Arial"/>
              </a:rPr>
              <a:t>Partie</a:t>
            </a:r>
            <a:r>
              <a:rPr kumimoji="0" sz="2400" b="1" i="0" u="none" strike="noStrike" kern="0" cap="none" spc="0" normalizeH="0" baseline="0" noProof="0" dirty="0">
                <a:ln>
                  <a:noFill/>
                </a:ln>
                <a:solidFill>
                  <a:srgbClr val="FFFFFF"/>
                </a:solidFill>
                <a:effectLst/>
                <a:uLnTx/>
                <a:uFillTx/>
                <a:latin typeface="Calibri Light"/>
                <a:cs typeface="Arial"/>
                <a:sym typeface="Arial"/>
              </a:rPr>
              <a:t> 3 — </a:t>
            </a:r>
            <a:r>
              <a:rPr kumimoji="0" sz="2400" b="1" i="0" u="none" strike="noStrike" kern="0" cap="none" spc="0" normalizeH="0" baseline="0" noProof="0" dirty="0" err="1">
                <a:ln>
                  <a:noFill/>
                </a:ln>
                <a:solidFill>
                  <a:srgbClr val="FFFFFF"/>
                </a:solidFill>
                <a:effectLst/>
                <a:uLnTx/>
                <a:uFillTx/>
                <a:latin typeface="Calibri Light"/>
                <a:cs typeface="Arial"/>
                <a:sym typeface="Arial"/>
              </a:rPr>
              <a:t>Pérenniser</a:t>
            </a:r>
            <a:r>
              <a:rPr kumimoji="0" sz="2400" b="1" i="0" u="none" strike="noStrike" kern="0" cap="none" spc="0" normalizeH="0" baseline="0" noProof="0" dirty="0">
                <a:ln>
                  <a:noFill/>
                </a:ln>
                <a:solidFill>
                  <a:srgbClr val="FFFFFF"/>
                </a:solidFill>
                <a:effectLst/>
                <a:uLnTx/>
                <a:uFillTx/>
                <a:latin typeface="Calibri Light"/>
                <a:cs typeface="Arial"/>
                <a:sym typeface="Arial"/>
              </a:rPr>
              <a:t> la base de données</a:t>
            </a:r>
          </a:p>
        </p:txBody>
      </p:sp>
      <p:sp>
        <p:nvSpPr>
          <p:cNvPr id="82" name="Rectangle 81">
            <a:extLst>
              <a:ext uri="{FF2B5EF4-FFF2-40B4-BE49-F238E27FC236}">
                <a16:creationId xmlns:a16="http://schemas.microsoft.com/office/drawing/2014/main" id="{89A4D700-9B02-550C-7CA9-AC6F5C3CA09B}"/>
              </a:ext>
            </a:extLst>
          </p:cNvPr>
          <p:cNvSpPr/>
          <p:nvPr/>
        </p:nvSpPr>
        <p:spPr>
          <a:xfrm>
            <a:off x="540000" y="554208"/>
            <a:ext cx="7560000" cy="252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mn-ea"/>
              <a:cs typeface="+mn-cs"/>
              <a:sym typeface="Arial"/>
            </a:endParaRPr>
          </a:p>
        </p:txBody>
      </p:sp>
      <p:pic>
        <p:nvPicPr>
          <p:cNvPr id="7" name="Image 6">
            <a:extLst>
              <a:ext uri="{FF2B5EF4-FFF2-40B4-BE49-F238E27FC236}">
                <a16:creationId xmlns:a16="http://schemas.microsoft.com/office/drawing/2014/main" id="{29F959EE-3FA3-5534-9C6C-818A42502226}"/>
              </a:ext>
            </a:extLst>
          </p:cNvPr>
          <p:cNvPicPr>
            <a:picLocks noChangeAspect="1"/>
          </p:cNvPicPr>
          <p:nvPr/>
        </p:nvPicPr>
        <p:blipFill>
          <a:blip r:embed="rId3"/>
          <a:stretch>
            <a:fillRect/>
          </a:stretch>
        </p:blipFill>
        <p:spPr>
          <a:xfrm>
            <a:off x="540000" y="925198"/>
            <a:ext cx="7019915" cy="4089057"/>
          </a:xfrm>
          <a:prstGeom prst="rect">
            <a:avLst/>
          </a:prstGeom>
        </p:spPr>
      </p:pic>
      <p:sp>
        <p:nvSpPr>
          <p:cNvPr id="9" name="TextBox 82">
            <a:extLst>
              <a:ext uri="{FF2B5EF4-FFF2-40B4-BE49-F238E27FC236}">
                <a16:creationId xmlns:a16="http://schemas.microsoft.com/office/drawing/2014/main" id="{5045C4D8-D84F-38AE-5CE2-9AA43C34718E}"/>
              </a:ext>
            </a:extLst>
          </p:cNvPr>
          <p:cNvSpPr txBox="1"/>
          <p:nvPr/>
        </p:nvSpPr>
        <p:spPr>
          <a:xfrm>
            <a:off x="216000" y="554208"/>
            <a:ext cx="882979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600" b="1" i="0" u="none" strike="noStrike" kern="0" cap="none" spc="0" normalizeH="0" baseline="0" noProof="0" dirty="0">
                <a:ln>
                  <a:noFill/>
                </a:ln>
                <a:solidFill>
                  <a:srgbClr val="F5A623"/>
                </a:solidFill>
                <a:effectLst/>
                <a:uLnTx/>
                <a:uFillTx/>
                <a:latin typeface="Calibri"/>
                <a:cs typeface="Arial"/>
                <a:sym typeface="Arial"/>
              </a:rPr>
              <a:t>Schéma d’architecture de la base de données incluant la connexion à un outil de business intelligence</a:t>
            </a:r>
          </a:p>
        </p:txBody>
      </p:sp>
    </p:spTree>
    <p:extLst>
      <p:ext uri="{BB962C8B-B14F-4D97-AF65-F5344CB8AC3E}">
        <p14:creationId xmlns:p14="http://schemas.microsoft.com/office/powerpoint/2010/main" val="343399999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503</TotalTime>
  <Words>3757</Words>
  <Application>Microsoft Office PowerPoint</Application>
  <PresentationFormat>Affichage à l'écran (16:9)</PresentationFormat>
  <Paragraphs>535</Paragraphs>
  <Slides>28</Slides>
  <Notes>28</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28</vt:i4>
      </vt:variant>
    </vt:vector>
  </HeadingPairs>
  <TitlesOfParts>
    <vt:vector size="42" baseType="lpstr">
      <vt:lpstr>Arial Black</vt:lpstr>
      <vt:lpstr>Arial Narrow</vt:lpstr>
      <vt:lpstr>Calibri Light</vt:lpstr>
      <vt:lpstr>Calibri</vt:lpstr>
      <vt:lpstr>Arial</vt:lpstr>
      <vt:lpstr>Inter</vt:lpstr>
      <vt:lpstr>Aptos</vt:lpstr>
      <vt:lpstr>Aptos Display</vt:lpstr>
      <vt:lpstr>pplxSerif</vt:lpstr>
      <vt:lpstr>Agency FB</vt:lpstr>
      <vt:lpstr>inherit</vt:lpstr>
      <vt:lpstr>pplxSansMono</vt:lpstr>
      <vt:lpstr>Georgia</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alican yilmaz</cp:lastModifiedBy>
  <cp:revision>19</cp:revision>
  <dcterms:modified xsi:type="dcterms:W3CDTF">2026-06-12T15:59:59Z</dcterms:modified>
</cp:coreProperties>
</file>